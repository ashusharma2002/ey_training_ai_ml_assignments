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60" r:id="rId2"/>
  </p:sldMasterIdLst>
  <p:notesMasterIdLst>
    <p:notesMasterId r:id="rId23"/>
  </p:notesMasterIdLst>
  <p:sldIdLst>
    <p:sldId id="256" r:id="rId3"/>
    <p:sldId id="300" r:id="rId4"/>
    <p:sldId id="301" r:id="rId5"/>
    <p:sldId id="302" r:id="rId6"/>
    <p:sldId id="303" r:id="rId7"/>
    <p:sldId id="304" r:id="rId8"/>
    <p:sldId id="305" r:id="rId9"/>
    <p:sldId id="307" r:id="rId10"/>
    <p:sldId id="308" r:id="rId11"/>
    <p:sldId id="257" r:id="rId12"/>
    <p:sldId id="259" r:id="rId13"/>
    <p:sldId id="260" r:id="rId14"/>
    <p:sldId id="272" r:id="rId15"/>
    <p:sldId id="262" r:id="rId16"/>
    <p:sldId id="263" r:id="rId17"/>
    <p:sldId id="264" r:id="rId18"/>
    <p:sldId id="266" r:id="rId19"/>
    <p:sldId id="269" r:id="rId20"/>
    <p:sldId id="310" r:id="rId21"/>
    <p:sldId id="271"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5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9435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the team and the platform. Mention it is live on Azure.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manual bottleneck. Banks receive hundreds of loan applications. Human review is slow and inconsistent.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five layers. PDF comes in at the top, risk decision comes out at the bottom.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customer journey from login to recommendations. Mention loan gating feature.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9-step pipeline. Emphasise the hybrid search and year-aware re-ranking as the key innovation for reducing hallucination.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 reduction in hallucination. Explain that DeepEval gives us proof the AI is not making things up.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workflows run on every push. main.yml is the quality gate. The Azure workflow only runs if tests pass.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hardest one and explain it in depth. The hallucination problem is the most impressive technically.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1497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Offer to show the live app and LangSmith traces.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0"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ditriskplatform.azurewebsites.ne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7132320" y="-1097280"/>
            <a:ext cx="3657600" cy="3657600"/>
          </a:xfrm>
          <a:prstGeom prst="ellipse">
            <a:avLst/>
          </a:prstGeom>
          <a:solidFill>
            <a:srgbClr val="2563EB">
              <a:alpha val="12000"/>
            </a:srgbClr>
          </a:solidFill>
          <a:ln/>
        </p:spPr>
      </p:sp>
      <p:sp>
        <p:nvSpPr>
          <p:cNvPr id="3" name="Shape 1"/>
          <p:cNvSpPr/>
          <p:nvPr/>
        </p:nvSpPr>
        <p:spPr>
          <a:xfrm>
            <a:off x="7772400" y="-457200"/>
            <a:ext cx="2286000" cy="2286000"/>
          </a:xfrm>
          <a:prstGeom prst="ellipse">
            <a:avLst/>
          </a:prstGeom>
          <a:solidFill>
            <a:srgbClr val="0891B2">
              <a:alpha val="20000"/>
            </a:srgbClr>
          </a:solidFill>
          <a:ln/>
        </p:spPr>
      </p:sp>
      <p:sp>
        <p:nvSpPr>
          <p:cNvPr id="4" name="Shape 2"/>
          <p:cNvSpPr/>
          <p:nvPr/>
        </p:nvSpPr>
        <p:spPr>
          <a:xfrm>
            <a:off x="-731520" y="3474720"/>
            <a:ext cx="2560320" cy="2560320"/>
          </a:xfrm>
          <a:prstGeom prst="ellipse">
            <a:avLst/>
          </a:prstGeom>
          <a:solidFill>
            <a:srgbClr val="2563EB">
              <a:alpha val="10000"/>
            </a:srgbClr>
          </a:solidFill>
          <a:ln/>
        </p:spPr>
      </p:sp>
      <p:sp>
        <p:nvSpPr>
          <p:cNvPr id="5" name="Shape 3"/>
          <p:cNvSpPr/>
          <p:nvPr/>
        </p:nvSpPr>
        <p:spPr>
          <a:xfrm>
            <a:off x="640080" y="822960"/>
            <a:ext cx="1280160" cy="256032"/>
          </a:xfrm>
          <a:prstGeom prst="roundRect">
            <a:avLst>
              <a:gd name="adj" fmla="val 50000"/>
            </a:avLst>
          </a:prstGeom>
          <a:solidFill>
            <a:srgbClr val="0891B2">
              <a:alpha val="25000"/>
            </a:srgbClr>
          </a:solidFill>
          <a:ln/>
        </p:spPr>
      </p:sp>
      <p:sp>
        <p:nvSpPr>
          <p:cNvPr id="6" name="Text 4"/>
          <p:cNvSpPr/>
          <p:nvPr/>
        </p:nvSpPr>
        <p:spPr>
          <a:xfrm>
            <a:off x="640080" y="822960"/>
            <a:ext cx="1280160" cy="256032"/>
          </a:xfrm>
          <a:prstGeom prst="rect">
            <a:avLst/>
          </a:prstGeom>
          <a:noFill/>
          <a:ln/>
        </p:spPr>
        <p:txBody>
          <a:bodyPr wrap="square" lIns="0" tIns="0" rIns="0" bIns="0" rtlCol="0" anchor="ctr"/>
          <a:lstStyle/>
          <a:p>
            <a:pPr marL="0" indent="0" algn="ctr">
              <a:buNone/>
            </a:pPr>
            <a:r>
              <a:rPr lang="en-US" sz="900" b="1" kern="0" spc="150" dirty="0">
                <a:solidFill>
                  <a:srgbClr val="0891B2"/>
                </a:solidFill>
              </a:rPr>
              <a:t>EY TRAINING 2026</a:t>
            </a:r>
            <a:endParaRPr lang="en-US" sz="900" dirty="0"/>
          </a:p>
        </p:txBody>
      </p:sp>
      <p:sp>
        <p:nvSpPr>
          <p:cNvPr id="7" name="Text 5"/>
          <p:cNvSpPr/>
          <p:nvPr/>
        </p:nvSpPr>
        <p:spPr>
          <a:xfrm>
            <a:off x="640080" y="1188720"/>
            <a:ext cx="7772400" cy="82296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Credit Risk</a:t>
            </a:r>
            <a:endParaRPr lang="en-US" sz="5200" dirty="0"/>
          </a:p>
        </p:txBody>
      </p:sp>
      <p:sp>
        <p:nvSpPr>
          <p:cNvPr id="8" name="Text 6"/>
          <p:cNvSpPr/>
          <p:nvPr/>
        </p:nvSpPr>
        <p:spPr>
          <a:xfrm>
            <a:off x="640080" y="1965960"/>
            <a:ext cx="7772400" cy="822960"/>
          </a:xfrm>
          <a:prstGeom prst="rect">
            <a:avLst/>
          </a:prstGeom>
          <a:noFill/>
          <a:ln/>
        </p:spPr>
        <p:txBody>
          <a:bodyPr wrap="square" lIns="0" tIns="0" rIns="0" bIns="0" rtlCol="0" anchor="ctr"/>
          <a:lstStyle/>
          <a:p>
            <a:pPr marL="0" indent="0">
              <a:buNone/>
            </a:pPr>
            <a:r>
              <a:rPr lang="en-US" sz="5200" b="1" dirty="0">
                <a:solidFill>
                  <a:srgbClr val="2563EB"/>
                </a:solidFill>
                <a:latin typeface="Cambria" pitchFamily="34" charset="0"/>
                <a:ea typeface="Cambria" pitchFamily="34" charset="-122"/>
                <a:cs typeface="Cambria" pitchFamily="34" charset="-120"/>
              </a:rPr>
              <a:t>Intelligence Platform</a:t>
            </a:r>
            <a:endParaRPr lang="en-US" sz="5200" dirty="0"/>
          </a:p>
        </p:txBody>
      </p:sp>
      <p:sp>
        <p:nvSpPr>
          <p:cNvPr id="9" name="Text 7"/>
          <p:cNvSpPr/>
          <p:nvPr/>
        </p:nvSpPr>
        <p:spPr>
          <a:xfrm>
            <a:off x="640080" y="2926080"/>
            <a:ext cx="7772400" cy="411480"/>
          </a:xfrm>
          <a:prstGeom prst="rect">
            <a:avLst/>
          </a:prstGeom>
          <a:noFill/>
          <a:ln/>
        </p:spPr>
        <p:txBody>
          <a:bodyPr wrap="square" lIns="0" tIns="0" rIns="0" bIns="0" rtlCol="0" anchor="ctr"/>
          <a:lstStyle/>
          <a:p>
            <a:pPr marL="0" indent="0">
              <a:buNone/>
            </a:pPr>
            <a:r>
              <a:rPr lang="en-US" sz="1500" dirty="0">
                <a:solidFill>
                  <a:srgbClr val="94A3B8"/>
                </a:solidFill>
                <a:latin typeface="Calibri" pitchFamily="34" charset="0"/>
                <a:ea typeface="Calibri" pitchFamily="34" charset="-122"/>
                <a:cs typeface="Calibri" pitchFamily="34" charset="-120"/>
              </a:rPr>
              <a:t>AI-Powered Credit Risk Assessment &amp; Financial Document Analysis</a:t>
            </a:r>
            <a:endParaRPr lang="en-US" sz="1500" dirty="0"/>
          </a:p>
        </p:txBody>
      </p:sp>
      <p:sp>
        <p:nvSpPr>
          <p:cNvPr id="10" name="Shape 8"/>
          <p:cNvSpPr/>
          <p:nvPr/>
        </p:nvSpPr>
        <p:spPr>
          <a:xfrm>
            <a:off x="640080" y="3703320"/>
            <a:ext cx="3840480" cy="594360"/>
          </a:xfrm>
          <a:prstGeom prst="roundRect">
            <a:avLst>
              <a:gd name="adj" fmla="val 12308"/>
            </a:avLst>
          </a:prstGeom>
          <a:solidFill>
            <a:srgbClr val="162032"/>
          </a:solidFill>
          <a:ln/>
          <a:effectLst>
            <a:outerShdw blurRad="50800" dist="25400" dir="2700000" algn="bl" rotWithShape="0">
              <a:srgbClr val="000000">
                <a:alpha val="12000"/>
              </a:srgbClr>
            </a:outerShdw>
          </a:effectLst>
        </p:spPr>
      </p:sp>
      <p:sp>
        <p:nvSpPr>
          <p:cNvPr id="11" name="Text 9"/>
          <p:cNvSpPr/>
          <p:nvPr/>
        </p:nvSpPr>
        <p:spPr>
          <a:xfrm>
            <a:off x="640080" y="3703320"/>
            <a:ext cx="3840480" cy="594360"/>
          </a:xfrm>
          <a:prstGeom prst="rect">
            <a:avLst/>
          </a:prstGeom>
          <a:noFill/>
          <a:ln/>
        </p:spPr>
        <p:txBody>
          <a:bodyPr wrap="square" lIns="0" tIns="0" rIns="0" bIns="0" rtlCol="0" anchor="ctr"/>
          <a:lstStyle/>
          <a:p>
            <a:pPr marL="0" indent="0" algn="ctr">
              <a:buNone/>
            </a:pPr>
            <a:r>
              <a:rPr lang="en-US" sz="1200" b="1" dirty="0">
                <a:solidFill>
                  <a:srgbClr val="FFFFFF"/>
                </a:solidFill>
              </a:rPr>
              <a:t>Akash Chaurasiya   </a:t>
            </a:r>
          </a:p>
          <a:p>
            <a:pPr marL="0" indent="0" algn="ctr">
              <a:buNone/>
            </a:pPr>
            <a:r>
              <a:rPr lang="en-US" sz="1200" b="1" dirty="0">
                <a:solidFill>
                  <a:srgbClr val="FFFFFF"/>
                </a:solidFill>
              </a:rPr>
              <a:t> Ashu Sharma</a:t>
            </a:r>
            <a:endParaRPr lang="en-US" sz="1200" dirty="0"/>
          </a:p>
        </p:txBody>
      </p:sp>
      <p:sp>
        <p:nvSpPr>
          <p:cNvPr id="12" name="Text 10">
            <a:hlinkClick r:id="rId3"/>
          </p:cNvPr>
          <p:cNvSpPr/>
          <p:nvPr/>
        </p:nvSpPr>
        <p:spPr>
          <a:xfrm>
            <a:off x="640080" y="4434840"/>
            <a:ext cx="4572000" cy="274320"/>
          </a:xfrm>
          <a:prstGeom prst="rect">
            <a:avLst/>
          </a:prstGeom>
          <a:noFill/>
          <a:ln/>
        </p:spPr>
        <p:txBody>
          <a:bodyPr wrap="square" lIns="0" tIns="0" rIns="0" bIns="0" rtlCol="0" anchor="ctr"/>
          <a:lstStyle/>
          <a:p>
            <a:pPr marL="0" indent="0">
              <a:buNone/>
            </a:pPr>
            <a:r>
              <a:rPr lang="en-US" sz="1000" u="sng" dirty="0">
                <a:solidFill>
                  <a:srgbClr val="0891B2"/>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  creditriskplatform.azurewebsites.net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0" y="0"/>
            <a:ext cx="5918454" cy="5143500"/>
          </a:xfrm>
          <a:prstGeom prst="rect">
            <a:avLst/>
          </a:prstGeom>
          <a:solidFill>
            <a:srgbClr val="12213A"/>
          </a:solidFill>
          <a:ln/>
        </p:spPr>
      </p:sp>
      <p:sp>
        <p:nvSpPr>
          <p:cNvPr id="4" name="Shape 1"/>
          <p:cNvSpPr/>
          <p:nvPr/>
        </p:nvSpPr>
        <p:spPr>
          <a:xfrm>
            <a:off x="480060" y="685800"/>
            <a:ext cx="2468880" cy="246888"/>
          </a:xfrm>
          <a:prstGeom prst="roundRect">
            <a:avLst>
              <a:gd name="adj" fmla="val 50000"/>
            </a:avLst>
          </a:prstGeom>
          <a:solidFill>
            <a:srgbClr val="1E2C4A"/>
          </a:solidFill>
          <a:ln/>
        </p:spPr>
      </p:sp>
      <p:sp>
        <p:nvSpPr>
          <p:cNvPr id="5" name="Text 2"/>
          <p:cNvSpPr/>
          <p:nvPr/>
        </p:nvSpPr>
        <p:spPr>
          <a:xfrm>
            <a:off x="480060" y="685800"/>
            <a:ext cx="2468880" cy="246888"/>
          </a:xfrm>
          <a:prstGeom prst="rect">
            <a:avLst/>
          </a:prstGeom>
          <a:noFill/>
          <a:ln/>
        </p:spPr>
        <p:txBody>
          <a:bodyPr wrap="square" lIns="0" tIns="0" rIns="0" bIns="0" rtlCol="0" anchor="ctr"/>
          <a:lstStyle/>
          <a:p>
            <a:pPr marL="0" indent="0" algn="ctr">
              <a:buNone/>
            </a:pPr>
            <a:r>
              <a:rPr lang="en-US" sz="825" b="1" kern="0" spc="150" dirty="0">
                <a:solidFill>
                  <a:srgbClr val="9FB0E8"/>
                </a:solidFill>
                <a:latin typeface="Calibri" pitchFamily="34" charset="0"/>
                <a:ea typeface="Calibri" pitchFamily="34" charset="-122"/>
                <a:cs typeface="Calibri" pitchFamily="34" charset="-120"/>
              </a:rPr>
              <a:t>A CREDIT RISK STORY</a:t>
            </a:r>
            <a:endParaRPr lang="en-US" sz="825" dirty="0"/>
          </a:p>
        </p:txBody>
      </p:sp>
      <p:sp>
        <p:nvSpPr>
          <p:cNvPr id="6" name="Text 3"/>
          <p:cNvSpPr/>
          <p:nvPr/>
        </p:nvSpPr>
        <p:spPr>
          <a:xfrm>
            <a:off x="466344" y="1097280"/>
            <a:ext cx="5143500" cy="617220"/>
          </a:xfrm>
          <a:prstGeom prst="rect">
            <a:avLst/>
          </a:prstGeom>
          <a:noFill/>
          <a:ln/>
        </p:spPr>
        <p:txBody>
          <a:bodyPr wrap="square" lIns="0" tIns="0" rIns="0" bIns="0" rtlCol="0" anchor="ctr"/>
          <a:lstStyle/>
          <a:p>
            <a:pPr marL="0" indent="0">
              <a:buNone/>
            </a:pPr>
            <a:r>
              <a:rPr lang="en-US" sz="3150" b="1" dirty="0">
                <a:solidFill>
                  <a:srgbClr val="FFFFFF"/>
                </a:solidFill>
                <a:latin typeface="Cambria" pitchFamily="34" charset="0"/>
                <a:ea typeface="Cambria" pitchFamily="34" charset="-122"/>
                <a:cs typeface="Cambria" pitchFamily="34" charset="-120"/>
              </a:rPr>
              <a:t>What Rohan Needed</a:t>
            </a:r>
            <a:endParaRPr lang="en-US" sz="3150" dirty="0"/>
          </a:p>
        </p:txBody>
      </p:sp>
      <p:sp>
        <p:nvSpPr>
          <p:cNvPr id="7" name="Text 4"/>
          <p:cNvSpPr/>
          <p:nvPr/>
        </p:nvSpPr>
        <p:spPr>
          <a:xfrm>
            <a:off x="466344" y="1611630"/>
            <a:ext cx="5143500" cy="617220"/>
          </a:xfrm>
          <a:prstGeom prst="rect">
            <a:avLst/>
          </a:prstGeom>
          <a:noFill/>
          <a:ln/>
        </p:spPr>
        <p:txBody>
          <a:bodyPr wrap="square" lIns="0" tIns="0" rIns="0" bIns="0" rtlCol="0" anchor="ctr"/>
          <a:lstStyle/>
          <a:p>
            <a:pPr marL="0" indent="0">
              <a:buNone/>
            </a:pPr>
            <a:r>
              <a:rPr lang="en-US" sz="3150" b="1" dirty="0">
                <a:solidFill>
                  <a:srgbClr val="FFFFFF"/>
                </a:solidFill>
                <a:latin typeface="Cambria" pitchFamily="34" charset="0"/>
                <a:ea typeface="Cambria" pitchFamily="34" charset="-122"/>
                <a:cs typeface="Cambria" pitchFamily="34" charset="-120"/>
              </a:rPr>
              <a:t>Was an Answer.</a:t>
            </a:r>
            <a:endParaRPr lang="en-US" sz="3150" dirty="0"/>
          </a:p>
        </p:txBody>
      </p:sp>
      <p:sp>
        <p:nvSpPr>
          <p:cNvPr id="8" name="Text 5"/>
          <p:cNvSpPr/>
          <p:nvPr/>
        </p:nvSpPr>
        <p:spPr>
          <a:xfrm>
            <a:off x="466344" y="2297430"/>
            <a:ext cx="4526280" cy="480060"/>
          </a:xfrm>
          <a:prstGeom prst="rect">
            <a:avLst/>
          </a:prstGeom>
          <a:noFill/>
          <a:ln/>
        </p:spPr>
        <p:txBody>
          <a:bodyPr wrap="square" lIns="0" tIns="0" rIns="0" bIns="0" rtlCol="0" anchor="ctr"/>
          <a:lstStyle/>
          <a:p>
            <a:pPr>
              <a:lnSpc>
                <a:spcPct val="130000"/>
              </a:lnSpc>
            </a:pPr>
            <a:r>
              <a:rPr lang="en-IN" sz="1200" dirty="0">
                <a:solidFill>
                  <a:schemeClr val="bg2"/>
                </a:solidFill>
              </a:rPr>
              <a:t>Rohan applied for a business loan and heard nothing for four days. Here's what happened next.</a:t>
            </a:r>
            <a:endParaRPr lang="en-US" sz="1125" dirty="0"/>
          </a:p>
        </p:txBody>
      </p:sp>
      <p:sp>
        <p:nvSpPr>
          <p:cNvPr id="9" name="Shape 6"/>
          <p:cNvSpPr/>
          <p:nvPr/>
        </p:nvSpPr>
        <p:spPr>
          <a:xfrm>
            <a:off x="480060" y="2983230"/>
            <a:ext cx="1783080" cy="0"/>
          </a:xfrm>
          <a:prstGeom prst="line">
            <a:avLst/>
          </a:prstGeom>
          <a:noFill/>
          <a:ln w="9525">
            <a:solidFill>
              <a:srgbClr val="2E3D5E"/>
            </a:solidFill>
            <a:prstDash val="solid"/>
          </a:ln>
        </p:spPr>
      </p:sp>
      <p:sp>
        <p:nvSpPr>
          <p:cNvPr id="10" name="Text 7"/>
          <p:cNvSpPr/>
          <p:nvPr/>
        </p:nvSpPr>
        <p:spPr>
          <a:xfrm>
            <a:off x="466344" y="3154680"/>
            <a:ext cx="4594860" cy="960120"/>
          </a:xfrm>
          <a:prstGeom prst="rect">
            <a:avLst/>
          </a:prstGeom>
          <a:noFill/>
          <a:ln/>
        </p:spPr>
        <p:txBody>
          <a:bodyPr wrap="square" lIns="0" tIns="0" rIns="0" bIns="0" rtlCol="0" anchor="ctr"/>
          <a:lstStyle/>
          <a:p>
            <a:pPr>
              <a:lnSpc>
                <a:spcPct val="135000"/>
              </a:lnSpc>
            </a:pPr>
            <a:r>
              <a:rPr lang="en-US" sz="825" b="1" kern="0" spc="150" dirty="0">
                <a:solidFill>
                  <a:srgbClr val="7C8CE8"/>
                </a:solidFill>
                <a:latin typeface="Calibri" pitchFamily="34" charset="0"/>
                <a:ea typeface="Calibri" pitchFamily="34" charset="-122"/>
                <a:cs typeface="Calibri" pitchFamily="34" charset="-120"/>
              </a:rPr>
              <a:t>IN ONE SENTENCE
</a:t>
            </a:r>
            <a:r>
              <a:rPr lang="en-IN" sz="1100" dirty="0">
                <a:solidFill>
                  <a:schemeClr val="bg2"/>
                </a:solidFill>
              </a:rPr>
              <a:t>A loan decision that once took days — and still felt unfair — now takes minutes and comes with a clear reason.</a:t>
            </a:r>
          </a:p>
          <a:p>
            <a:pPr marL="0" indent="0">
              <a:lnSpc>
                <a:spcPct val="135000"/>
              </a:lnSpc>
              <a:buNone/>
            </a:pPr>
            <a:endParaRPr lang="en-US" sz="825" dirty="0"/>
          </a:p>
        </p:txBody>
      </p:sp>
      <p:sp>
        <p:nvSpPr>
          <p:cNvPr id="11" name="Text 8"/>
          <p:cNvSpPr/>
          <p:nvPr/>
        </p:nvSpPr>
        <p:spPr>
          <a:xfrm>
            <a:off x="411480" y="4896612"/>
            <a:ext cx="5486400" cy="192024"/>
          </a:xfrm>
          <a:prstGeom prst="rect">
            <a:avLst/>
          </a:prstGeom>
          <a:noFill/>
          <a:ln/>
        </p:spPr>
        <p:txBody>
          <a:bodyPr wrap="square" rtlCol="0" anchor="ctr"/>
          <a:lstStyle/>
          <a:p>
            <a:pPr marL="0" indent="0" algn="l">
              <a:buNone/>
            </a:pPr>
            <a:r>
              <a:rPr lang="en-US" sz="712" dirty="0">
                <a:solidFill>
                  <a:srgbClr val="AEB0C4"/>
                </a:solidFill>
                <a:latin typeface="Calibri" pitchFamily="34" charset="0"/>
                <a:ea typeface="Calibri" pitchFamily="34" charset="-122"/>
                <a:cs typeface="Calibri" pitchFamily="34" charset="-120"/>
              </a:rPr>
              <a:t>Cover</a:t>
            </a:r>
            <a:endParaRPr lang="en-US" sz="712" dirty="0"/>
          </a:p>
        </p:txBody>
      </p:sp>
      <p:sp>
        <p:nvSpPr>
          <p:cNvPr id="12" name="Text 9"/>
          <p:cNvSpPr/>
          <p:nvPr/>
        </p:nvSpPr>
        <p:spPr>
          <a:xfrm>
            <a:off x="6947154" y="4896612"/>
            <a:ext cx="1783080" cy="192024"/>
          </a:xfrm>
          <a:prstGeom prst="rect">
            <a:avLst/>
          </a:prstGeom>
          <a:noFill/>
          <a:ln/>
        </p:spPr>
        <p:txBody>
          <a:bodyPr wrap="square" rtlCol="0" anchor="ctr"/>
          <a:lstStyle/>
          <a:p>
            <a:pPr marL="0" indent="0" algn="r">
              <a:buNone/>
            </a:pPr>
            <a:r>
              <a:rPr lang="en-US" sz="712" dirty="0">
                <a:solidFill>
                  <a:srgbClr val="AEB0C4"/>
                </a:solidFill>
                <a:latin typeface="Calibri" pitchFamily="34" charset="0"/>
                <a:ea typeface="Calibri" pitchFamily="34" charset="-122"/>
                <a:cs typeface="Calibri" pitchFamily="34" charset="-120"/>
              </a:rPr>
              <a:t>Rohan's Story</a:t>
            </a:r>
            <a:endParaRPr lang="en-US" sz="712" dirty="0"/>
          </a:p>
        </p:txBody>
      </p:sp>
      <p:pic>
        <p:nvPicPr>
          <p:cNvPr id="13" name="Picture 12" descr="s2.png"/>
          <p:cNvPicPr>
            <a:picLocks noChangeAspect="1"/>
          </p:cNvPicPr>
          <p:nvPr/>
        </p:nvPicPr>
        <p:blipFill>
          <a:blip r:embed="rId2"/>
          <a:stretch>
            <a:fillRect/>
          </a:stretch>
        </p:blipFill>
        <p:spPr>
          <a:xfrm>
            <a:off x="5438394" y="0"/>
            <a:ext cx="3703320" cy="5143500"/>
          </a:xfrm>
          <a:prstGeom prst="rect">
            <a:avLst/>
          </a:prstGeom>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11480" y="342900"/>
            <a:ext cx="1577340" cy="260604"/>
          </a:xfrm>
          <a:prstGeom prst="roundRect">
            <a:avLst>
              <a:gd name="adj" fmla="val 50000"/>
            </a:avLst>
          </a:prstGeom>
          <a:solidFill>
            <a:srgbClr val="D97757"/>
          </a:solidFill>
          <a:ln/>
        </p:spPr>
      </p:sp>
      <p:sp>
        <p:nvSpPr>
          <p:cNvPr id="3" name="Text 1"/>
          <p:cNvSpPr/>
          <p:nvPr/>
        </p:nvSpPr>
        <p:spPr>
          <a:xfrm>
            <a:off x="411480" y="342900"/>
            <a:ext cx="1577340" cy="260604"/>
          </a:xfrm>
          <a:prstGeom prst="rect">
            <a:avLst/>
          </a:prstGeom>
          <a:noFill/>
          <a:ln/>
        </p:spPr>
        <p:txBody>
          <a:bodyPr wrap="square" lIns="0" tIns="0" rIns="0" bIns="0" rtlCol="0" anchor="ctr"/>
          <a:lstStyle/>
          <a:p>
            <a:pPr marL="0" indent="0" algn="ctr">
              <a:buNone/>
            </a:pPr>
            <a:r>
              <a:rPr lang="en-US" sz="862" b="1" kern="0" spc="120" dirty="0">
                <a:solidFill>
                  <a:srgbClr val="FFFFFF"/>
                </a:solidFill>
                <a:latin typeface="Calibri" pitchFamily="34" charset="0"/>
                <a:ea typeface="Calibri" pitchFamily="34" charset="-122"/>
                <a:cs typeface="Calibri" pitchFamily="34" charset="-120"/>
              </a:rPr>
              <a:t>THE OLD WAY</a:t>
            </a:r>
            <a:endParaRPr lang="en-US" sz="862" dirty="0"/>
          </a:p>
        </p:txBody>
      </p:sp>
      <p:sp>
        <p:nvSpPr>
          <p:cNvPr id="4" name="Shape 2"/>
          <p:cNvSpPr/>
          <p:nvPr/>
        </p:nvSpPr>
        <p:spPr>
          <a:xfrm>
            <a:off x="7317486" y="411480"/>
            <a:ext cx="109728" cy="109728"/>
          </a:xfrm>
          <a:prstGeom prst="ellipse">
            <a:avLst/>
          </a:prstGeom>
          <a:solidFill>
            <a:srgbClr val="D97757"/>
          </a:solidFill>
          <a:ln/>
        </p:spPr>
      </p:sp>
      <p:sp>
        <p:nvSpPr>
          <p:cNvPr id="5" name="Shape 3"/>
          <p:cNvSpPr/>
          <p:nvPr/>
        </p:nvSpPr>
        <p:spPr>
          <a:xfrm>
            <a:off x="7523226" y="411480"/>
            <a:ext cx="109728" cy="109728"/>
          </a:xfrm>
          <a:prstGeom prst="ellipse">
            <a:avLst/>
          </a:prstGeom>
          <a:solidFill>
            <a:srgbClr val="E4E0D6"/>
          </a:solidFill>
          <a:ln/>
        </p:spPr>
      </p:sp>
      <p:sp>
        <p:nvSpPr>
          <p:cNvPr id="6" name="Shape 4"/>
          <p:cNvSpPr/>
          <p:nvPr/>
        </p:nvSpPr>
        <p:spPr>
          <a:xfrm>
            <a:off x="7728966" y="411480"/>
            <a:ext cx="109728" cy="109728"/>
          </a:xfrm>
          <a:prstGeom prst="ellipse">
            <a:avLst/>
          </a:prstGeom>
          <a:solidFill>
            <a:srgbClr val="E4E0D6"/>
          </a:solidFill>
          <a:ln/>
        </p:spPr>
      </p:sp>
      <p:sp>
        <p:nvSpPr>
          <p:cNvPr id="7" name="Shape 5"/>
          <p:cNvSpPr/>
          <p:nvPr/>
        </p:nvSpPr>
        <p:spPr>
          <a:xfrm>
            <a:off x="7934706" y="411480"/>
            <a:ext cx="109728" cy="109728"/>
          </a:xfrm>
          <a:prstGeom prst="ellipse">
            <a:avLst/>
          </a:prstGeom>
          <a:solidFill>
            <a:srgbClr val="E4E0D6"/>
          </a:solidFill>
          <a:ln/>
        </p:spPr>
      </p:sp>
      <p:sp>
        <p:nvSpPr>
          <p:cNvPr id="8" name="Shape 6"/>
          <p:cNvSpPr/>
          <p:nvPr/>
        </p:nvSpPr>
        <p:spPr>
          <a:xfrm>
            <a:off x="8140446" y="411480"/>
            <a:ext cx="109728" cy="109728"/>
          </a:xfrm>
          <a:prstGeom prst="ellipse">
            <a:avLst/>
          </a:prstGeom>
          <a:solidFill>
            <a:srgbClr val="E4E0D6"/>
          </a:solidFill>
          <a:ln/>
        </p:spPr>
      </p:sp>
      <p:sp>
        <p:nvSpPr>
          <p:cNvPr id="9" name="Shape 7"/>
          <p:cNvSpPr/>
          <p:nvPr/>
        </p:nvSpPr>
        <p:spPr>
          <a:xfrm>
            <a:off x="8346186" y="411480"/>
            <a:ext cx="109728" cy="109728"/>
          </a:xfrm>
          <a:prstGeom prst="ellipse">
            <a:avLst/>
          </a:prstGeom>
          <a:solidFill>
            <a:srgbClr val="E4E0D6"/>
          </a:solidFill>
          <a:ln/>
        </p:spPr>
      </p:sp>
      <p:sp>
        <p:nvSpPr>
          <p:cNvPr id="10" name="Shape 8"/>
          <p:cNvSpPr/>
          <p:nvPr/>
        </p:nvSpPr>
        <p:spPr>
          <a:xfrm>
            <a:off x="8551926" y="411480"/>
            <a:ext cx="109728" cy="109728"/>
          </a:xfrm>
          <a:prstGeom prst="ellipse">
            <a:avLst/>
          </a:prstGeom>
          <a:solidFill>
            <a:srgbClr val="E4E0D6"/>
          </a:solidFill>
          <a:ln/>
        </p:spPr>
      </p:sp>
      <p:sp>
        <p:nvSpPr>
          <p:cNvPr id="11" name="Shape 9"/>
          <p:cNvSpPr/>
          <p:nvPr/>
        </p:nvSpPr>
        <p:spPr>
          <a:xfrm>
            <a:off x="480060" y="788670"/>
            <a:ext cx="3909060" cy="3977640"/>
          </a:xfrm>
          <a:prstGeom prst="roundRect">
            <a:avLst>
              <a:gd name="adj" fmla="val 6140"/>
            </a:avLst>
          </a:prstGeom>
          <a:solidFill>
            <a:srgbClr val="FFFFFF"/>
          </a:solidFill>
          <a:ln/>
          <a:effectLst>
            <a:outerShdw blurRad="190500" dist="76200" dir="5400000" algn="bl" rotWithShape="0">
              <a:srgbClr val="12213A">
                <a:alpha val="16000"/>
              </a:srgbClr>
            </a:outerShdw>
          </a:effectLst>
        </p:spPr>
      </p:sp>
      <p:sp>
        <p:nvSpPr>
          <p:cNvPr id="13" name="Text 10"/>
          <p:cNvSpPr/>
          <p:nvPr/>
        </p:nvSpPr>
        <p:spPr>
          <a:xfrm>
            <a:off x="4629150" y="822960"/>
            <a:ext cx="4046220" cy="240030"/>
          </a:xfrm>
          <a:prstGeom prst="rect">
            <a:avLst/>
          </a:prstGeom>
          <a:noFill/>
          <a:ln/>
        </p:spPr>
        <p:txBody>
          <a:bodyPr wrap="square" lIns="0" tIns="0" rIns="0" bIns="0" rtlCol="0" anchor="ctr"/>
          <a:lstStyle/>
          <a:p>
            <a:pPr marL="0" indent="0">
              <a:buNone/>
            </a:pPr>
            <a:r>
              <a:rPr lang="en-US" sz="900" b="1" kern="0" spc="150" dirty="0">
                <a:solidFill>
                  <a:srgbClr val="D97757"/>
                </a:solidFill>
                <a:latin typeface="Calibri" pitchFamily="34" charset="0"/>
                <a:ea typeface="Calibri" pitchFamily="34" charset="-122"/>
                <a:cs typeface="Calibri" pitchFamily="34" charset="-120"/>
              </a:rPr>
              <a:t>MEET ROHAN</a:t>
            </a:r>
            <a:endParaRPr lang="en-US" sz="900" dirty="0"/>
          </a:p>
        </p:txBody>
      </p:sp>
      <p:sp>
        <p:nvSpPr>
          <p:cNvPr id="14" name="Text 11"/>
          <p:cNvSpPr/>
          <p:nvPr/>
        </p:nvSpPr>
        <p:spPr>
          <a:xfrm>
            <a:off x="4629150" y="1062990"/>
            <a:ext cx="4046220" cy="891540"/>
          </a:xfrm>
          <a:prstGeom prst="rect">
            <a:avLst/>
          </a:prstGeom>
          <a:noFill/>
          <a:ln/>
        </p:spPr>
        <p:txBody>
          <a:bodyPr wrap="square" lIns="0" tIns="0" rIns="0" bIns="0" rtlCol="0" anchor="ctr"/>
          <a:lstStyle/>
          <a:p>
            <a:pPr>
              <a:lnSpc>
                <a:spcPct val="112000"/>
              </a:lnSpc>
            </a:pPr>
            <a:r>
              <a:rPr lang="en-US" sz="2025" b="1" dirty="0">
                <a:solidFill>
                  <a:srgbClr val="241F1A"/>
                </a:solidFill>
                <a:latin typeface="Cambria" pitchFamily="34" charset="0"/>
                <a:ea typeface="Cambria" pitchFamily="34" charset="-122"/>
                <a:cs typeface="Cambria" pitchFamily="34" charset="-120"/>
              </a:rPr>
              <a:t>Rohan owns a shop and is applying for a loan to grow his business</a:t>
            </a:r>
            <a:endParaRPr lang="en-US" sz="2025" dirty="0"/>
          </a:p>
        </p:txBody>
      </p:sp>
      <p:sp>
        <p:nvSpPr>
          <p:cNvPr id="15" name="Shape 12"/>
          <p:cNvSpPr/>
          <p:nvPr/>
        </p:nvSpPr>
        <p:spPr>
          <a:xfrm>
            <a:off x="4629150" y="2023110"/>
            <a:ext cx="822960" cy="0"/>
          </a:xfrm>
          <a:prstGeom prst="line">
            <a:avLst/>
          </a:prstGeom>
          <a:noFill/>
          <a:ln w="28575">
            <a:solidFill>
              <a:srgbClr val="D97757"/>
            </a:solidFill>
            <a:prstDash val="solid"/>
          </a:ln>
        </p:spPr>
      </p:sp>
      <p:sp>
        <p:nvSpPr>
          <p:cNvPr id="16" name="Text 13"/>
          <p:cNvSpPr/>
          <p:nvPr/>
        </p:nvSpPr>
        <p:spPr>
          <a:xfrm>
            <a:off x="4615434" y="2023110"/>
            <a:ext cx="4046220" cy="1508760"/>
          </a:xfrm>
          <a:prstGeom prst="rect">
            <a:avLst/>
          </a:prstGeom>
          <a:noFill/>
          <a:ln/>
        </p:spPr>
        <p:txBody>
          <a:bodyPr wrap="square" lIns="0" tIns="0" rIns="0" bIns="0" rtlCol="0" anchor="ctr"/>
          <a:lstStyle/>
          <a:p>
            <a:pPr>
              <a:lnSpc>
                <a:spcPct val="145000"/>
              </a:lnSpc>
            </a:pPr>
            <a:r>
              <a:rPr lang="en-US" sz="1162" i="1" dirty="0">
                <a:solidFill>
                  <a:srgbClr val="3B362F"/>
                </a:solidFill>
                <a:latin typeface="Calibri" pitchFamily="34" charset="0"/>
                <a:ea typeface="Calibri" pitchFamily="34" charset="-122"/>
                <a:cs typeface="Calibri" pitchFamily="34" charset="-120"/>
              </a:rPr>
              <a:t>Rohan runs a small electronics shop. Festival season is six weeks away, and he needs a loan to buy new products to sell before demand goes up. He applies for the loan and waits — hopeful, not worried yet.</a:t>
            </a:r>
            <a:endParaRPr lang="en-US" sz="1162" dirty="0"/>
          </a:p>
        </p:txBody>
      </p:sp>
      <p:sp>
        <p:nvSpPr>
          <p:cNvPr id="17" name="Text 14"/>
          <p:cNvSpPr/>
          <p:nvPr/>
        </p:nvSpPr>
        <p:spPr>
          <a:xfrm>
            <a:off x="411480" y="4896612"/>
            <a:ext cx="5486400" cy="192024"/>
          </a:xfrm>
          <a:prstGeom prst="rect">
            <a:avLst/>
          </a:prstGeom>
          <a:noFill/>
          <a:ln/>
        </p:spPr>
        <p:txBody>
          <a:bodyPr wrap="square" rtlCol="0" anchor="ctr"/>
          <a:lstStyle/>
          <a:p>
            <a:pPr marL="0" indent="0" algn="l">
              <a:buNone/>
            </a:pPr>
            <a:r>
              <a:rPr lang="en-US" sz="712" dirty="0">
                <a:solidFill>
                  <a:srgbClr val="8A8378"/>
                </a:solidFill>
                <a:latin typeface="Calibri" pitchFamily="34" charset="0"/>
                <a:ea typeface="Calibri" pitchFamily="34" charset="-122"/>
                <a:cs typeface="Calibri" pitchFamily="34" charset="-120"/>
              </a:rPr>
              <a:t>THE OLD WAY</a:t>
            </a:r>
            <a:endParaRPr lang="en-US" sz="712" dirty="0"/>
          </a:p>
        </p:txBody>
      </p:sp>
      <p:sp>
        <p:nvSpPr>
          <p:cNvPr id="18" name="Text 15"/>
          <p:cNvSpPr/>
          <p:nvPr/>
        </p:nvSpPr>
        <p:spPr>
          <a:xfrm>
            <a:off x="6947154" y="4896612"/>
            <a:ext cx="1783080" cy="192024"/>
          </a:xfrm>
          <a:prstGeom prst="rect">
            <a:avLst/>
          </a:prstGeom>
          <a:noFill/>
          <a:ln/>
        </p:spPr>
        <p:txBody>
          <a:bodyPr wrap="square" rtlCol="0" anchor="ctr"/>
          <a:lstStyle/>
          <a:p>
            <a:pPr marL="0" indent="0" algn="r">
              <a:buNone/>
            </a:pPr>
            <a:r>
              <a:rPr lang="en-US" sz="712" dirty="0">
                <a:solidFill>
                  <a:srgbClr val="8A8378"/>
                </a:solidFill>
                <a:latin typeface="Calibri" pitchFamily="34" charset="0"/>
                <a:ea typeface="Calibri" pitchFamily="34" charset="-122"/>
                <a:cs typeface="Calibri" pitchFamily="34" charset="-120"/>
              </a:rPr>
              <a:t>Rohan's Story</a:t>
            </a:r>
            <a:endParaRPr lang="en-US" sz="712" dirty="0"/>
          </a:p>
        </p:txBody>
      </p:sp>
      <p:pic>
        <p:nvPicPr>
          <p:cNvPr id="19" name="Picture 18" descr="s3.png"/>
          <p:cNvPicPr>
            <a:picLocks noChangeAspect="1"/>
          </p:cNvPicPr>
          <p:nvPr/>
        </p:nvPicPr>
        <p:blipFill>
          <a:blip r:embed="rId2"/>
          <a:stretch>
            <a:fillRect/>
          </a:stretch>
        </p:blipFill>
        <p:spPr>
          <a:xfrm>
            <a:off x="480060" y="788670"/>
            <a:ext cx="3909060" cy="3977640"/>
          </a:xfrm>
          <a:prstGeom prst="rect">
            <a:avLst/>
          </a:prstGeom>
        </p:spPr>
      </p:pic>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11480" y="342900"/>
            <a:ext cx="1577340" cy="260604"/>
          </a:xfrm>
          <a:prstGeom prst="roundRect">
            <a:avLst>
              <a:gd name="adj" fmla="val 50000"/>
            </a:avLst>
          </a:prstGeom>
          <a:solidFill>
            <a:srgbClr val="D97757"/>
          </a:solidFill>
          <a:ln/>
        </p:spPr>
      </p:sp>
      <p:sp>
        <p:nvSpPr>
          <p:cNvPr id="3" name="Text 1"/>
          <p:cNvSpPr/>
          <p:nvPr/>
        </p:nvSpPr>
        <p:spPr>
          <a:xfrm>
            <a:off x="411480" y="342900"/>
            <a:ext cx="1577340" cy="260604"/>
          </a:xfrm>
          <a:prstGeom prst="rect">
            <a:avLst/>
          </a:prstGeom>
          <a:noFill/>
          <a:ln/>
        </p:spPr>
        <p:txBody>
          <a:bodyPr wrap="square" lIns="0" tIns="0" rIns="0" bIns="0" rtlCol="0" anchor="ctr"/>
          <a:lstStyle/>
          <a:p>
            <a:pPr marL="0" indent="0" algn="ctr">
              <a:buNone/>
            </a:pPr>
            <a:r>
              <a:rPr lang="en-US" sz="862" b="1" kern="0" spc="120" dirty="0">
                <a:solidFill>
                  <a:srgbClr val="FFFFFF"/>
                </a:solidFill>
                <a:latin typeface="Calibri" pitchFamily="34" charset="0"/>
                <a:ea typeface="Calibri" pitchFamily="34" charset="-122"/>
                <a:cs typeface="Calibri" pitchFamily="34" charset="-120"/>
              </a:rPr>
              <a:t>THE OLD WAY</a:t>
            </a:r>
            <a:endParaRPr lang="en-US" sz="862" dirty="0"/>
          </a:p>
        </p:txBody>
      </p:sp>
      <p:sp>
        <p:nvSpPr>
          <p:cNvPr id="4" name="Shape 2"/>
          <p:cNvSpPr/>
          <p:nvPr/>
        </p:nvSpPr>
        <p:spPr>
          <a:xfrm>
            <a:off x="7317486" y="411480"/>
            <a:ext cx="109728" cy="109728"/>
          </a:xfrm>
          <a:prstGeom prst="ellipse">
            <a:avLst/>
          </a:prstGeom>
          <a:solidFill>
            <a:srgbClr val="E4E0D6"/>
          </a:solidFill>
          <a:ln/>
        </p:spPr>
      </p:sp>
      <p:sp>
        <p:nvSpPr>
          <p:cNvPr id="5" name="Shape 3"/>
          <p:cNvSpPr/>
          <p:nvPr/>
        </p:nvSpPr>
        <p:spPr>
          <a:xfrm>
            <a:off x="7523226" y="411480"/>
            <a:ext cx="109728" cy="109728"/>
          </a:xfrm>
          <a:prstGeom prst="ellipse">
            <a:avLst/>
          </a:prstGeom>
          <a:solidFill>
            <a:srgbClr val="D97757"/>
          </a:solidFill>
          <a:ln/>
        </p:spPr>
      </p:sp>
      <p:sp>
        <p:nvSpPr>
          <p:cNvPr id="6" name="Shape 4"/>
          <p:cNvSpPr/>
          <p:nvPr/>
        </p:nvSpPr>
        <p:spPr>
          <a:xfrm>
            <a:off x="7728966" y="411480"/>
            <a:ext cx="109728" cy="109728"/>
          </a:xfrm>
          <a:prstGeom prst="ellipse">
            <a:avLst/>
          </a:prstGeom>
          <a:solidFill>
            <a:srgbClr val="E4E0D6"/>
          </a:solidFill>
          <a:ln/>
        </p:spPr>
      </p:sp>
      <p:sp>
        <p:nvSpPr>
          <p:cNvPr id="7" name="Shape 5"/>
          <p:cNvSpPr/>
          <p:nvPr/>
        </p:nvSpPr>
        <p:spPr>
          <a:xfrm>
            <a:off x="7934706" y="411480"/>
            <a:ext cx="109728" cy="109728"/>
          </a:xfrm>
          <a:prstGeom prst="ellipse">
            <a:avLst/>
          </a:prstGeom>
          <a:solidFill>
            <a:srgbClr val="E4E0D6"/>
          </a:solidFill>
          <a:ln/>
        </p:spPr>
      </p:sp>
      <p:sp>
        <p:nvSpPr>
          <p:cNvPr id="8" name="Shape 6"/>
          <p:cNvSpPr/>
          <p:nvPr/>
        </p:nvSpPr>
        <p:spPr>
          <a:xfrm>
            <a:off x="8140446" y="411480"/>
            <a:ext cx="109728" cy="109728"/>
          </a:xfrm>
          <a:prstGeom prst="ellipse">
            <a:avLst/>
          </a:prstGeom>
          <a:solidFill>
            <a:srgbClr val="E4E0D6"/>
          </a:solidFill>
          <a:ln/>
        </p:spPr>
      </p:sp>
      <p:sp>
        <p:nvSpPr>
          <p:cNvPr id="9" name="Shape 7"/>
          <p:cNvSpPr/>
          <p:nvPr/>
        </p:nvSpPr>
        <p:spPr>
          <a:xfrm>
            <a:off x="8346186" y="411480"/>
            <a:ext cx="109728" cy="109728"/>
          </a:xfrm>
          <a:prstGeom prst="ellipse">
            <a:avLst/>
          </a:prstGeom>
          <a:solidFill>
            <a:srgbClr val="E4E0D6"/>
          </a:solidFill>
          <a:ln/>
        </p:spPr>
      </p:sp>
      <p:sp>
        <p:nvSpPr>
          <p:cNvPr id="10" name="Shape 8"/>
          <p:cNvSpPr/>
          <p:nvPr/>
        </p:nvSpPr>
        <p:spPr>
          <a:xfrm>
            <a:off x="8551926" y="411480"/>
            <a:ext cx="109728" cy="109728"/>
          </a:xfrm>
          <a:prstGeom prst="ellipse">
            <a:avLst/>
          </a:prstGeom>
          <a:solidFill>
            <a:srgbClr val="E4E0D6"/>
          </a:solidFill>
          <a:ln/>
        </p:spPr>
      </p:sp>
      <p:sp>
        <p:nvSpPr>
          <p:cNvPr id="11" name="Shape 9"/>
          <p:cNvSpPr/>
          <p:nvPr/>
        </p:nvSpPr>
        <p:spPr>
          <a:xfrm>
            <a:off x="480060" y="788670"/>
            <a:ext cx="3909060" cy="3977640"/>
          </a:xfrm>
          <a:prstGeom prst="roundRect">
            <a:avLst>
              <a:gd name="adj" fmla="val 6140"/>
            </a:avLst>
          </a:prstGeom>
          <a:solidFill>
            <a:srgbClr val="FFFFFF"/>
          </a:solidFill>
          <a:ln/>
          <a:effectLst>
            <a:outerShdw blurRad="190500" dist="76200" dir="5400000" algn="bl" rotWithShape="0">
              <a:srgbClr val="12213A">
                <a:alpha val="16000"/>
              </a:srgbClr>
            </a:outerShdw>
          </a:effectLst>
        </p:spPr>
      </p:sp>
      <p:sp>
        <p:nvSpPr>
          <p:cNvPr id="13" name="Text 10"/>
          <p:cNvSpPr/>
          <p:nvPr/>
        </p:nvSpPr>
        <p:spPr>
          <a:xfrm>
            <a:off x="4629150" y="822960"/>
            <a:ext cx="4046220" cy="240030"/>
          </a:xfrm>
          <a:prstGeom prst="rect">
            <a:avLst/>
          </a:prstGeom>
          <a:noFill/>
          <a:ln/>
        </p:spPr>
        <p:txBody>
          <a:bodyPr wrap="square" lIns="0" tIns="0" rIns="0" bIns="0" rtlCol="0" anchor="ctr"/>
          <a:lstStyle/>
          <a:p>
            <a:pPr marL="0" indent="0">
              <a:buNone/>
            </a:pPr>
            <a:r>
              <a:rPr lang="en-US" sz="900" b="1" kern="0" spc="150" dirty="0">
                <a:solidFill>
                  <a:srgbClr val="D97757"/>
                </a:solidFill>
                <a:latin typeface="Calibri" pitchFamily="34" charset="0"/>
                <a:ea typeface="Calibri" pitchFamily="34" charset="-122"/>
                <a:cs typeface="Calibri" pitchFamily="34" charset="-120"/>
              </a:rPr>
              <a:t>THE WAIT</a:t>
            </a:r>
            <a:endParaRPr lang="en-US" sz="900" dirty="0"/>
          </a:p>
        </p:txBody>
      </p:sp>
      <p:sp>
        <p:nvSpPr>
          <p:cNvPr id="14" name="Text 11"/>
          <p:cNvSpPr/>
          <p:nvPr/>
        </p:nvSpPr>
        <p:spPr>
          <a:xfrm>
            <a:off x="4629150" y="1062990"/>
            <a:ext cx="4046220" cy="891540"/>
          </a:xfrm>
          <a:prstGeom prst="rect">
            <a:avLst/>
          </a:prstGeom>
          <a:noFill/>
          <a:ln/>
        </p:spPr>
        <p:txBody>
          <a:bodyPr wrap="square" lIns="0" tIns="0" rIns="0" bIns="0" rtlCol="0" anchor="ctr"/>
          <a:lstStyle/>
          <a:p>
            <a:pPr>
              <a:lnSpc>
                <a:spcPct val="112000"/>
              </a:lnSpc>
            </a:pPr>
            <a:r>
              <a:rPr lang="en-US" sz="2025" b="1" dirty="0">
                <a:solidFill>
                  <a:srgbClr val="241F1A"/>
                </a:solidFill>
                <a:latin typeface="Cambria" pitchFamily="34" charset="0"/>
                <a:ea typeface="Cambria" pitchFamily="34" charset="-122"/>
                <a:cs typeface="Cambria" pitchFamily="34" charset="-120"/>
              </a:rPr>
              <a:t>Someone at the bank is reviewing his loan application</a:t>
            </a:r>
            <a:endParaRPr lang="en-US" sz="2025" dirty="0"/>
          </a:p>
        </p:txBody>
      </p:sp>
      <p:sp>
        <p:nvSpPr>
          <p:cNvPr id="15" name="Shape 12"/>
          <p:cNvSpPr/>
          <p:nvPr/>
        </p:nvSpPr>
        <p:spPr>
          <a:xfrm>
            <a:off x="4629150" y="2023110"/>
            <a:ext cx="822960" cy="0"/>
          </a:xfrm>
          <a:prstGeom prst="line">
            <a:avLst/>
          </a:prstGeom>
          <a:noFill/>
          <a:ln w="28575">
            <a:solidFill>
              <a:srgbClr val="D97757"/>
            </a:solidFill>
            <a:prstDash val="solid"/>
          </a:ln>
        </p:spPr>
      </p:sp>
      <p:sp>
        <p:nvSpPr>
          <p:cNvPr id="16" name="Text 13"/>
          <p:cNvSpPr/>
          <p:nvPr/>
        </p:nvSpPr>
        <p:spPr>
          <a:xfrm>
            <a:off x="4629150" y="2194560"/>
            <a:ext cx="4046220" cy="1508760"/>
          </a:xfrm>
          <a:prstGeom prst="rect">
            <a:avLst/>
          </a:prstGeom>
          <a:noFill/>
          <a:ln/>
        </p:spPr>
        <p:txBody>
          <a:bodyPr wrap="square" lIns="0" tIns="0" rIns="0" bIns="0" rtlCol="0" anchor="ctr"/>
          <a:lstStyle/>
          <a:p>
            <a:pPr>
              <a:lnSpc>
                <a:spcPct val="145000"/>
              </a:lnSpc>
            </a:pPr>
            <a:r>
              <a:rPr lang="en-US" sz="1162" i="1" dirty="0">
                <a:solidFill>
                  <a:srgbClr val="3B362F"/>
                </a:solidFill>
                <a:latin typeface="Calibri" pitchFamily="34" charset="0"/>
                <a:ea typeface="Calibri" pitchFamily="34" charset="-122"/>
                <a:cs typeface="Calibri" pitchFamily="34" charset="-120"/>
              </a:rPr>
              <a:t>At the bank, a loan officer is reviewing his file. Day one turns into day four, with no explanation — the officer is still working through a stack of paperwork. Rohan has no idea where he stands.</a:t>
            </a:r>
            <a:endParaRPr lang="en-US" sz="1162" dirty="0"/>
          </a:p>
        </p:txBody>
      </p:sp>
      <p:sp>
        <p:nvSpPr>
          <p:cNvPr id="17" name="Text 14"/>
          <p:cNvSpPr/>
          <p:nvPr/>
        </p:nvSpPr>
        <p:spPr>
          <a:xfrm>
            <a:off x="411480" y="4896612"/>
            <a:ext cx="5486400" cy="192024"/>
          </a:xfrm>
          <a:prstGeom prst="rect">
            <a:avLst/>
          </a:prstGeom>
          <a:noFill/>
          <a:ln/>
        </p:spPr>
        <p:txBody>
          <a:bodyPr wrap="square" rtlCol="0" anchor="ctr"/>
          <a:lstStyle/>
          <a:p>
            <a:pPr marL="0" indent="0" algn="l">
              <a:buNone/>
            </a:pPr>
            <a:r>
              <a:rPr lang="en-US" sz="712" dirty="0">
                <a:solidFill>
                  <a:srgbClr val="8A8378"/>
                </a:solidFill>
                <a:latin typeface="Calibri" pitchFamily="34" charset="0"/>
                <a:ea typeface="Calibri" pitchFamily="34" charset="-122"/>
                <a:cs typeface="Calibri" pitchFamily="34" charset="-120"/>
              </a:rPr>
              <a:t>THE OLD WAY</a:t>
            </a:r>
            <a:endParaRPr lang="en-US" sz="712" dirty="0"/>
          </a:p>
        </p:txBody>
      </p:sp>
      <p:sp>
        <p:nvSpPr>
          <p:cNvPr id="18" name="Text 15"/>
          <p:cNvSpPr/>
          <p:nvPr/>
        </p:nvSpPr>
        <p:spPr>
          <a:xfrm>
            <a:off x="6947154" y="4896612"/>
            <a:ext cx="1783080" cy="192024"/>
          </a:xfrm>
          <a:prstGeom prst="rect">
            <a:avLst/>
          </a:prstGeom>
          <a:noFill/>
          <a:ln/>
        </p:spPr>
        <p:txBody>
          <a:bodyPr wrap="square" rtlCol="0" anchor="ctr"/>
          <a:lstStyle/>
          <a:p>
            <a:pPr marL="0" indent="0" algn="r">
              <a:buNone/>
            </a:pPr>
            <a:r>
              <a:rPr lang="en-US" sz="712" dirty="0">
                <a:solidFill>
                  <a:srgbClr val="8A8378"/>
                </a:solidFill>
                <a:latin typeface="Calibri" pitchFamily="34" charset="0"/>
                <a:ea typeface="Calibri" pitchFamily="34" charset="-122"/>
                <a:cs typeface="Calibri" pitchFamily="34" charset="-120"/>
              </a:rPr>
              <a:t>Rohan's Story</a:t>
            </a:r>
            <a:endParaRPr lang="en-US" sz="712" dirty="0"/>
          </a:p>
        </p:txBody>
      </p:sp>
      <p:pic>
        <p:nvPicPr>
          <p:cNvPr id="19" name="Picture 18" descr="s4.png"/>
          <p:cNvPicPr>
            <a:picLocks noChangeAspect="1"/>
          </p:cNvPicPr>
          <p:nvPr/>
        </p:nvPicPr>
        <p:blipFill>
          <a:blip r:embed="rId2"/>
          <a:stretch>
            <a:fillRect/>
          </a:stretch>
        </p:blipFill>
        <p:spPr>
          <a:xfrm>
            <a:off x="480060" y="788670"/>
            <a:ext cx="3909060" cy="3977640"/>
          </a:xfrm>
          <a:prstGeom prst="rect">
            <a:avLst/>
          </a:prstGeom>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11480" y="342900"/>
            <a:ext cx="1577340" cy="260604"/>
          </a:xfrm>
          <a:prstGeom prst="roundRect">
            <a:avLst>
              <a:gd name="adj" fmla="val 50000"/>
            </a:avLst>
          </a:prstGeom>
          <a:solidFill>
            <a:srgbClr val="C1583B"/>
          </a:solidFill>
          <a:ln/>
        </p:spPr>
      </p:sp>
      <p:sp>
        <p:nvSpPr>
          <p:cNvPr id="3" name="Text 1"/>
          <p:cNvSpPr/>
          <p:nvPr/>
        </p:nvSpPr>
        <p:spPr>
          <a:xfrm>
            <a:off x="411480" y="342900"/>
            <a:ext cx="1577340" cy="260604"/>
          </a:xfrm>
          <a:prstGeom prst="rect">
            <a:avLst/>
          </a:prstGeom>
          <a:noFill/>
          <a:ln/>
        </p:spPr>
        <p:txBody>
          <a:bodyPr wrap="square" lIns="0" tIns="0" rIns="0" bIns="0" rtlCol="0" anchor="ctr"/>
          <a:lstStyle/>
          <a:p>
            <a:pPr marL="0" indent="0" algn="ctr">
              <a:buNone/>
            </a:pPr>
            <a:r>
              <a:rPr lang="en-US" sz="862" b="1" kern="0" spc="120" dirty="0">
                <a:solidFill>
                  <a:srgbClr val="FFFFFF"/>
                </a:solidFill>
                <a:latin typeface="Calibri" pitchFamily="34" charset="0"/>
                <a:ea typeface="Calibri" pitchFamily="34" charset="-122"/>
                <a:cs typeface="Calibri" pitchFamily="34" charset="-120"/>
              </a:rPr>
              <a:t>WHERE IT BROKE</a:t>
            </a:r>
            <a:endParaRPr lang="en-US" sz="862" dirty="0"/>
          </a:p>
        </p:txBody>
      </p:sp>
      <p:sp>
        <p:nvSpPr>
          <p:cNvPr id="4" name="Shape 2"/>
          <p:cNvSpPr/>
          <p:nvPr/>
        </p:nvSpPr>
        <p:spPr>
          <a:xfrm>
            <a:off x="7317486" y="411480"/>
            <a:ext cx="109728" cy="109728"/>
          </a:xfrm>
          <a:prstGeom prst="ellipse">
            <a:avLst/>
          </a:prstGeom>
          <a:solidFill>
            <a:srgbClr val="E4E0D6"/>
          </a:solidFill>
          <a:ln/>
        </p:spPr>
      </p:sp>
      <p:sp>
        <p:nvSpPr>
          <p:cNvPr id="5" name="Shape 3"/>
          <p:cNvSpPr/>
          <p:nvPr/>
        </p:nvSpPr>
        <p:spPr>
          <a:xfrm>
            <a:off x="7523226" y="411480"/>
            <a:ext cx="109728" cy="109728"/>
          </a:xfrm>
          <a:prstGeom prst="ellipse">
            <a:avLst/>
          </a:prstGeom>
          <a:solidFill>
            <a:srgbClr val="E4E0D6"/>
          </a:solidFill>
          <a:ln/>
        </p:spPr>
      </p:sp>
      <p:sp>
        <p:nvSpPr>
          <p:cNvPr id="6" name="Shape 4"/>
          <p:cNvSpPr/>
          <p:nvPr/>
        </p:nvSpPr>
        <p:spPr>
          <a:xfrm>
            <a:off x="7728966" y="411480"/>
            <a:ext cx="109728" cy="109728"/>
          </a:xfrm>
          <a:prstGeom prst="ellipse">
            <a:avLst/>
          </a:prstGeom>
          <a:solidFill>
            <a:srgbClr val="C1583B"/>
          </a:solidFill>
          <a:ln/>
        </p:spPr>
      </p:sp>
      <p:sp>
        <p:nvSpPr>
          <p:cNvPr id="7" name="Shape 5"/>
          <p:cNvSpPr/>
          <p:nvPr/>
        </p:nvSpPr>
        <p:spPr>
          <a:xfrm>
            <a:off x="7934706" y="411480"/>
            <a:ext cx="109728" cy="109728"/>
          </a:xfrm>
          <a:prstGeom prst="ellipse">
            <a:avLst/>
          </a:prstGeom>
          <a:solidFill>
            <a:srgbClr val="E4E0D6"/>
          </a:solidFill>
          <a:ln/>
        </p:spPr>
      </p:sp>
      <p:sp>
        <p:nvSpPr>
          <p:cNvPr id="8" name="Shape 6"/>
          <p:cNvSpPr/>
          <p:nvPr/>
        </p:nvSpPr>
        <p:spPr>
          <a:xfrm>
            <a:off x="8140446" y="411480"/>
            <a:ext cx="109728" cy="109728"/>
          </a:xfrm>
          <a:prstGeom prst="ellipse">
            <a:avLst/>
          </a:prstGeom>
          <a:solidFill>
            <a:srgbClr val="E4E0D6"/>
          </a:solidFill>
          <a:ln/>
        </p:spPr>
      </p:sp>
      <p:sp>
        <p:nvSpPr>
          <p:cNvPr id="9" name="Shape 7"/>
          <p:cNvSpPr/>
          <p:nvPr/>
        </p:nvSpPr>
        <p:spPr>
          <a:xfrm>
            <a:off x="8346186" y="411480"/>
            <a:ext cx="109728" cy="109728"/>
          </a:xfrm>
          <a:prstGeom prst="ellipse">
            <a:avLst/>
          </a:prstGeom>
          <a:solidFill>
            <a:srgbClr val="E4E0D6"/>
          </a:solidFill>
          <a:ln/>
        </p:spPr>
      </p:sp>
      <p:sp>
        <p:nvSpPr>
          <p:cNvPr id="10" name="Shape 8"/>
          <p:cNvSpPr/>
          <p:nvPr/>
        </p:nvSpPr>
        <p:spPr>
          <a:xfrm>
            <a:off x="8551926" y="411480"/>
            <a:ext cx="109728" cy="109728"/>
          </a:xfrm>
          <a:prstGeom prst="ellipse">
            <a:avLst/>
          </a:prstGeom>
          <a:solidFill>
            <a:srgbClr val="E4E0D6"/>
          </a:solidFill>
          <a:ln/>
        </p:spPr>
      </p:sp>
      <p:sp>
        <p:nvSpPr>
          <p:cNvPr id="11" name="Shape 9"/>
          <p:cNvSpPr/>
          <p:nvPr/>
        </p:nvSpPr>
        <p:spPr>
          <a:xfrm>
            <a:off x="480060" y="788670"/>
            <a:ext cx="3909060" cy="3977640"/>
          </a:xfrm>
          <a:prstGeom prst="roundRect">
            <a:avLst>
              <a:gd name="adj" fmla="val 6140"/>
            </a:avLst>
          </a:prstGeom>
          <a:solidFill>
            <a:srgbClr val="FFFFFF"/>
          </a:solidFill>
          <a:ln/>
          <a:effectLst>
            <a:outerShdw blurRad="190500" dist="76200" dir="5400000" algn="bl" rotWithShape="0">
              <a:srgbClr val="12213A">
                <a:alpha val="16000"/>
              </a:srgbClr>
            </a:outerShdw>
          </a:effectLst>
        </p:spPr>
      </p:sp>
      <p:sp>
        <p:nvSpPr>
          <p:cNvPr id="13" name="Text 10"/>
          <p:cNvSpPr/>
          <p:nvPr/>
        </p:nvSpPr>
        <p:spPr>
          <a:xfrm>
            <a:off x="4629150" y="822960"/>
            <a:ext cx="4046220" cy="240030"/>
          </a:xfrm>
          <a:prstGeom prst="rect">
            <a:avLst/>
          </a:prstGeom>
          <a:noFill/>
          <a:ln/>
        </p:spPr>
        <p:txBody>
          <a:bodyPr wrap="square" lIns="0" tIns="0" rIns="0" bIns="0" rtlCol="0" anchor="ctr"/>
          <a:lstStyle/>
          <a:p>
            <a:pPr marL="0" indent="0">
              <a:buNone/>
            </a:pPr>
            <a:r>
              <a:rPr lang="en-US" sz="900" b="1" kern="0" spc="150" dirty="0">
                <a:solidFill>
                  <a:srgbClr val="C1583B"/>
                </a:solidFill>
                <a:latin typeface="Calibri" pitchFamily="34" charset="0"/>
                <a:ea typeface="Calibri" pitchFamily="34" charset="-122"/>
                <a:cs typeface="Calibri" pitchFamily="34" charset="-120"/>
              </a:rPr>
              <a:t>THE ANSWER HE GOT</a:t>
            </a:r>
            <a:endParaRPr lang="en-US" sz="900" dirty="0"/>
          </a:p>
        </p:txBody>
      </p:sp>
      <p:sp>
        <p:nvSpPr>
          <p:cNvPr id="14" name="Text 11"/>
          <p:cNvSpPr/>
          <p:nvPr/>
        </p:nvSpPr>
        <p:spPr>
          <a:xfrm>
            <a:off x="4629150" y="1062990"/>
            <a:ext cx="4046220" cy="891540"/>
          </a:xfrm>
          <a:prstGeom prst="rect">
            <a:avLst/>
          </a:prstGeom>
          <a:noFill/>
          <a:ln/>
        </p:spPr>
        <p:txBody>
          <a:bodyPr wrap="square" lIns="0" tIns="0" rIns="0" bIns="0" rtlCol="0" anchor="ctr"/>
          <a:lstStyle/>
          <a:p>
            <a:pPr>
              <a:lnSpc>
                <a:spcPct val="112000"/>
              </a:lnSpc>
            </a:pPr>
            <a:r>
              <a:rPr lang="en-US" sz="2025" b="1" dirty="0">
                <a:solidFill>
                  <a:srgbClr val="241F1A"/>
                </a:solidFill>
                <a:latin typeface="Cambria" pitchFamily="34" charset="0"/>
                <a:ea typeface="Cambria" pitchFamily="34" charset="-122"/>
                <a:cs typeface="Cambria" pitchFamily="34" charset="-120"/>
              </a:rPr>
              <a:t>Loan Application Rejected — No Reason Given by the Bank</a:t>
            </a:r>
            <a:endParaRPr lang="en-US" sz="2025" dirty="0"/>
          </a:p>
        </p:txBody>
      </p:sp>
      <p:sp>
        <p:nvSpPr>
          <p:cNvPr id="15" name="Shape 12"/>
          <p:cNvSpPr/>
          <p:nvPr/>
        </p:nvSpPr>
        <p:spPr>
          <a:xfrm>
            <a:off x="4629150" y="2023110"/>
            <a:ext cx="822960" cy="0"/>
          </a:xfrm>
          <a:prstGeom prst="line">
            <a:avLst/>
          </a:prstGeom>
          <a:noFill/>
          <a:ln w="28575">
            <a:solidFill>
              <a:srgbClr val="C1583B"/>
            </a:solidFill>
            <a:prstDash val="solid"/>
          </a:ln>
        </p:spPr>
      </p:sp>
      <p:sp>
        <p:nvSpPr>
          <p:cNvPr id="16" name="Text 13"/>
          <p:cNvSpPr/>
          <p:nvPr/>
        </p:nvSpPr>
        <p:spPr>
          <a:xfrm>
            <a:off x="4629150" y="2194560"/>
            <a:ext cx="4046220" cy="1508760"/>
          </a:xfrm>
          <a:prstGeom prst="rect">
            <a:avLst/>
          </a:prstGeom>
          <a:noFill/>
          <a:ln/>
        </p:spPr>
        <p:txBody>
          <a:bodyPr wrap="square" lIns="0" tIns="0" rIns="0" bIns="0" rtlCol="0" anchor="ctr"/>
          <a:lstStyle/>
          <a:p>
            <a:pPr>
              <a:lnSpc>
                <a:spcPct val="145000"/>
              </a:lnSpc>
            </a:pPr>
            <a:r>
              <a:rPr lang="en-US" sz="1162" i="1" dirty="0">
                <a:solidFill>
                  <a:srgbClr val="3B362F"/>
                </a:solidFill>
                <a:latin typeface="Calibri" pitchFamily="34" charset="0"/>
                <a:ea typeface="Calibri" pitchFamily="34" charset="-122"/>
                <a:cs typeface="Calibri" pitchFamily="34" charset="-120"/>
              </a:rPr>
              <a:t>Four days of waiting ends in one word: rejected. No explanation — not what went wrong, not what to fix, not whether to try again. Just a decision he doesn't understand.</a:t>
            </a:r>
            <a:endParaRPr lang="en-US" sz="1162" dirty="0"/>
          </a:p>
        </p:txBody>
      </p:sp>
      <p:sp>
        <p:nvSpPr>
          <p:cNvPr id="17" name="Text 14"/>
          <p:cNvSpPr/>
          <p:nvPr/>
        </p:nvSpPr>
        <p:spPr>
          <a:xfrm>
            <a:off x="411480" y="4896612"/>
            <a:ext cx="5486400" cy="192024"/>
          </a:xfrm>
          <a:prstGeom prst="rect">
            <a:avLst/>
          </a:prstGeom>
          <a:noFill/>
          <a:ln/>
        </p:spPr>
        <p:txBody>
          <a:bodyPr wrap="square" rtlCol="0" anchor="ctr"/>
          <a:lstStyle/>
          <a:p>
            <a:pPr marL="0" indent="0" algn="l">
              <a:buNone/>
            </a:pPr>
            <a:r>
              <a:rPr lang="en-US" sz="712" dirty="0">
                <a:solidFill>
                  <a:srgbClr val="8A8378"/>
                </a:solidFill>
                <a:latin typeface="Calibri" pitchFamily="34" charset="0"/>
                <a:ea typeface="Calibri" pitchFamily="34" charset="-122"/>
                <a:cs typeface="Calibri" pitchFamily="34" charset="-120"/>
              </a:rPr>
              <a:t>WHERE IT BROKE</a:t>
            </a:r>
            <a:endParaRPr lang="en-US" sz="712" dirty="0"/>
          </a:p>
        </p:txBody>
      </p:sp>
      <p:sp>
        <p:nvSpPr>
          <p:cNvPr id="18" name="Text 15"/>
          <p:cNvSpPr/>
          <p:nvPr/>
        </p:nvSpPr>
        <p:spPr>
          <a:xfrm>
            <a:off x="6947154" y="4896612"/>
            <a:ext cx="1783080" cy="192024"/>
          </a:xfrm>
          <a:prstGeom prst="rect">
            <a:avLst/>
          </a:prstGeom>
          <a:noFill/>
          <a:ln/>
        </p:spPr>
        <p:txBody>
          <a:bodyPr wrap="square" rtlCol="0" anchor="ctr"/>
          <a:lstStyle/>
          <a:p>
            <a:pPr marL="0" indent="0" algn="r">
              <a:buNone/>
            </a:pPr>
            <a:r>
              <a:rPr lang="en-US" sz="712" dirty="0">
                <a:solidFill>
                  <a:srgbClr val="8A8378"/>
                </a:solidFill>
                <a:latin typeface="Calibri" pitchFamily="34" charset="0"/>
                <a:ea typeface="Calibri" pitchFamily="34" charset="-122"/>
                <a:cs typeface="Calibri" pitchFamily="34" charset="-120"/>
              </a:rPr>
              <a:t>Rohan's Story</a:t>
            </a:r>
            <a:endParaRPr lang="en-US" sz="712" dirty="0"/>
          </a:p>
        </p:txBody>
      </p:sp>
      <p:pic>
        <p:nvPicPr>
          <p:cNvPr id="19" name="Picture 18" descr="s5.png"/>
          <p:cNvPicPr>
            <a:picLocks noChangeAspect="1"/>
          </p:cNvPicPr>
          <p:nvPr/>
        </p:nvPicPr>
        <p:blipFill>
          <a:blip r:embed="rId2"/>
          <a:stretch>
            <a:fillRect/>
          </a:stretch>
        </p:blipFill>
        <p:spPr>
          <a:xfrm>
            <a:off x="480060" y="788670"/>
            <a:ext cx="3909060" cy="3977640"/>
          </a:xfrm>
          <a:prstGeom prst="rect">
            <a:avLst/>
          </a:prstGeom>
        </p:spPr>
      </p:pic>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11480" y="342900"/>
            <a:ext cx="1577340" cy="260604"/>
          </a:xfrm>
          <a:prstGeom prst="roundRect">
            <a:avLst>
              <a:gd name="adj" fmla="val 50000"/>
            </a:avLst>
          </a:prstGeom>
          <a:solidFill>
            <a:srgbClr val="C1583B"/>
          </a:solidFill>
          <a:ln/>
        </p:spPr>
      </p:sp>
      <p:sp>
        <p:nvSpPr>
          <p:cNvPr id="3" name="Text 1"/>
          <p:cNvSpPr/>
          <p:nvPr/>
        </p:nvSpPr>
        <p:spPr>
          <a:xfrm>
            <a:off x="411480" y="342900"/>
            <a:ext cx="1577340" cy="260604"/>
          </a:xfrm>
          <a:prstGeom prst="rect">
            <a:avLst/>
          </a:prstGeom>
          <a:noFill/>
          <a:ln/>
        </p:spPr>
        <p:txBody>
          <a:bodyPr wrap="square" lIns="0" tIns="0" rIns="0" bIns="0" rtlCol="0" anchor="ctr"/>
          <a:lstStyle/>
          <a:p>
            <a:pPr marL="0" indent="0" algn="ctr">
              <a:buNone/>
            </a:pPr>
            <a:r>
              <a:rPr lang="en-US" sz="862" b="1" kern="0" spc="120" dirty="0">
                <a:solidFill>
                  <a:srgbClr val="FFFFFF"/>
                </a:solidFill>
                <a:latin typeface="Calibri" pitchFamily="34" charset="0"/>
                <a:ea typeface="Calibri" pitchFamily="34" charset="-122"/>
                <a:cs typeface="Calibri" pitchFamily="34" charset="-120"/>
              </a:rPr>
              <a:t>WHERE IT BROKE</a:t>
            </a:r>
            <a:endParaRPr lang="en-US" sz="862" dirty="0"/>
          </a:p>
        </p:txBody>
      </p:sp>
      <p:sp>
        <p:nvSpPr>
          <p:cNvPr id="4" name="Shape 2"/>
          <p:cNvSpPr/>
          <p:nvPr/>
        </p:nvSpPr>
        <p:spPr>
          <a:xfrm>
            <a:off x="7317486" y="411480"/>
            <a:ext cx="109728" cy="109728"/>
          </a:xfrm>
          <a:prstGeom prst="ellipse">
            <a:avLst/>
          </a:prstGeom>
          <a:solidFill>
            <a:srgbClr val="E4E0D6"/>
          </a:solidFill>
          <a:ln/>
        </p:spPr>
      </p:sp>
      <p:sp>
        <p:nvSpPr>
          <p:cNvPr id="5" name="Shape 3"/>
          <p:cNvSpPr/>
          <p:nvPr/>
        </p:nvSpPr>
        <p:spPr>
          <a:xfrm>
            <a:off x="7523226" y="411480"/>
            <a:ext cx="109728" cy="109728"/>
          </a:xfrm>
          <a:prstGeom prst="ellipse">
            <a:avLst/>
          </a:prstGeom>
          <a:solidFill>
            <a:srgbClr val="E4E0D6"/>
          </a:solidFill>
          <a:ln/>
        </p:spPr>
      </p:sp>
      <p:sp>
        <p:nvSpPr>
          <p:cNvPr id="6" name="Shape 4"/>
          <p:cNvSpPr/>
          <p:nvPr/>
        </p:nvSpPr>
        <p:spPr>
          <a:xfrm>
            <a:off x="7728966" y="411480"/>
            <a:ext cx="109728" cy="109728"/>
          </a:xfrm>
          <a:prstGeom prst="ellipse">
            <a:avLst/>
          </a:prstGeom>
          <a:solidFill>
            <a:srgbClr val="E4E0D6"/>
          </a:solidFill>
          <a:ln/>
        </p:spPr>
      </p:sp>
      <p:sp>
        <p:nvSpPr>
          <p:cNvPr id="7" name="Shape 5"/>
          <p:cNvSpPr/>
          <p:nvPr/>
        </p:nvSpPr>
        <p:spPr>
          <a:xfrm>
            <a:off x="7934706" y="411480"/>
            <a:ext cx="109728" cy="109728"/>
          </a:xfrm>
          <a:prstGeom prst="ellipse">
            <a:avLst/>
          </a:prstGeom>
          <a:solidFill>
            <a:srgbClr val="C1583B"/>
          </a:solidFill>
          <a:ln/>
        </p:spPr>
      </p:sp>
      <p:sp>
        <p:nvSpPr>
          <p:cNvPr id="8" name="Shape 6"/>
          <p:cNvSpPr/>
          <p:nvPr/>
        </p:nvSpPr>
        <p:spPr>
          <a:xfrm>
            <a:off x="8140446" y="411480"/>
            <a:ext cx="109728" cy="109728"/>
          </a:xfrm>
          <a:prstGeom prst="ellipse">
            <a:avLst/>
          </a:prstGeom>
          <a:solidFill>
            <a:srgbClr val="E4E0D6"/>
          </a:solidFill>
          <a:ln/>
        </p:spPr>
      </p:sp>
      <p:sp>
        <p:nvSpPr>
          <p:cNvPr id="9" name="Shape 7"/>
          <p:cNvSpPr/>
          <p:nvPr/>
        </p:nvSpPr>
        <p:spPr>
          <a:xfrm>
            <a:off x="8346186" y="411480"/>
            <a:ext cx="109728" cy="109728"/>
          </a:xfrm>
          <a:prstGeom prst="ellipse">
            <a:avLst/>
          </a:prstGeom>
          <a:solidFill>
            <a:srgbClr val="E4E0D6"/>
          </a:solidFill>
          <a:ln/>
        </p:spPr>
      </p:sp>
      <p:sp>
        <p:nvSpPr>
          <p:cNvPr id="10" name="Shape 8"/>
          <p:cNvSpPr/>
          <p:nvPr/>
        </p:nvSpPr>
        <p:spPr>
          <a:xfrm>
            <a:off x="8551926" y="411480"/>
            <a:ext cx="109728" cy="109728"/>
          </a:xfrm>
          <a:prstGeom prst="ellipse">
            <a:avLst/>
          </a:prstGeom>
          <a:solidFill>
            <a:srgbClr val="E4E0D6"/>
          </a:solidFill>
          <a:ln/>
        </p:spPr>
      </p:sp>
      <p:sp>
        <p:nvSpPr>
          <p:cNvPr id="11" name="Shape 9"/>
          <p:cNvSpPr/>
          <p:nvPr/>
        </p:nvSpPr>
        <p:spPr>
          <a:xfrm>
            <a:off x="480060" y="788670"/>
            <a:ext cx="3909060" cy="3977640"/>
          </a:xfrm>
          <a:prstGeom prst="roundRect">
            <a:avLst>
              <a:gd name="adj" fmla="val 6140"/>
            </a:avLst>
          </a:prstGeom>
          <a:solidFill>
            <a:srgbClr val="FFFFFF"/>
          </a:solidFill>
          <a:ln/>
          <a:effectLst>
            <a:outerShdw blurRad="190500" dist="76200" dir="5400000" algn="bl" rotWithShape="0">
              <a:srgbClr val="12213A">
                <a:alpha val="16000"/>
              </a:srgbClr>
            </a:outerShdw>
          </a:effectLst>
        </p:spPr>
      </p:sp>
      <p:sp>
        <p:nvSpPr>
          <p:cNvPr id="13" name="Text 10"/>
          <p:cNvSpPr/>
          <p:nvPr/>
        </p:nvSpPr>
        <p:spPr>
          <a:xfrm>
            <a:off x="4629150" y="822960"/>
            <a:ext cx="4046220" cy="240030"/>
          </a:xfrm>
          <a:prstGeom prst="rect">
            <a:avLst/>
          </a:prstGeom>
          <a:noFill/>
          <a:ln/>
        </p:spPr>
        <p:txBody>
          <a:bodyPr wrap="square" lIns="0" tIns="0" rIns="0" bIns="0" rtlCol="0" anchor="ctr"/>
          <a:lstStyle/>
          <a:p>
            <a:pPr marL="0" indent="0">
              <a:buNone/>
            </a:pPr>
            <a:r>
              <a:rPr lang="en-US" sz="900" b="1" kern="0" spc="150" dirty="0">
                <a:solidFill>
                  <a:srgbClr val="C1583B"/>
                </a:solidFill>
                <a:latin typeface="Calibri" pitchFamily="34" charset="0"/>
                <a:ea typeface="Calibri" pitchFamily="34" charset="-122"/>
                <a:cs typeface="Calibri" pitchFamily="34" charset="-120"/>
              </a:rPr>
              <a:t>WHAT IT COST HIM</a:t>
            </a:r>
            <a:endParaRPr lang="en-US" sz="900" dirty="0"/>
          </a:p>
        </p:txBody>
      </p:sp>
      <p:sp>
        <p:nvSpPr>
          <p:cNvPr id="14" name="Text 11"/>
          <p:cNvSpPr/>
          <p:nvPr/>
        </p:nvSpPr>
        <p:spPr>
          <a:xfrm>
            <a:off x="4629150" y="1062990"/>
            <a:ext cx="4046220" cy="891540"/>
          </a:xfrm>
          <a:prstGeom prst="rect">
            <a:avLst/>
          </a:prstGeom>
          <a:noFill/>
          <a:ln/>
        </p:spPr>
        <p:txBody>
          <a:bodyPr wrap="square" lIns="0" tIns="0" rIns="0" bIns="0" rtlCol="0" anchor="ctr"/>
          <a:lstStyle/>
          <a:p>
            <a:pPr>
              <a:lnSpc>
                <a:spcPct val="112000"/>
              </a:lnSpc>
            </a:pPr>
            <a:r>
              <a:rPr lang="en-US" sz="2025" b="1" dirty="0">
                <a:solidFill>
                  <a:srgbClr val="241F1A"/>
                </a:solidFill>
                <a:latin typeface="Cambria" pitchFamily="34" charset="0"/>
                <a:ea typeface="Cambria" pitchFamily="34" charset="-122"/>
                <a:cs typeface="Cambria" pitchFamily="34" charset="-120"/>
              </a:rPr>
              <a:t>The Shop That Couldn't Restock</a:t>
            </a:r>
            <a:endParaRPr lang="en-US" sz="2025" dirty="0"/>
          </a:p>
        </p:txBody>
      </p:sp>
      <p:sp>
        <p:nvSpPr>
          <p:cNvPr id="15" name="Shape 12"/>
          <p:cNvSpPr/>
          <p:nvPr/>
        </p:nvSpPr>
        <p:spPr>
          <a:xfrm>
            <a:off x="4629150" y="2023110"/>
            <a:ext cx="822960" cy="0"/>
          </a:xfrm>
          <a:prstGeom prst="line">
            <a:avLst/>
          </a:prstGeom>
          <a:noFill/>
          <a:ln w="28575">
            <a:solidFill>
              <a:srgbClr val="C1583B"/>
            </a:solidFill>
            <a:prstDash val="solid"/>
          </a:ln>
        </p:spPr>
      </p:sp>
      <p:sp>
        <p:nvSpPr>
          <p:cNvPr id="16" name="Text 13"/>
          <p:cNvSpPr/>
          <p:nvPr/>
        </p:nvSpPr>
        <p:spPr>
          <a:xfrm>
            <a:off x="4629150" y="2194560"/>
            <a:ext cx="4046220" cy="1508760"/>
          </a:xfrm>
          <a:prstGeom prst="rect">
            <a:avLst/>
          </a:prstGeom>
          <a:noFill/>
          <a:ln/>
        </p:spPr>
        <p:txBody>
          <a:bodyPr wrap="square" lIns="0" tIns="0" rIns="0" bIns="0" rtlCol="0" anchor="ctr"/>
          <a:lstStyle/>
          <a:p>
            <a:pPr>
              <a:lnSpc>
                <a:spcPct val="145000"/>
              </a:lnSpc>
            </a:pPr>
            <a:r>
              <a:rPr lang="en-US" sz="1162" i="1" dirty="0">
                <a:solidFill>
                  <a:srgbClr val="3B362F"/>
                </a:solidFill>
                <a:latin typeface="Calibri" pitchFamily="34" charset="0"/>
                <a:ea typeface="Calibri" pitchFamily="34" charset="-122"/>
                <a:cs typeface="Calibri" pitchFamily="34" charset="-120"/>
              </a:rPr>
              <a:t>Festival season doesn't wait for anyone. Rohan couldn't order the products he needed because his loan never came through. A slow, unexplained 'no' didn't just cost him an application — it cost him his season.</a:t>
            </a:r>
            <a:endParaRPr lang="en-US" sz="1162" dirty="0"/>
          </a:p>
        </p:txBody>
      </p:sp>
      <p:sp>
        <p:nvSpPr>
          <p:cNvPr id="17" name="Text 14"/>
          <p:cNvSpPr/>
          <p:nvPr/>
        </p:nvSpPr>
        <p:spPr>
          <a:xfrm>
            <a:off x="411480" y="4896612"/>
            <a:ext cx="5486400" cy="192024"/>
          </a:xfrm>
          <a:prstGeom prst="rect">
            <a:avLst/>
          </a:prstGeom>
          <a:noFill/>
          <a:ln/>
        </p:spPr>
        <p:txBody>
          <a:bodyPr wrap="square" rtlCol="0" anchor="ctr"/>
          <a:lstStyle/>
          <a:p>
            <a:pPr marL="0" indent="0" algn="l">
              <a:buNone/>
            </a:pPr>
            <a:r>
              <a:rPr lang="en-US" sz="712" dirty="0">
                <a:solidFill>
                  <a:srgbClr val="8A8378"/>
                </a:solidFill>
                <a:latin typeface="Calibri" pitchFamily="34" charset="0"/>
                <a:ea typeface="Calibri" pitchFamily="34" charset="-122"/>
                <a:cs typeface="Calibri" pitchFamily="34" charset="-120"/>
              </a:rPr>
              <a:t>WHERE IT BROKE</a:t>
            </a:r>
            <a:endParaRPr lang="en-US" sz="712" dirty="0"/>
          </a:p>
        </p:txBody>
      </p:sp>
      <p:sp>
        <p:nvSpPr>
          <p:cNvPr id="18" name="Text 15"/>
          <p:cNvSpPr/>
          <p:nvPr/>
        </p:nvSpPr>
        <p:spPr>
          <a:xfrm>
            <a:off x="6947154" y="4896612"/>
            <a:ext cx="1783080" cy="192024"/>
          </a:xfrm>
          <a:prstGeom prst="rect">
            <a:avLst/>
          </a:prstGeom>
          <a:noFill/>
          <a:ln/>
        </p:spPr>
        <p:txBody>
          <a:bodyPr wrap="square" rtlCol="0" anchor="ctr"/>
          <a:lstStyle/>
          <a:p>
            <a:pPr marL="0" indent="0" algn="r">
              <a:buNone/>
            </a:pPr>
            <a:r>
              <a:rPr lang="en-US" sz="712" dirty="0">
                <a:solidFill>
                  <a:srgbClr val="8A8378"/>
                </a:solidFill>
                <a:latin typeface="Calibri" pitchFamily="34" charset="0"/>
                <a:ea typeface="Calibri" pitchFamily="34" charset="-122"/>
                <a:cs typeface="Calibri" pitchFamily="34" charset="-120"/>
              </a:rPr>
              <a:t>Rohan's Story</a:t>
            </a:r>
            <a:endParaRPr lang="en-US" sz="712" dirty="0"/>
          </a:p>
        </p:txBody>
      </p:sp>
      <p:pic>
        <p:nvPicPr>
          <p:cNvPr id="19" name="Picture 18" descr="s6.png"/>
          <p:cNvPicPr>
            <a:picLocks noChangeAspect="1"/>
          </p:cNvPicPr>
          <p:nvPr/>
        </p:nvPicPr>
        <p:blipFill>
          <a:blip r:embed="rId2"/>
          <a:stretch>
            <a:fillRect/>
          </a:stretch>
        </p:blipFill>
        <p:spPr>
          <a:xfrm>
            <a:off x="480060" y="788670"/>
            <a:ext cx="3909060" cy="3977640"/>
          </a:xfrm>
          <a:prstGeom prst="rect">
            <a:avLst/>
          </a:prstGeom>
        </p:spPr>
      </p:pic>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11480" y="342900"/>
            <a:ext cx="1577340" cy="260604"/>
          </a:xfrm>
          <a:prstGeom prst="roundRect">
            <a:avLst>
              <a:gd name="adj" fmla="val 50000"/>
            </a:avLst>
          </a:prstGeom>
          <a:solidFill>
            <a:srgbClr val="5C7A54"/>
          </a:solidFill>
          <a:ln/>
        </p:spPr>
      </p:sp>
      <p:sp>
        <p:nvSpPr>
          <p:cNvPr id="3" name="Text 1"/>
          <p:cNvSpPr/>
          <p:nvPr/>
        </p:nvSpPr>
        <p:spPr>
          <a:xfrm>
            <a:off x="411480" y="342900"/>
            <a:ext cx="1577340" cy="260604"/>
          </a:xfrm>
          <a:prstGeom prst="rect">
            <a:avLst/>
          </a:prstGeom>
          <a:noFill/>
          <a:ln/>
        </p:spPr>
        <p:txBody>
          <a:bodyPr wrap="square" lIns="0" tIns="0" rIns="0" bIns="0" rtlCol="0" anchor="ctr"/>
          <a:lstStyle/>
          <a:p>
            <a:pPr marL="0" indent="0" algn="ctr">
              <a:buNone/>
            </a:pPr>
            <a:r>
              <a:rPr lang="en-US" sz="862" b="1" kern="0" spc="120" dirty="0">
                <a:solidFill>
                  <a:srgbClr val="FFFFFF"/>
                </a:solidFill>
                <a:latin typeface="Calibri" pitchFamily="34" charset="0"/>
                <a:ea typeface="Calibri" pitchFamily="34" charset="-122"/>
                <a:cs typeface="Calibri" pitchFamily="34" charset="-120"/>
              </a:rPr>
              <a:t>THE NEW WAY</a:t>
            </a:r>
            <a:endParaRPr lang="en-US" sz="862" dirty="0"/>
          </a:p>
        </p:txBody>
      </p:sp>
      <p:sp>
        <p:nvSpPr>
          <p:cNvPr id="4" name="Shape 2"/>
          <p:cNvSpPr/>
          <p:nvPr/>
        </p:nvSpPr>
        <p:spPr>
          <a:xfrm>
            <a:off x="7317486" y="411480"/>
            <a:ext cx="109728" cy="109728"/>
          </a:xfrm>
          <a:prstGeom prst="ellipse">
            <a:avLst/>
          </a:prstGeom>
          <a:solidFill>
            <a:srgbClr val="E4E0D6"/>
          </a:solidFill>
          <a:ln/>
        </p:spPr>
      </p:sp>
      <p:sp>
        <p:nvSpPr>
          <p:cNvPr id="5" name="Shape 3"/>
          <p:cNvSpPr/>
          <p:nvPr/>
        </p:nvSpPr>
        <p:spPr>
          <a:xfrm>
            <a:off x="7523226" y="411480"/>
            <a:ext cx="109728" cy="109728"/>
          </a:xfrm>
          <a:prstGeom prst="ellipse">
            <a:avLst/>
          </a:prstGeom>
          <a:solidFill>
            <a:srgbClr val="E4E0D6"/>
          </a:solidFill>
          <a:ln/>
        </p:spPr>
      </p:sp>
      <p:sp>
        <p:nvSpPr>
          <p:cNvPr id="6" name="Shape 4"/>
          <p:cNvSpPr/>
          <p:nvPr/>
        </p:nvSpPr>
        <p:spPr>
          <a:xfrm>
            <a:off x="7728966" y="411480"/>
            <a:ext cx="109728" cy="109728"/>
          </a:xfrm>
          <a:prstGeom prst="ellipse">
            <a:avLst/>
          </a:prstGeom>
          <a:solidFill>
            <a:srgbClr val="E4E0D6"/>
          </a:solidFill>
          <a:ln/>
        </p:spPr>
      </p:sp>
      <p:sp>
        <p:nvSpPr>
          <p:cNvPr id="7" name="Shape 5"/>
          <p:cNvSpPr/>
          <p:nvPr/>
        </p:nvSpPr>
        <p:spPr>
          <a:xfrm>
            <a:off x="7934706" y="411480"/>
            <a:ext cx="109728" cy="109728"/>
          </a:xfrm>
          <a:prstGeom prst="ellipse">
            <a:avLst/>
          </a:prstGeom>
          <a:solidFill>
            <a:srgbClr val="E4E0D6"/>
          </a:solidFill>
          <a:ln/>
        </p:spPr>
      </p:sp>
      <p:sp>
        <p:nvSpPr>
          <p:cNvPr id="8" name="Shape 6"/>
          <p:cNvSpPr/>
          <p:nvPr/>
        </p:nvSpPr>
        <p:spPr>
          <a:xfrm>
            <a:off x="8140446" y="411480"/>
            <a:ext cx="109728" cy="109728"/>
          </a:xfrm>
          <a:prstGeom prst="ellipse">
            <a:avLst/>
          </a:prstGeom>
          <a:solidFill>
            <a:srgbClr val="5C7A54"/>
          </a:solidFill>
          <a:ln/>
        </p:spPr>
      </p:sp>
      <p:sp>
        <p:nvSpPr>
          <p:cNvPr id="9" name="Shape 7"/>
          <p:cNvSpPr/>
          <p:nvPr/>
        </p:nvSpPr>
        <p:spPr>
          <a:xfrm>
            <a:off x="8346186" y="411480"/>
            <a:ext cx="109728" cy="109728"/>
          </a:xfrm>
          <a:prstGeom prst="ellipse">
            <a:avLst/>
          </a:prstGeom>
          <a:solidFill>
            <a:srgbClr val="E4E0D6"/>
          </a:solidFill>
          <a:ln/>
        </p:spPr>
      </p:sp>
      <p:sp>
        <p:nvSpPr>
          <p:cNvPr id="10" name="Shape 8"/>
          <p:cNvSpPr/>
          <p:nvPr/>
        </p:nvSpPr>
        <p:spPr>
          <a:xfrm>
            <a:off x="8551926" y="411480"/>
            <a:ext cx="109728" cy="109728"/>
          </a:xfrm>
          <a:prstGeom prst="ellipse">
            <a:avLst/>
          </a:prstGeom>
          <a:solidFill>
            <a:srgbClr val="E4E0D6"/>
          </a:solidFill>
          <a:ln/>
        </p:spPr>
      </p:sp>
      <p:sp>
        <p:nvSpPr>
          <p:cNvPr id="11" name="Shape 9"/>
          <p:cNvSpPr/>
          <p:nvPr/>
        </p:nvSpPr>
        <p:spPr>
          <a:xfrm>
            <a:off x="480060" y="788670"/>
            <a:ext cx="3909060" cy="3977640"/>
          </a:xfrm>
          <a:prstGeom prst="roundRect">
            <a:avLst>
              <a:gd name="adj" fmla="val 6140"/>
            </a:avLst>
          </a:prstGeom>
          <a:solidFill>
            <a:srgbClr val="FFFFFF"/>
          </a:solidFill>
          <a:ln/>
          <a:effectLst>
            <a:outerShdw blurRad="190500" dist="76200" dir="5400000" algn="bl" rotWithShape="0">
              <a:srgbClr val="12213A">
                <a:alpha val="16000"/>
              </a:srgbClr>
            </a:outerShdw>
          </a:effectLst>
        </p:spPr>
      </p:sp>
      <p:sp>
        <p:nvSpPr>
          <p:cNvPr id="13" name="Text 10"/>
          <p:cNvSpPr/>
          <p:nvPr/>
        </p:nvSpPr>
        <p:spPr>
          <a:xfrm>
            <a:off x="4629150" y="822960"/>
            <a:ext cx="4046220" cy="240030"/>
          </a:xfrm>
          <a:prstGeom prst="rect">
            <a:avLst/>
          </a:prstGeom>
          <a:noFill/>
          <a:ln/>
        </p:spPr>
        <p:txBody>
          <a:bodyPr wrap="square" lIns="0" tIns="0" rIns="0" bIns="0" rtlCol="0" anchor="ctr"/>
          <a:lstStyle/>
          <a:p>
            <a:pPr marL="0" indent="0">
              <a:buNone/>
            </a:pPr>
            <a:r>
              <a:rPr lang="en-US" sz="900" b="1" kern="0" spc="150" dirty="0">
                <a:solidFill>
                  <a:srgbClr val="5C7A54"/>
                </a:solidFill>
                <a:latin typeface="Calibri" pitchFamily="34" charset="0"/>
                <a:ea typeface="Calibri" pitchFamily="34" charset="-122"/>
                <a:cs typeface="Calibri" pitchFamily="34" charset="-120"/>
              </a:rPr>
              <a:t>THE TURNING POINT</a:t>
            </a:r>
            <a:endParaRPr lang="en-US" sz="900" dirty="0"/>
          </a:p>
        </p:txBody>
      </p:sp>
      <p:sp>
        <p:nvSpPr>
          <p:cNvPr id="14" name="Text 11"/>
          <p:cNvSpPr/>
          <p:nvPr/>
        </p:nvSpPr>
        <p:spPr>
          <a:xfrm>
            <a:off x="4629150" y="1062990"/>
            <a:ext cx="4046220" cy="891540"/>
          </a:xfrm>
          <a:prstGeom prst="rect">
            <a:avLst/>
          </a:prstGeom>
          <a:noFill/>
          <a:ln/>
        </p:spPr>
        <p:txBody>
          <a:bodyPr wrap="square" lIns="0" tIns="0" rIns="0" bIns="0" rtlCol="0" anchor="ctr"/>
          <a:lstStyle/>
          <a:p>
            <a:pPr marL="0" indent="0">
              <a:lnSpc>
                <a:spcPct val="112000"/>
              </a:lnSpc>
              <a:buNone/>
            </a:pPr>
            <a:r>
              <a:rPr lang="en-US" sz="2025" b="1" dirty="0">
                <a:solidFill>
                  <a:srgbClr val="241F1A"/>
                </a:solidFill>
                <a:latin typeface="Cambria" pitchFamily="34" charset="0"/>
                <a:ea typeface="Cambria" pitchFamily="34" charset="-122"/>
                <a:cs typeface="Cambria" pitchFamily="34" charset="-120"/>
              </a:rPr>
              <a:t>The same documents. This time, read in minutes.</a:t>
            </a:r>
            <a:endParaRPr lang="en-US" sz="2025" dirty="0"/>
          </a:p>
        </p:txBody>
      </p:sp>
      <p:sp>
        <p:nvSpPr>
          <p:cNvPr id="15" name="Shape 12"/>
          <p:cNvSpPr/>
          <p:nvPr/>
        </p:nvSpPr>
        <p:spPr>
          <a:xfrm>
            <a:off x="4629150" y="2023110"/>
            <a:ext cx="822960" cy="0"/>
          </a:xfrm>
          <a:prstGeom prst="line">
            <a:avLst/>
          </a:prstGeom>
          <a:noFill/>
          <a:ln w="28575">
            <a:solidFill>
              <a:srgbClr val="5C7A54"/>
            </a:solidFill>
            <a:prstDash val="solid"/>
          </a:ln>
        </p:spPr>
      </p:sp>
      <p:sp>
        <p:nvSpPr>
          <p:cNvPr id="16" name="Text 13"/>
          <p:cNvSpPr/>
          <p:nvPr/>
        </p:nvSpPr>
        <p:spPr>
          <a:xfrm>
            <a:off x="4629150" y="2194560"/>
            <a:ext cx="4046220" cy="1508760"/>
          </a:xfrm>
          <a:prstGeom prst="rect">
            <a:avLst/>
          </a:prstGeom>
          <a:noFill/>
          <a:ln/>
        </p:spPr>
        <p:txBody>
          <a:bodyPr wrap="square" lIns="0" tIns="0" rIns="0" bIns="0" rtlCol="0" anchor="ctr"/>
          <a:lstStyle/>
          <a:p>
            <a:pPr>
              <a:lnSpc>
                <a:spcPct val="145000"/>
              </a:lnSpc>
            </a:pPr>
            <a:r>
              <a:rPr lang="en-US" sz="1162" i="1" dirty="0">
                <a:solidFill>
                  <a:srgbClr val="3B362F"/>
                </a:solidFill>
                <a:latin typeface="Calibri" pitchFamily="34" charset="0"/>
                <a:ea typeface="Calibri" pitchFamily="34" charset="-122"/>
                <a:cs typeface="Calibri" pitchFamily="34" charset="-120"/>
              </a:rPr>
              <a:t>This time, Rohan checks his documents on the Credit Risk Intelligence Platform before applying. It shows him why he was rejected and what to fix. He fixes the issues, then applies for the loan again with confidence.</a:t>
            </a:r>
            <a:endParaRPr lang="en-US" sz="1162" dirty="0"/>
          </a:p>
        </p:txBody>
      </p:sp>
      <p:sp>
        <p:nvSpPr>
          <p:cNvPr id="17" name="Text 14"/>
          <p:cNvSpPr/>
          <p:nvPr/>
        </p:nvSpPr>
        <p:spPr>
          <a:xfrm>
            <a:off x="411480" y="4896612"/>
            <a:ext cx="5486400" cy="192024"/>
          </a:xfrm>
          <a:prstGeom prst="rect">
            <a:avLst/>
          </a:prstGeom>
          <a:noFill/>
          <a:ln/>
        </p:spPr>
        <p:txBody>
          <a:bodyPr wrap="square" rtlCol="0" anchor="ctr"/>
          <a:lstStyle/>
          <a:p>
            <a:pPr marL="0" indent="0" algn="l">
              <a:buNone/>
            </a:pPr>
            <a:r>
              <a:rPr lang="en-US" sz="712" dirty="0">
                <a:solidFill>
                  <a:srgbClr val="8A8378"/>
                </a:solidFill>
                <a:latin typeface="Calibri" pitchFamily="34" charset="0"/>
                <a:ea typeface="Calibri" pitchFamily="34" charset="-122"/>
                <a:cs typeface="Calibri" pitchFamily="34" charset="-120"/>
              </a:rPr>
              <a:t>THE NEW WAY</a:t>
            </a:r>
            <a:endParaRPr lang="en-US" sz="712" dirty="0"/>
          </a:p>
        </p:txBody>
      </p:sp>
      <p:sp>
        <p:nvSpPr>
          <p:cNvPr id="18" name="Text 15"/>
          <p:cNvSpPr/>
          <p:nvPr/>
        </p:nvSpPr>
        <p:spPr>
          <a:xfrm>
            <a:off x="6947154" y="4896612"/>
            <a:ext cx="1783080" cy="192024"/>
          </a:xfrm>
          <a:prstGeom prst="rect">
            <a:avLst/>
          </a:prstGeom>
          <a:noFill/>
          <a:ln/>
        </p:spPr>
        <p:txBody>
          <a:bodyPr wrap="square" rtlCol="0" anchor="ctr"/>
          <a:lstStyle/>
          <a:p>
            <a:pPr marL="0" indent="0" algn="r">
              <a:buNone/>
            </a:pPr>
            <a:r>
              <a:rPr lang="en-US" sz="712" dirty="0">
                <a:solidFill>
                  <a:srgbClr val="8A8378"/>
                </a:solidFill>
                <a:latin typeface="Calibri" pitchFamily="34" charset="0"/>
                <a:ea typeface="Calibri" pitchFamily="34" charset="-122"/>
                <a:cs typeface="Calibri" pitchFamily="34" charset="-120"/>
              </a:rPr>
              <a:t>Rohan's Story</a:t>
            </a:r>
            <a:endParaRPr lang="en-US" sz="712" dirty="0"/>
          </a:p>
        </p:txBody>
      </p:sp>
      <p:pic>
        <p:nvPicPr>
          <p:cNvPr id="19" name="Picture 18" descr="s7.png"/>
          <p:cNvPicPr>
            <a:picLocks noChangeAspect="1"/>
          </p:cNvPicPr>
          <p:nvPr/>
        </p:nvPicPr>
        <p:blipFill>
          <a:blip r:embed="rId2"/>
          <a:stretch>
            <a:fillRect/>
          </a:stretch>
        </p:blipFill>
        <p:spPr>
          <a:xfrm>
            <a:off x="480060" y="788670"/>
            <a:ext cx="3909060" cy="3977640"/>
          </a:xfrm>
          <a:prstGeom prst="rect">
            <a:avLst/>
          </a:prstGeom>
        </p:spPr>
      </p:pic>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11480" y="342900"/>
            <a:ext cx="1577340" cy="260604"/>
          </a:xfrm>
          <a:prstGeom prst="roundRect">
            <a:avLst>
              <a:gd name="adj" fmla="val 50000"/>
            </a:avLst>
          </a:prstGeom>
          <a:solidFill>
            <a:srgbClr val="5C7A54"/>
          </a:solidFill>
          <a:ln/>
        </p:spPr>
      </p:sp>
      <p:sp>
        <p:nvSpPr>
          <p:cNvPr id="3" name="Text 1"/>
          <p:cNvSpPr/>
          <p:nvPr/>
        </p:nvSpPr>
        <p:spPr>
          <a:xfrm>
            <a:off x="411480" y="342900"/>
            <a:ext cx="1577340" cy="260604"/>
          </a:xfrm>
          <a:prstGeom prst="rect">
            <a:avLst/>
          </a:prstGeom>
          <a:noFill/>
          <a:ln/>
        </p:spPr>
        <p:txBody>
          <a:bodyPr wrap="square" lIns="0" tIns="0" rIns="0" bIns="0" rtlCol="0" anchor="ctr"/>
          <a:lstStyle/>
          <a:p>
            <a:pPr marL="0" indent="0" algn="ctr">
              <a:buNone/>
            </a:pPr>
            <a:r>
              <a:rPr lang="en-US" sz="862" b="1" kern="0" spc="120" dirty="0">
                <a:solidFill>
                  <a:srgbClr val="FFFFFF"/>
                </a:solidFill>
                <a:latin typeface="Calibri" pitchFamily="34" charset="0"/>
                <a:ea typeface="Calibri" pitchFamily="34" charset="-122"/>
                <a:cs typeface="Calibri" pitchFamily="34" charset="-120"/>
              </a:rPr>
              <a:t>THE NEW WAY</a:t>
            </a:r>
            <a:endParaRPr lang="en-US" sz="862" dirty="0"/>
          </a:p>
        </p:txBody>
      </p:sp>
      <p:sp>
        <p:nvSpPr>
          <p:cNvPr id="4" name="Shape 2"/>
          <p:cNvSpPr/>
          <p:nvPr/>
        </p:nvSpPr>
        <p:spPr>
          <a:xfrm>
            <a:off x="7317486" y="411480"/>
            <a:ext cx="109728" cy="109728"/>
          </a:xfrm>
          <a:prstGeom prst="ellipse">
            <a:avLst/>
          </a:prstGeom>
          <a:solidFill>
            <a:srgbClr val="E4E0D6"/>
          </a:solidFill>
          <a:ln/>
        </p:spPr>
      </p:sp>
      <p:sp>
        <p:nvSpPr>
          <p:cNvPr id="5" name="Shape 3"/>
          <p:cNvSpPr/>
          <p:nvPr/>
        </p:nvSpPr>
        <p:spPr>
          <a:xfrm>
            <a:off x="7523226" y="411480"/>
            <a:ext cx="109728" cy="109728"/>
          </a:xfrm>
          <a:prstGeom prst="ellipse">
            <a:avLst/>
          </a:prstGeom>
          <a:solidFill>
            <a:srgbClr val="E4E0D6"/>
          </a:solidFill>
          <a:ln/>
        </p:spPr>
      </p:sp>
      <p:sp>
        <p:nvSpPr>
          <p:cNvPr id="6" name="Shape 4"/>
          <p:cNvSpPr/>
          <p:nvPr/>
        </p:nvSpPr>
        <p:spPr>
          <a:xfrm>
            <a:off x="7728966" y="411480"/>
            <a:ext cx="109728" cy="109728"/>
          </a:xfrm>
          <a:prstGeom prst="ellipse">
            <a:avLst/>
          </a:prstGeom>
          <a:solidFill>
            <a:srgbClr val="E4E0D6"/>
          </a:solidFill>
          <a:ln/>
        </p:spPr>
      </p:sp>
      <p:sp>
        <p:nvSpPr>
          <p:cNvPr id="7" name="Shape 5"/>
          <p:cNvSpPr/>
          <p:nvPr/>
        </p:nvSpPr>
        <p:spPr>
          <a:xfrm>
            <a:off x="7934706" y="411480"/>
            <a:ext cx="109728" cy="109728"/>
          </a:xfrm>
          <a:prstGeom prst="ellipse">
            <a:avLst/>
          </a:prstGeom>
          <a:solidFill>
            <a:srgbClr val="E4E0D6"/>
          </a:solidFill>
          <a:ln/>
        </p:spPr>
      </p:sp>
      <p:sp>
        <p:nvSpPr>
          <p:cNvPr id="8" name="Shape 6"/>
          <p:cNvSpPr/>
          <p:nvPr/>
        </p:nvSpPr>
        <p:spPr>
          <a:xfrm>
            <a:off x="8140446" y="411480"/>
            <a:ext cx="109728" cy="109728"/>
          </a:xfrm>
          <a:prstGeom prst="ellipse">
            <a:avLst/>
          </a:prstGeom>
          <a:solidFill>
            <a:srgbClr val="E4E0D6"/>
          </a:solidFill>
          <a:ln/>
        </p:spPr>
      </p:sp>
      <p:sp>
        <p:nvSpPr>
          <p:cNvPr id="9" name="Shape 7"/>
          <p:cNvSpPr/>
          <p:nvPr/>
        </p:nvSpPr>
        <p:spPr>
          <a:xfrm>
            <a:off x="8346186" y="411480"/>
            <a:ext cx="109728" cy="109728"/>
          </a:xfrm>
          <a:prstGeom prst="ellipse">
            <a:avLst/>
          </a:prstGeom>
          <a:solidFill>
            <a:srgbClr val="E4E0D6"/>
          </a:solidFill>
          <a:ln/>
        </p:spPr>
      </p:sp>
      <p:sp>
        <p:nvSpPr>
          <p:cNvPr id="10" name="Shape 8"/>
          <p:cNvSpPr/>
          <p:nvPr/>
        </p:nvSpPr>
        <p:spPr>
          <a:xfrm>
            <a:off x="8551926" y="411480"/>
            <a:ext cx="109728" cy="109728"/>
          </a:xfrm>
          <a:prstGeom prst="ellipse">
            <a:avLst/>
          </a:prstGeom>
          <a:solidFill>
            <a:srgbClr val="5C7A54"/>
          </a:solidFill>
          <a:ln/>
        </p:spPr>
      </p:sp>
      <p:sp>
        <p:nvSpPr>
          <p:cNvPr id="11" name="Shape 9"/>
          <p:cNvSpPr/>
          <p:nvPr/>
        </p:nvSpPr>
        <p:spPr>
          <a:xfrm>
            <a:off x="480060" y="788670"/>
            <a:ext cx="3909060" cy="3977640"/>
          </a:xfrm>
          <a:prstGeom prst="roundRect">
            <a:avLst>
              <a:gd name="adj" fmla="val 6140"/>
            </a:avLst>
          </a:prstGeom>
          <a:solidFill>
            <a:srgbClr val="FFFFFF"/>
          </a:solidFill>
          <a:ln/>
          <a:effectLst>
            <a:outerShdw blurRad="190500" dist="76200" dir="5400000" algn="bl" rotWithShape="0">
              <a:srgbClr val="12213A">
                <a:alpha val="16000"/>
              </a:srgbClr>
            </a:outerShdw>
          </a:effectLst>
        </p:spPr>
      </p:sp>
      <p:sp>
        <p:nvSpPr>
          <p:cNvPr id="13" name="Text 10"/>
          <p:cNvSpPr/>
          <p:nvPr/>
        </p:nvSpPr>
        <p:spPr>
          <a:xfrm>
            <a:off x="4629150" y="822960"/>
            <a:ext cx="4046220" cy="240030"/>
          </a:xfrm>
          <a:prstGeom prst="rect">
            <a:avLst/>
          </a:prstGeom>
          <a:noFill/>
          <a:ln/>
        </p:spPr>
        <p:txBody>
          <a:bodyPr wrap="square" lIns="0" tIns="0" rIns="0" bIns="0" rtlCol="0" anchor="ctr"/>
          <a:lstStyle/>
          <a:p>
            <a:pPr marL="0" indent="0">
              <a:buNone/>
            </a:pPr>
            <a:r>
              <a:rPr lang="en-US" sz="900" b="1" kern="0" spc="150" dirty="0">
                <a:solidFill>
                  <a:srgbClr val="5C7A54"/>
                </a:solidFill>
                <a:latin typeface="Calibri" pitchFamily="34" charset="0"/>
                <a:ea typeface="Calibri" pitchFamily="34" charset="-122"/>
                <a:cs typeface="Calibri" pitchFamily="34" charset="-120"/>
              </a:rPr>
              <a:t>THE NEW NORMAL</a:t>
            </a:r>
            <a:endParaRPr lang="en-US" sz="900" dirty="0"/>
          </a:p>
        </p:txBody>
      </p:sp>
      <p:sp>
        <p:nvSpPr>
          <p:cNvPr id="14" name="Text 11"/>
          <p:cNvSpPr/>
          <p:nvPr/>
        </p:nvSpPr>
        <p:spPr>
          <a:xfrm>
            <a:off x="4629150" y="1062990"/>
            <a:ext cx="4046220" cy="891540"/>
          </a:xfrm>
          <a:prstGeom prst="rect">
            <a:avLst/>
          </a:prstGeom>
          <a:noFill/>
          <a:ln/>
        </p:spPr>
        <p:txBody>
          <a:bodyPr wrap="square" lIns="0" tIns="0" rIns="0" bIns="0" rtlCol="0" anchor="ctr"/>
          <a:lstStyle/>
          <a:p>
            <a:pPr marL="0" indent="0">
              <a:lnSpc>
                <a:spcPct val="112000"/>
              </a:lnSpc>
              <a:buNone/>
            </a:pPr>
            <a:r>
              <a:rPr lang="en-US" sz="2025" b="1" dirty="0">
                <a:solidFill>
                  <a:srgbClr val="241F1A"/>
                </a:solidFill>
                <a:latin typeface="Cambria" pitchFamily="34" charset="0"/>
                <a:ea typeface="Cambria" pitchFamily="34" charset="-122"/>
                <a:cs typeface="Cambria" pitchFamily="34" charset="-120"/>
              </a:rPr>
              <a:t>Approved — and this time, he understood why</a:t>
            </a:r>
            <a:endParaRPr lang="en-US" sz="2025" dirty="0"/>
          </a:p>
        </p:txBody>
      </p:sp>
      <p:sp>
        <p:nvSpPr>
          <p:cNvPr id="15" name="Shape 12"/>
          <p:cNvSpPr/>
          <p:nvPr/>
        </p:nvSpPr>
        <p:spPr>
          <a:xfrm>
            <a:off x="4629150" y="2023110"/>
            <a:ext cx="822960" cy="0"/>
          </a:xfrm>
          <a:prstGeom prst="line">
            <a:avLst/>
          </a:prstGeom>
          <a:noFill/>
          <a:ln w="28575">
            <a:solidFill>
              <a:srgbClr val="5C7A54"/>
            </a:solidFill>
            <a:prstDash val="solid"/>
          </a:ln>
        </p:spPr>
      </p:sp>
      <p:sp>
        <p:nvSpPr>
          <p:cNvPr id="16" name="Text 13"/>
          <p:cNvSpPr/>
          <p:nvPr/>
        </p:nvSpPr>
        <p:spPr>
          <a:xfrm>
            <a:off x="4629150" y="2194560"/>
            <a:ext cx="4046220" cy="1508760"/>
          </a:xfrm>
          <a:prstGeom prst="rect">
            <a:avLst/>
          </a:prstGeom>
          <a:noFill/>
          <a:ln/>
        </p:spPr>
        <p:txBody>
          <a:bodyPr wrap="square" lIns="0" tIns="0" rIns="0" bIns="0" rtlCol="0" anchor="ctr"/>
          <a:lstStyle/>
          <a:p>
            <a:pPr>
              <a:lnSpc>
                <a:spcPct val="145000"/>
              </a:lnSpc>
            </a:pPr>
            <a:r>
              <a:rPr lang="en-US" sz="1162" i="1" dirty="0">
                <a:solidFill>
                  <a:srgbClr val="3B362F"/>
                </a:solidFill>
                <a:latin typeface="Calibri" pitchFamily="34" charset="0"/>
                <a:ea typeface="Calibri" pitchFamily="34" charset="-122"/>
                <a:cs typeface="Calibri" pitchFamily="34" charset="-120"/>
              </a:rPr>
              <a:t>Rohan orders his inventory in time for the season. The bank keeps a loyal customer instead of losing him. Same documents were read properly, by both the bank and Rohan.</a:t>
            </a:r>
            <a:endParaRPr lang="en-US" sz="1162" dirty="0"/>
          </a:p>
        </p:txBody>
      </p:sp>
      <p:sp>
        <p:nvSpPr>
          <p:cNvPr id="17" name="Text 14"/>
          <p:cNvSpPr/>
          <p:nvPr/>
        </p:nvSpPr>
        <p:spPr>
          <a:xfrm>
            <a:off x="411480" y="4896612"/>
            <a:ext cx="5486400" cy="192024"/>
          </a:xfrm>
          <a:prstGeom prst="rect">
            <a:avLst/>
          </a:prstGeom>
          <a:noFill/>
          <a:ln/>
        </p:spPr>
        <p:txBody>
          <a:bodyPr wrap="square" rtlCol="0" anchor="ctr"/>
          <a:lstStyle/>
          <a:p>
            <a:pPr marL="0" indent="0" algn="l">
              <a:buNone/>
            </a:pPr>
            <a:r>
              <a:rPr lang="en-US" sz="712" dirty="0">
                <a:solidFill>
                  <a:srgbClr val="8A8378"/>
                </a:solidFill>
                <a:latin typeface="Calibri" pitchFamily="34" charset="0"/>
                <a:ea typeface="Calibri" pitchFamily="34" charset="-122"/>
                <a:cs typeface="Calibri" pitchFamily="34" charset="-120"/>
              </a:rPr>
              <a:t>THE NEW WAY</a:t>
            </a:r>
            <a:endParaRPr lang="en-US" sz="712" dirty="0"/>
          </a:p>
        </p:txBody>
      </p:sp>
      <p:sp>
        <p:nvSpPr>
          <p:cNvPr id="18" name="Text 15"/>
          <p:cNvSpPr/>
          <p:nvPr/>
        </p:nvSpPr>
        <p:spPr>
          <a:xfrm>
            <a:off x="6947154" y="4896612"/>
            <a:ext cx="1783080" cy="192024"/>
          </a:xfrm>
          <a:prstGeom prst="rect">
            <a:avLst/>
          </a:prstGeom>
          <a:noFill/>
          <a:ln/>
        </p:spPr>
        <p:txBody>
          <a:bodyPr wrap="square" rtlCol="0" anchor="ctr"/>
          <a:lstStyle/>
          <a:p>
            <a:pPr marL="0" indent="0" algn="r">
              <a:buNone/>
            </a:pPr>
            <a:r>
              <a:rPr lang="en-US" sz="712" dirty="0">
                <a:solidFill>
                  <a:srgbClr val="8A8378"/>
                </a:solidFill>
                <a:latin typeface="Calibri" pitchFamily="34" charset="0"/>
                <a:ea typeface="Calibri" pitchFamily="34" charset="-122"/>
                <a:cs typeface="Calibri" pitchFamily="34" charset="-120"/>
              </a:rPr>
              <a:t>Rohan's Story</a:t>
            </a:r>
            <a:endParaRPr lang="en-US" sz="712" dirty="0"/>
          </a:p>
        </p:txBody>
      </p:sp>
      <p:pic>
        <p:nvPicPr>
          <p:cNvPr id="19" name="Picture 18" descr="s9.png"/>
          <p:cNvPicPr>
            <a:picLocks noChangeAspect="1"/>
          </p:cNvPicPr>
          <p:nvPr/>
        </p:nvPicPr>
        <p:blipFill>
          <a:blip r:embed="rId2"/>
          <a:stretch>
            <a:fillRect/>
          </a:stretch>
        </p:blipFill>
        <p:spPr>
          <a:xfrm>
            <a:off x="480060" y="788670"/>
            <a:ext cx="3909060" cy="3977640"/>
          </a:xfrm>
          <a:prstGeom prst="rect">
            <a:avLst/>
          </a:prstGeom>
        </p:spPr>
      </p:pic>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13A"/>
        </a:solidFill>
        <a:effectLst/>
      </p:bgPr>
    </p:bg>
    <p:spTree>
      <p:nvGrpSpPr>
        <p:cNvPr id="1" name=""/>
        <p:cNvGrpSpPr/>
        <p:nvPr/>
      </p:nvGrpSpPr>
      <p:grpSpPr>
        <a:xfrm>
          <a:off x="0" y="0"/>
          <a:ext cx="0" cy="0"/>
          <a:chOff x="0" y="0"/>
          <a:chExt cx="0" cy="0"/>
        </a:xfrm>
      </p:grpSpPr>
      <p:sp>
        <p:nvSpPr>
          <p:cNvPr id="2" name="Shape 0"/>
          <p:cNvSpPr/>
          <p:nvPr/>
        </p:nvSpPr>
        <p:spPr>
          <a:xfrm>
            <a:off x="0" y="0"/>
            <a:ext cx="9141714" cy="5143500"/>
          </a:xfrm>
          <a:prstGeom prst="rect">
            <a:avLst/>
          </a:prstGeom>
          <a:solidFill>
            <a:srgbClr val="12213A"/>
          </a:solidFill>
          <a:ln/>
        </p:spPr>
      </p:sp>
      <p:sp>
        <p:nvSpPr>
          <p:cNvPr id="3" name="Text 1"/>
          <p:cNvSpPr/>
          <p:nvPr/>
        </p:nvSpPr>
        <p:spPr>
          <a:xfrm>
            <a:off x="0" y="1028700"/>
            <a:ext cx="9141714" cy="274320"/>
          </a:xfrm>
          <a:prstGeom prst="rect">
            <a:avLst/>
          </a:prstGeom>
          <a:noFill/>
          <a:ln/>
        </p:spPr>
        <p:txBody>
          <a:bodyPr wrap="square" lIns="0" tIns="0" rIns="0" bIns="0" rtlCol="0" anchor="ctr"/>
          <a:lstStyle/>
          <a:p>
            <a:pPr marL="0" indent="0" algn="ctr">
              <a:buNone/>
            </a:pPr>
            <a:r>
              <a:rPr lang="en-US" sz="975" b="1" kern="0" spc="250" dirty="0">
                <a:solidFill>
                  <a:srgbClr val="7C8CE8"/>
                </a:solidFill>
                <a:latin typeface="Calibri" pitchFamily="34" charset="0"/>
                <a:ea typeface="Calibri" pitchFamily="34" charset="-122"/>
                <a:cs typeface="Calibri" pitchFamily="34" charset="-120"/>
              </a:rPr>
              <a:t>IN ONE SENTENCE</a:t>
            </a:r>
            <a:endParaRPr lang="en-US" sz="975" dirty="0"/>
          </a:p>
        </p:txBody>
      </p:sp>
      <p:sp>
        <p:nvSpPr>
          <p:cNvPr id="4" name="Text 2"/>
          <p:cNvSpPr/>
          <p:nvPr/>
        </p:nvSpPr>
        <p:spPr>
          <a:xfrm>
            <a:off x="1028700" y="1440180"/>
            <a:ext cx="7084314" cy="1508760"/>
          </a:xfrm>
          <a:prstGeom prst="rect">
            <a:avLst/>
          </a:prstGeom>
          <a:noFill/>
          <a:ln/>
        </p:spPr>
        <p:txBody>
          <a:bodyPr wrap="square" lIns="0" tIns="0" rIns="0" bIns="0" rtlCol="0" anchor="ctr"/>
          <a:lstStyle/>
          <a:p>
            <a:pPr marL="0" indent="0" algn="ctr">
              <a:lnSpc>
                <a:spcPct val="130000"/>
              </a:lnSpc>
              <a:buNone/>
            </a:pPr>
            <a:r>
              <a:rPr lang="en-US" sz="2400" b="1" dirty="0">
                <a:solidFill>
                  <a:srgbClr val="FFFFFF"/>
                </a:solidFill>
                <a:latin typeface="Cambria" pitchFamily="34" charset="0"/>
                <a:ea typeface="Cambria" pitchFamily="34" charset="-122"/>
                <a:cs typeface="Cambria" pitchFamily="34" charset="-120"/>
              </a:rPr>
              <a:t>A loan decision that used to take days</a:t>
            </a:r>
            <a:endParaRPr lang="en-US" sz="2400" dirty="0"/>
          </a:p>
          <a:p>
            <a:pPr marL="0" indent="0" algn="ctr">
              <a:lnSpc>
                <a:spcPct val="130000"/>
              </a:lnSpc>
              <a:buNone/>
            </a:pPr>
            <a:r>
              <a:rPr lang="en-US" sz="2400" b="1" dirty="0">
                <a:solidFill>
                  <a:srgbClr val="FFFFFF"/>
                </a:solidFill>
                <a:latin typeface="Cambria" pitchFamily="34" charset="0"/>
                <a:ea typeface="Cambria" pitchFamily="34" charset="-122"/>
                <a:cs typeface="Cambria" pitchFamily="34" charset="-120"/>
              </a:rPr>
              <a:t>and still felt unfair now takes minutes —</a:t>
            </a:r>
            <a:endParaRPr lang="en-US" sz="2400" dirty="0"/>
          </a:p>
          <a:p>
            <a:pPr marL="0" indent="0" algn="ctr">
              <a:lnSpc>
                <a:spcPct val="130000"/>
              </a:lnSpc>
              <a:buNone/>
            </a:pPr>
            <a:r>
              <a:rPr lang="en-US" sz="2400" b="1" dirty="0">
                <a:solidFill>
                  <a:srgbClr val="FFFFFF"/>
                </a:solidFill>
                <a:latin typeface="Cambria" pitchFamily="34" charset="0"/>
                <a:ea typeface="Cambria" pitchFamily="34" charset="-122"/>
                <a:cs typeface="Cambria" pitchFamily="34" charset="-120"/>
              </a:rPr>
              <a:t>and finally explains itself.</a:t>
            </a:r>
            <a:endParaRPr lang="en-US" sz="2400" dirty="0"/>
          </a:p>
        </p:txBody>
      </p:sp>
      <p:sp>
        <p:nvSpPr>
          <p:cNvPr id="5" name="Shape 3"/>
          <p:cNvSpPr/>
          <p:nvPr/>
        </p:nvSpPr>
        <p:spPr>
          <a:xfrm>
            <a:off x="3888486" y="3086100"/>
            <a:ext cx="1371600" cy="0"/>
          </a:xfrm>
          <a:prstGeom prst="line">
            <a:avLst/>
          </a:prstGeom>
          <a:noFill/>
          <a:ln w="9525">
            <a:solidFill>
              <a:srgbClr val="2E3D5E"/>
            </a:solidFill>
            <a:prstDash val="solid"/>
          </a:ln>
        </p:spPr>
      </p:sp>
      <p:sp>
        <p:nvSpPr>
          <p:cNvPr id="6" name="Text 4"/>
          <p:cNvSpPr/>
          <p:nvPr/>
        </p:nvSpPr>
        <p:spPr>
          <a:xfrm>
            <a:off x="1714500" y="3257550"/>
            <a:ext cx="5712714" cy="685800"/>
          </a:xfrm>
          <a:prstGeom prst="rect">
            <a:avLst/>
          </a:prstGeom>
          <a:noFill/>
          <a:ln/>
        </p:spPr>
        <p:txBody>
          <a:bodyPr wrap="square" lIns="0" tIns="0" rIns="0" bIns="0" rtlCol="0" anchor="ctr"/>
          <a:lstStyle/>
          <a:p>
            <a:pPr marL="0" indent="0" algn="ctr">
              <a:lnSpc>
                <a:spcPct val="135000"/>
              </a:lnSpc>
              <a:buNone/>
            </a:pPr>
            <a:r>
              <a:rPr lang="en-US" sz="1012" i="1" dirty="0">
                <a:solidFill>
                  <a:srgbClr val="C9D2E8"/>
                </a:solidFill>
                <a:latin typeface="Calibri" pitchFamily="34" charset="0"/>
                <a:ea typeface="Calibri" pitchFamily="34" charset="-122"/>
                <a:cs typeface="Calibri" pitchFamily="34" charset="-120"/>
              </a:rPr>
              <a:t>Rohan's story is one applicant. The platform behind it — built on real documents, real risk scoring, and a mandatory human sign-off — is built to give every applicant an answer, not just a stamp.</a:t>
            </a:r>
            <a:endParaRPr lang="en-US" sz="1012" dirty="0"/>
          </a:p>
        </p:txBody>
      </p:sp>
      <p:sp>
        <p:nvSpPr>
          <p:cNvPr id="7" name="Text 5"/>
          <p:cNvSpPr/>
          <p:nvPr/>
        </p:nvSpPr>
        <p:spPr>
          <a:xfrm>
            <a:off x="0" y="4217670"/>
            <a:ext cx="9141714" cy="274320"/>
          </a:xfrm>
          <a:prstGeom prst="rect">
            <a:avLst/>
          </a:prstGeom>
          <a:noFill/>
          <a:ln/>
        </p:spPr>
        <p:txBody>
          <a:bodyPr wrap="square" lIns="0" tIns="0" rIns="0" bIns="0" rtlCol="0" anchor="ctr"/>
          <a:lstStyle/>
          <a:p>
            <a:pPr marL="0" indent="0" algn="ctr">
              <a:buNone/>
            </a:pPr>
            <a:r>
              <a:rPr lang="en-US" sz="900" dirty="0">
                <a:solidFill>
                  <a:srgbClr val="7C8CE8"/>
                </a:solidFill>
                <a:latin typeface="Calibri" pitchFamily="34" charset="0"/>
                <a:ea typeface="Calibri" pitchFamily="34" charset="-122"/>
                <a:cs typeface="Calibri" pitchFamily="34" charset="-120"/>
              </a:rPr>
              <a:t>Credit Risk Intelligence Platform · Ashu Sharma &amp; Akash Chaurasiya</a:t>
            </a:r>
            <a:endParaRPr lang="en-US" sz="900" dirty="0"/>
          </a:p>
        </p:txBody>
      </p:sp>
      <p:sp>
        <p:nvSpPr>
          <p:cNvPr id="8" name="Text 6"/>
          <p:cNvSpPr/>
          <p:nvPr/>
        </p:nvSpPr>
        <p:spPr>
          <a:xfrm>
            <a:off x="411480" y="4896612"/>
            <a:ext cx="5486400" cy="192024"/>
          </a:xfrm>
          <a:prstGeom prst="rect">
            <a:avLst/>
          </a:prstGeom>
          <a:noFill/>
          <a:ln/>
        </p:spPr>
        <p:txBody>
          <a:bodyPr wrap="square" rtlCol="0" anchor="ctr"/>
          <a:lstStyle/>
          <a:p>
            <a:pPr marL="0" indent="0" algn="l">
              <a:buNone/>
            </a:pPr>
            <a:r>
              <a:rPr lang="en-US" sz="712" dirty="0">
                <a:solidFill>
                  <a:srgbClr val="AEB0C4"/>
                </a:solidFill>
                <a:latin typeface="Calibri" pitchFamily="34" charset="0"/>
                <a:ea typeface="Calibri" pitchFamily="34" charset="-122"/>
                <a:cs typeface="Calibri" pitchFamily="34" charset="-120"/>
              </a:rPr>
              <a:t>Close</a:t>
            </a:r>
            <a:endParaRPr lang="en-US" sz="712" dirty="0"/>
          </a:p>
        </p:txBody>
      </p:sp>
      <p:sp>
        <p:nvSpPr>
          <p:cNvPr id="9" name="Text 7"/>
          <p:cNvSpPr/>
          <p:nvPr/>
        </p:nvSpPr>
        <p:spPr>
          <a:xfrm>
            <a:off x="6947154" y="4896612"/>
            <a:ext cx="1783080" cy="192024"/>
          </a:xfrm>
          <a:prstGeom prst="rect">
            <a:avLst/>
          </a:prstGeom>
          <a:noFill/>
          <a:ln/>
        </p:spPr>
        <p:txBody>
          <a:bodyPr wrap="square" rtlCol="0" anchor="ctr"/>
          <a:lstStyle/>
          <a:p>
            <a:pPr marL="0" indent="0" algn="r">
              <a:buNone/>
            </a:pPr>
            <a:r>
              <a:rPr lang="en-US" sz="712" dirty="0">
                <a:solidFill>
                  <a:srgbClr val="AEB0C4"/>
                </a:solidFill>
                <a:latin typeface="Calibri" pitchFamily="34" charset="0"/>
                <a:ea typeface="Calibri" pitchFamily="34" charset="-122"/>
                <a:cs typeface="Calibri" pitchFamily="34" charset="-120"/>
              </a:rPr>
              <a:t>Rohan's Story</a:t>
            </a:r>
            <a:endParaRPr lang="en-US" sz="712" dirty="0"/>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name="Problem and Solution">
    <p:bg>
      <p:bgPr>
        <a:solidFill>
          <a:srgbClr val="0F1B2D"/>
        </a:solidFill>
        <a:effectLst/>
      </p:bgPr>
    </p:bg>
    <p:spTree>
      <p:nvGrpSpPr>
        <p:cNvPr id="1" name=""/>
        <p:cNvGrpSpPr/>
        <p:nvPr/>
      </p:nvGrpSpPr>
      <p:grpSpPr>
        <a:xfrm>
          <a:off x="0" y="0"/>
          <a:ext cx="0" cy="0"/>
          <a:chOff x="0" y="0"/>
          <a:chExt cx="0" cy="0"/>
        </a:xfrm>
      </p:grpSpPr>
      <p:sp>
        <p:nvSpPr>
          <p:cNvPr id="101" name="Badge"/>
          <p:cNvSpPr/>
          <p:nvPr/>
        </p:nvSpPr>
        <p:spPr>
          <a:xfrm>
            <a:off x="457200" y="274320"/>
            <a:ext cx="1700000" cy="256032"/>
          </a:xfrm>
          <a:prstGeom prst="roundRect">
            <a:avLst>
              <a:gd name="adj" fmla="val 50000"/>
            </a:avLst>
          </a:prstGeom>
          <a:solidFill>
            <a:srgbClr val="2563EB">
              <a:alpha val="25000"/>
            </a:srgbClr>
          </a:solidFill>
          <a:ln/>
        </p:spPr>
      </p:sp>
      <p:sp>
        <p:nvSpPr>
          <p:cNvPr id="102" name="BadgeText"/>
          <p:cNvSpPr/>
          <p:nvPr/>
        </p:nvSpPr>
        <p:spPr>
          <a:xfrm>
            <a:off x="457200" y="274320"/>
            <a:ext cx="1700000" cy="256032"/>
          </a:xfrm>
          <a:prstGeom prst="rect">
            <a:avLst/>
          </a:prstGeom>
          <a:noFill/>
          <a:ln/>
        </p:spPr>
        <p:txBody>
          <a:bodyPr wrap="square" lIns="0" tIns="0" rIns="0" bIns="0" rtlCol="0" anchor="ctr"/>
          <a:lstStyle/>
          <a:p>
            <a:pPr marL="0" indent="0" algn="ctr">
              <a:buNone/>
            </a:pPr>
            <a:r>
              <a:rPr lang="en-US" sz="900" b="1" kern="0" spc="150" dirty="0">
                <a:solidFill>
                  <a:srgbClr val="2563EB"/>
                </a:solidFill>
              </a:rPr>
              <a:t>OVERVIEW</a:t>
            </a:r>
          </a:p>
        </p:txBody>
      </p:sp>
      <p:sp>
        <p:nvSpPr>
          <p:cNvPr id="103" name="Title"/>
          <p:cNvSpPr/>
          <p:nvPr/>
        </p:nvSpPr>
        <p:spPr>
          <a:xfrm>
            <a:off x="457200" y="590000"/>
            <a:ext cx="8229600" cy="5000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rPr>
              <a:t>Why We Built It — And What We Built</a:t>
            </a:r>
          </a:p>
        </p:txBody>
      </p:sp>
      <p:sp>
        <p:nvSpPr>
          <p:cNvPr id="104" name="Badge"/>
          <p:cNvSpPr/>
          <p:nvPr/>
        </p:nvSpPr>
        <p:spPr>
          <a:xfrm>
            <a:off x="457200" y="1230000"/>
            <a:ext cx="1450000" cy="230000"/>
          </a:xfrm>
          <a:prstGeom prst="roundRect">
            <a:avLst>
              <a:gd name="adj" fmla="val 50000"/>
            </a:avLst>
          </a:prstGeom>
          <a:solidFill>
            <a:srgbClr val="DC2626">
              <a:alpha val="25000"/>
            </a:srgbClr>
          </a:solidFill>
          <a:ln/>
        </p:spPr>
      </p:sp>
      <p:sp>
        <p:nvSpPr>
          <p:cNvPr id="105" name="BadgeText"/>
          <p:cNvSpPr/>
          <p:nvPr/>
        </p:nvSpPr>
        <p:spPr>
          <a:xfrm>
            <a:off x="457200" y="1230000"/>
            <a:ext cx="1450000" cy="230000"/>
          </a:xfrm>
          <a:prstGeom prst="rect">
            <a:avLst/>
          </a:prstGeom>
          <a:noFill/>
          <a:ln/>
        </p:spPr>
        <p:txBody>
          <a:bodyPr wrap="square" lIns="0" tIns="0" rIns="0" bIns="0" rtlCol="0" anchor="ctr"/>
          <a:lstStyle/>
          <a:p>
            <a:pPr marL="0" indent="0" algn="ctr">
              <a:buNone/>
            </a:pPr>
            <a:r>
              <a:rPr lang="en-US" sz="900" b="1" kern="0" spc="150" dirty="0">
                <a:solidFill>
                  <a:srgbClr val="DC2626"/>
                </a:solidFill>
              </a:rPr>
              <a:t>THE PROBLEM</a:t>
            </a:r>
          </a:p>
        </p:txBody>
      </p:sp>
      <p:sp>
        <p:nvSpPr>
          <p:cNvPr id="106" name="Text"/>
          <p:cNvSpPr/>
          <p:nvPr/>
        </p:nvSpPr>
        <p:spPr>
          <a:xfrm>
            <a:off x="457200" y="1560000"/>
            <a:ext cx="340000" cy="340000"/>
          </a:xfrm>
          <a:prstGeom prst="rect">
            <a:avLst/>
          </a:prstGeom>
          <a:noFill/>
          <a:ln/>
        </p:spPr>
        <p:txBody>
          <a:bodyPr wrap="square" lIns="0" tIns="0" rIns="0" bIns="0" rtlCol="0" anchor="ctr"/>
          <a:lstStyle/>
          <a:p>
            <a:pPr marL="0" indent="0" algn="l">
              <a:buNone/>
            </a:pPr>
            <a:r>
              <a:rPr lang="en-US" sz="1500" b="0" dirty="0">
                <a:solidFill>
                  <a:srgbClr val="FFFFFF"/>
                </a:solidFill>
              </a:rPr>
              <a:t>📄</a:t>
            </a:r>
          </a:p>
        </p:txBody>
      </p:sp>
      <p:sp>
        <p:nvSpPr>
          <p:cNvPr id="107" name="Text"/>
          <p:cNvSpPr/>
          <p:nvPr/>
        </p:nvSpPr>
        <p:spPr>
          <a:xfrm>
            <a:off x="857200" y="1560000"/>
            <a:ext cx="3600500" cy="180000"/>
          </a:xfrm>
          <a:prstGeom prst="rect">
            <a:avLst/>
          </a:prstGeom>
          <a:noFill/>
          <a:ln/>
        </p:spPr>
        <p:txBody>
          <a:bodyPr wrap="square" lIns="0" tIns="0" rIns="0" bIns="0" rtlCol="0" anchor="t"/>
          <a:lstStyle/>
          <a:p>
            <a:pPr marL="0" indent="0" algn="l">
              <a:buNone/>
            </a:pPr>
            <a:r>
              <a:rPr lang="en-US" sz="1050" b="1" dirty="0">
                <a:solidFill>
                  <a:srgbClr val="FFFFFF"/>
                </a:solidFill>
              </a:rPr>
              <a:t>Manual Review</a:t>
            </a:r>
          </a:p>
        </p:txBody>
      </p:sp>
      <p:sp>
        <p:nvSpPr>
          <p:cNvPr id="108" name="Text"/>
          <p:cNvSpPr/>
          <p:nvPr/>
        </p:nvSpPr>
        <p:spPr>
          <a:xfrm>
            <a:off x="857200" y="1735000"/>
            <a:ext cx="3600500" cy="300000"/>
          </a:xfrm>
          <a:prstGeom prst="rect">
            <a:avLst/>
          </a:prstGeom>
          <a:noFill/>
          <a:ln/>
        </p:spPr>
        <p:txBody>
          <a:bodyPr wrap="square" lIns="0" tIns="0" rIns="0" bIns="0" rtlCol="0" anchor="t"/>
          <a:lstStyle/>
          <a:p>
            <a:pPr marL="0" indent="0" algn="l">
              <a:lnSpc>
                <a:spcPct val="115000"/>
              </a:lnSpc>
              <a:buNone/>
            </a:pPr>
            <a:r>
              <a:rPr lang="en-US" sz="850" b="0" dirty="0">
                <a:solidFill>
                  <a:srgbClr val="94A3B8"/>
                </a:solidFill>
              </a:rPr>
              <a:t>Officers read 50-100 page PDFs by hand — 3-5 days per application.</a:t>
            </a:r>
          </a:p>
        </p:txBody>
      </p:sp>
      <p:sp>
        <p:nvSpPr>
          <p:cNvPr id="109" name="Text"/>
          <p:cNvSpPr/>
          <p:nvPr/>
        </p:nvSpPr>
        <p:spPr>
          <a:xfrm>
            <a:off x="457200" y="2030000"/>
            <a:ext cx="340000" cy="340000"/>
          </a:xfrm>
          <a:prstGeom prst="rect">
            <a:avLst/>
          </a:prstGeom>
          <a:noFill/>
          <a:ln/>
        </p:spPr>
        <p:txBody>
          <a:bodyPr wrap="square" lIns="0" tIns="0" rIns="0" bIns="0" rtlCol="0" anchor="ctr"/>
          <a:lstStyle/>
          <a:p>
            <a:pPr marL="0" indent="0" algn="l">
              <a:buNone/>
            </a:pPr>
            <a:r>
              <a:rPr lang="en-US" sz="1500" b="0" dirty="0">
                <a:solidFill>
                  <a:srgbClr val="FFFFFF"/>
                </a:solidFill>
              </a:rPr>
              <a:t>❌</a:t>
            </a:r>
          </a:p>
        </p:txBody>
      </p:sp>
      <p:sp>
        <p:nvSpPr>
          <p:cNvPr id="110" name="Text"/>
          <p:cNvSpPr/>
          <p:nvPr/>
        </p:nvSpPr>
        <p:spPr>
          <a:xfrm>
            <a:off x="857200" y="2030000"/>
            <a:ext cx="3600500" cy="180000"/>
          </a:xfrm>
          <a:prstGeom prst="rect">
            <a:avLst/>
          </a:prstGeom>
          <a:noFill/>
          <a:ln/>
        </p:spPr>
        <p:txBody>
          <a:bodyPr wrap="square" lIns="0" tIns="0" rIns="0" bIns="0" rtlCol="0" anchor="t"/>
          <a:lstStyle/>
          <a:p>
            <a:pPr marL="0" indent="0" algn="l">
              <a:buNone/>
            </a:pPr>
            <a:r>
              <a:rPr lang="en-US" sz="1050" b="1" dirty="0">
                <a:solidFill>
                  <a:srgbClr val="FFFFFF"/>
                </a:solidFill>
              </a:rPr>
              <a:t>Human Error</a:t>
            </a:r>
          </a:p>
        </p:txBody>
      </p:sp>
      <p:sp>
        <p:nvSpPr>
          <p:cNvPr id="111" name="Text"/>
          <p:cNvSpPr/>
          <p:nvPr/>
        </p:nvSpPr>
        <p:spPr>
          <a:xfrm>
            <a:off x="857200" y="2205000"/>
            <a:ext cx="3600500" cy="300000"/>
          </a:xfrm>
          <a:prstGeom prst="rect">
            <a:avLst/>
          </a:prstGeom>
          <a:noFill/>
          <a:ln/>
        </p:spPr>
        <p:txBody>
          <a:bodyPr wrap="square" lIns="0" tIns="0" rIns="0" bIns="0" rtlCol="0" anchor="t"/>
          <a:lstStyle/>
          <a:p>
            <a:pPr marL="0" indent="0" algn="l">
              <a:lnSpc>
                <a:spcPct val="115000"/>
              </a:lnSpc>
              <a:buNone/>
            </a:pPr>
            <a:r>
              <a:rPr lang="en-US" sz="850" b="0" dirty="0">
                <a:solidFill>
                  <a:srgbClr val="94A3B8"/>
                </a:solidFill>
              </a:rPr>
              <a:t>Same applicant gets different risk ratings from different officers.</a:t>
            </a:r>
          </a:p>
        </p:txBody>
      </p:sp>
      <p:sp>
        <p:nvSpPr>
          <p:cNvPr id="112" name="Text"/>
          <p:cNvSpPr/>
          <p:nvPr/>
        </p:nvSpPr>
        <p:spPr>
          <a:xfrm>
            <a:off x="457200" y="2500000"/>
            <a:ext cx="340000" cy="340000"/>
          </a:xfrm>
          <a:prstGeom prst="rect">
            <a:avLst/>
          </a:prstGeom>
          <a:noFill/>
          <a:ln/>
        </p:spPr>
        <p:txBody>
          <a:bodyPr wrap="square" lIns="0" tIns="0" rIns="0" bIns="0" rtlCol="0" anchor="ctr"/>
          <a:lstStyle/>
          <a:p>
            <a:pPr marL="0" indent="0" algn="l">
              <a:buNone/>
            </a:pPr>
            <a:r>
              <a:rPr lang="en-US" sz="1500" b="0" dirty="0">
                <a:solidFill>
                  <a:srgbClr val="FFFFFF"/>
                </a:solidFill>
              </a:rPr>
              <a:t>⏰</a:t>
            </a:r>
          </a:p>
        </p:txBody>
      </p:sp>
      <p:sp>
        <p:nvSpPr>
          <p:cNvPr id="113" name="Text"/>
          <p:cNvSpPr/>
          <p:nvPr/>
        </p:nvSpPr>
        <p:spPr>
          <a:xfrm>
            <a:off x="857200" y="2500000"/>
            <a:ext cx="3600500" cy="180000"/>
          </a:xfrm>
          <a:prstGeom prst="rect">
            <a:avLst/>
          </a:prstGeom>
          <a:noFill/>
          <a:ln/>
        </p:spPr>
        <p:txBody>
          <a:bodyPr wrap="square" lIns="0" tIns="0" rIns="0" bIns="0" rtlCol="0" anchor="t"/>
          <a:lstStyle/>
          <a:p>
            <a:pPr marL="0" indent="0" algn="l">
              <a:buNone/>
            </a:pPr>
            <a:r>
              <a:rPr lang="en-US" sz="1050" b="1" dirty="0">
                <a:solidFill>
                  <a:srgbClr val="FFFFFF"/>
                </a:solidFill>
              </a:rPr>
              <a:t>Slow Decisions</a:t>
            </a:r>
          </a:p>
        </p:txBody>
      </p:sp>
      <p:sp>
        <p:nvSpPr>
          <p:cNvPr id="114" name="Text"/>
          <p:cNvSpPr/>
          <p:nvPr/>
        </p:nvSpPr>
        <p:spPr>
          <a:xfrm>
            <a:off x="857200" y="2675000"/>
            <a:ext cx="3600500" cy="300000"/>
          </a:xfrm>
          <a:prstGeom prst="rect">
            <a:avLst/>
          </a:prstGeom>
          <a:noFill/>
          <a:ln/>
        </p:spPr>
        <p:txBody>
          <a:bodyPr wrap="square" lIns="0" tIns="0" rIns="0" bIns="0" rtlCol="0" anchor="t"/>
          <a:lstStyle/>
          <a:p>
            <a:pPr marL="0" indent="0" algn="l">
              <a:lnSpc>
                <a:spcPct val="115000"/>
              </a:lnSpc>
              <a:buNone/>
            </a:pPr>
            <a:r>
              <a:rPr lang="en-US" sz="850" b="0" dirty="0">
                <a:solidFill>
                  <a:srgbClr val="94A3B8"/>
                </a:solidFill>
              </a:rPr>
              <a:t>Customers wait weeks while documents sit in a processing queue.</a:t>
            </a:r>
          </a:p>
        </p:txBody>
      </p:sp>
      <p:sp>
        <p:nvSpPr>
          <p:cNvPr id="115" name="Text"/>
          <p:cNvSpPr/>
          <p:nvPr/>
        </p:nvSpPr>
        <p:spPr>
          <a:xfrm>
            <a:off x="457200" y="2970000"/>
            <a:ext cx="340000" cy="340000"/>
          </a:xfrm>
          <a:prstGeom prst="rect">
            <a:avLst/>
          </a:prstGeom>
          <a:noFill/>
          <a:ln/>
        </p:spPr>
        <p:txBody>
          <a:bodyPr wrap="square" lIns="0" tIns="0" rIns="0" bIns="0" rtlCol="0" anchor="ctr"/>
          <a:lstStyle/>
          <a:p>
            <a:pPr marL="0" indent="0" algn="l">
              <a:buNone/>
            </a:pPr>
            <a:r>
              <a:rPr lang="en-US" sz="1500" b="0" dirty="0">
                <a:solidFill>
                  <a:srgbClr val="FFFFFF"/>
                </a:solidFill>
              </a:rPr>
              <a:t>💰</a:t>
            </a:r>
          </a:p>
        </p:txBody>
      </p:sp>
      <p:sp>
        <p:nvSpPr>
          <p:cNvPr id="116" name="Text"/>
          <p:cNvSpPr/>
          <p:nvPr/>
        </p:nvSpPr>
        <p:spPr>
          <a:xfrm>
            <a:off x="857200" y="2970000"/>
            <a:ext cx="3600500" cy="180000"/>
          </a:xfrm>
          <a:prstGeom prst="rect">
            <a:avLst/>
          </a:prstGeom>
          <a:noFill/>
          <a:ln/>
        </p:spPr>
        <p:txBody>
          <a:bodyPr wrap="square" lIns="0" tIns="0" rIns="0" bIns="0" rtlCol="0" anchor="t"/>
          <a:lstStyle/>
          <a:p>
            <a:pPr marL="0" indent="0" algn="l">
              <a:buNone/>
            </a:pPr>
            <a:r>
              <a:rPr lang="en-US" sz="1050" b="1" dirty="0">
                <a:solidFill>
                  <a:srgbClr val="FFFFFF"/>
                </a:solidFill>
              </a:rPr>
              <a:t>Revenue Loss</a:t>
            </a:r>
          </a:p>
        </p:txBody>
      </p:sp>
      <p:sp>
        <p:nvSpPr>
          <p:cNvPr id="117" name="Text"/>
          <p:cNvSpPr/>
          <p:nvPr/>
        </p:nvSpPr>
        <p:spPr>
          <a:xfrm>
            <a:off x="857200" y="3145000"/>
            <a:ext cx="3600500" cy="300000"/>
          </a:xfrm>
          <a:prstGeom prst="rect">
            <a:avLst/>
          </a:prstGeom>
          <a:noFill/>
          <a:ln/>
        </p:spPr>
        <p:txBody>
          <a:bodyPr wrap="square" lIns="0" tIns="0" rIns="0" bIns="0" rtlCol="0" anchor="t"/>
          <a:lstStyle/>
          <a:p>
            <a:pPr marL="0" indent="0" algn="l">
              <a:lnSpc>
                <a:spcPct val="115000"/>
              </a:lnSpc>
              <a:buNone/>
            </a:pPr>
            <a:r>
              <a:rPr lang="en-US" sz="850" b="0" dirty="0">
                <a:solidFill>
                  <a:srgbClr val="94A3B8"/>
                </a:solidFill>
              </a:rPr>
              <a:t>Banks lose creditworthy customers to faster competitors.</a:t>
            </a:r>
          </a:p>
        </p:txBody>
      </p:sp>
      <p:sp>
        <p:nvSpPr>
          <p:cNvPr id="118" name="Badge"/>
          <p:cNvSpPr/>
          <p:nvPr/>
        </p:nvSpPr>
        <p:spPr>
          <a:xfrm>
            <a:off x="4686300" y="1230000"/>
            <a:ext cx="1550000" cy="230000"/>
          </a:xfrm>
          <a:prstGeom prst="roundRect">
            <a:avLst>
              <a:gd name="adj" fmla="val 50000"/>
            </a:avLst>
          </a:prstGeom>
          <a:solidFill>
            <a:srgbClr val="059669">
              <a:alpha val="25000"/>
            </a:srgbClr>
          </a:solidFill>
          <a:ln/>
        </p:spPr>
      </p:sp>
      <p:sp>
        <p:nvSpPr>
          <p:cNvPr id="119" name="BadgeText"/>
          <p:cNvSpPr/>
          <p:nvPr/>
        </p:nvSpPr>
        <p:spPr>
          <a:xfrm>
            <a:off x="4686300" y="1230000"/>
            <a:ext cx="1550000" cy="230000"/>
          </a:xfrm>
          <a:prstGeom prst="rect">
            <a:avLst/>
          </a:prstGeom>
          <a:noFill/>
          <a:ln/>
        </p:spPr>
        <p:txBody>
          <a:bodyPr wrap="square" lIns="0" tIns="0" rIns="0" bIns="0" rtlCol="0" anchor="ctr"/>
          <a:lstStyle/>
          <a:p>
            <a:pPr marL="0" indent="0" algn="ctr">
              <a:buNone/>
            </a:pPr>
            <a:r>
              <a:rPr lang="en-US" sz="900" b="1" kern="0" spc="150" dirty="0">
                <a:solidFill>
                  <a:srgbClr val="059669"/>
                </a:solidFill>
              </a:rPr>
              <a:t>OUR SOLUTION</a:t>
            </a:r>
          </a:p>
        </p:txBody>
      </p:sp>
      <p:sp>
        <p:nvSpPr>
          <p:cNvPr id="120" name="Text"/>
          <p:cNvSpPr/>
          <p:nvPr/>
        </p:nvSpPr>
        <p:spPr>
          <a:xfrm>
            <a:off x="4686300" y="1560000"/>
            <a:ext cx="4000500" cy="620000"/>
          </a:xfrm>
          <a:prstGeom prst="rect">
            <a:avLst/>
          </a:prstGeom>
          <a:noFill/>
          <a:ln/>
        </p:spPr>
        <p:txBody>
          <a:bodyPr wrap="square" lIns="0" tIns="0" rIns="0" bIns="0" rtlCol="0" anchor="t"/>
          <a:lstStyle/>
          <a:p>
            <a:pPr marL="0" indent="0" algn="l">
              <a:lnSpc>
                <a:spcPct val="125000"/>
              </a:lnSpc>
              <a:buNone/>
            </a:pPr>
            <a:r>
              <a:rPr lang="en-US" sz="950" b="0" dirty="0">
                <a:solidFill>
                  <a:srgbClr val="CBD5E1"/>
                </a:solidFill>
              </a:rPr>
              <a:t>An AI platform that extracts key financial data from uploaded PDFs, generates explainable credit risk scores, and gives AI-powered loan recommendations — for both individual customers and financial institutions.</a:t>
            </a:r>
          </a:p>
        </p:txBody>
      </p:sp>
      <p:sp>
        <p:nvSpPr>
          <p:cNvPr id="121" name="Text"/>
          <p:cNvSpPr/>
          <p:nvPr/>
        </p:nvSpPr>
        <p:spPr>
          <a:xfrm>
            <a:off x="4686300" y="2260000"/>
            <a:ext cx="30000" cy="200000"/>
          </a:xfrm>
          <a:prstGeom prst="rect">
            <a:avLst/>
          </a:prstGeom>
          <a:noFill/>
          <a:ln/>
        </p:spPr>
        <p:txBody>
          <a:bodyPr wrap="square" lIns="0" tIns="0" rIns="0" bIns="0" rtlCol="0" anchor="t"/>
          <a:lstStyle/>
          <a:p>
            <a:pPr marL="0" indent="0" algn="l">
              <a:buNone/>
            </a:pPr>
            <a:r>
              <a:rPr lang="en-US" sz="1000" b="1" dirty="0">
                <a:solidFill>
                  <a:srgbClr val="059669"/>
                </a:solidFill>
              </a:rPr>
              <a:t>•</a:t>
            </a:r>
          </a:p>
        </p:txBody>
      </p:sp>
      <p:sp>
        <p:nvSpPr>
          <p:cNvPr id="122" name="Text"/>
          <p:cNvSpPr/>
          <p:nvPr/>
        </p:nvSpPr>
        <p:spPr>
          <a:xfrm>
            <a:off x="4906300" y="2260000"/>
            <a:ext cx="3780500" cy="200000"/>
          </a:xfrm>
          <a:prstGeom prst="rect">
            <a:avLst/>
          </a:prstGeom>
          <a:noFill/>
          <a:ln/>
        </p:spPr>
        <p:txBody>
          <a:bodyPr wrap="square" lIns="0" tIns="0" rIns="0" bIns="0" rtlCol="0" anchor="t"/>
          <a:lstStyle/>
          <a:p>
            <a:pPr marL="0" indent="0" algn="l">
              <a:buNone/>
            </a:pPr>
            <a:r>
              <a:rPr lang="en-US" sz="900" b="0" dirty="0">
                <a:solidFill>
                  <a:srgbClr val="E2E8F0"/>
                </a:solidFill>
              </a:rPr>
              <a:t>Automatic PDF data extraction</a:t>
            </a:r>
          </a:p>
        </p:txBody>
      </p:sp>
      <p:sp>
        <p:nvSpPr>
          <p:cNvPr id="123" name="Text"/>
          <p:cNvSpPr/>
          <p:nvPr/>
        </p:nvSpPr>
        <p:spPr>
          <a:xfrm>
            <a:off x="4686300" y="2520000"/>
            <a:ext cx="30000" cy="200000"/>
          </a:xfrm>
          <a:prstGeom prst="rect">
            <a:avLst/>
          </a:prstGeom>
          <a:noFill/>
          <a:ln/>
        </p:spPr>
        <p:txBody>
          <a:bodyPr wrap="square" lIns="0" tIns="0" rIns="0" bIns="0" rtlCol="0" anchor="t"/>
          <a:lstStyle/>
          <a:p>
            <a:pPr marL="0" indent="0" algn="l">
              <a:buNone/>
            </a:pPr>
            <a:r>
              <a:rPr lang="en-US" sz="1000" b="1" dirty="0">
                <a:solidFill>
                  <a:srgbClr val="059669"/>
                </a:solidFill>
              </a:rPr>
              <a:t>•</a:t>
            </a:r>
          </a:p>
        </p:txBody>
      </p:sp>
      <p:sp>
        <p:nvSpPr>
          <p:cNvPr id="124" name="Text"/>
          <p:cNvSpPr/>
          <p:nvPr/>
        </p:nvSpPr>
        <p:spPr>
          <a:xfrm>
            <a:off x="4906300" y="2520000"/>
            <a:ext cx="3780500" cy="200000"/>
          </a:xfrm>
          <a:prstGeom prst="rect">
            <a:avLst/>
          </a:prstGeom>
          <a:noFill/>
          <a:ln/>
        </p:spPr>
        <p:txBody>
          <a:bodyPr wrap="square" lIns="0" tIns="0" rIns="0" bIns="0" rtlCol="0" anchor="t"/>
          <a:lstStyle/>
          <a:p>
            <a:pPr marL="0" indent="0" algn="l">
              <a:buNone/>
            </a:pPr>
            <a:r>
              <a:rPr lang="en-US" sz="900" b="0" dirty="0">
                <a:solidFill>
                  <a:srgbClr val="E2E8F0"/>
                </a:solidFill>
              </a:rPr>
              <a:t>Explainable risk scores, not black-box numbers</a:t>
            </a:r>
          </a:p>
        </p:txBody>
      </p:sp>
      <p:sp>
        <p:nvSpPr>
          <p:cNvPr id="125" name="Text"/>
          <p:cNvSpPr/>
          <p:nvPr/>
        </p:nvSpPr>
        <p:spPr>
          <a:xfrm>
            <a:off x="4686300" y="2780000"/>
            <a:ext cx="30000" cy="200000"/>
          </a:xfrm>
          <a:prstGeom prst="rect">
            <a:avLst/>
          </a:prstGeom>
          <a:noFill/>
          <a:ln/>
        </p:spPr>
        <p:txBody>
          <a:bodyPr wrap="square" lIns="0" tIns="0" rIns="0" bIns="0" rtlCol="0" anchor="t"/>
          <a:lstStyle/>
          <a:p>
            <a:pPr marL="0" indent="0" algn="l">
              <a:buNone/>
            </a:pPr>
            <a:r>
              <a:rPr lang="en-US" sz="1000" b="1" dirty="0">
                <a:solidFill>
                  <a:srgbClr val="059669"/>
                </a:solidFill>
              </a:rPr>
              <a:t>•</a:t>
            </a:r>
          </a:p>
        </p:txBody>
      </p:sp>
      <p:sp>
        <p:nvSpPr>
          <p:cNvPr id="126" name="Text"/>
          <p:cNvSpPr/>
          <p:nvPr/>
        </p:nvSpPr>
        <p:spPr>
          <a:xfrm>
            <a:off x="4906300" y="2780000"/>
            <a:ext cx="3780500" cy="200000"/>
          </a:xfrm>
          <a:prstGeom prst="rect">
            <a:avLst/>
          </a:prstGeom>
          <a:noFill/>
          <a:ln/>
        </p:spPr>
        <p:txBody>
          <a:bodyPr wrap="square" lIns="0" tIns="0" rIns="0" bIns="0" rtlCol="0" anchor="t"/>
          <a:lstStyle/>
          <a:p>
            <a:pPr marL="0" indent="0" algn="l">
              <a:buNone/>
            </a:pPr>
            <a:r>
              <a:rPr lang="en-US" sz="900" b="0" dirty="0">
                <a:solidFill>
                  <a:srgbClr val="E2E8F0"/>
                </a:solidFill>
              </a:rPr>
              <a:t>Safer loan amounts, better rates, next steps</a:t>
            </a:r>
          </a:p>
        </p:txBody>
      </p:sp>
      <p:sp>
        <p:nvSpPr>
          <p:cNvPr id="127" name="Text"/>
          <p:cNvSpPr/>
          <p:nvPr/>
        </p:nvSpPr>
        <p:spPr>
          <a:xfrm>
            <a:off x="4686300" y="3040000"/>
            <a:ext cx="30000" cy="200000"/>
          </a:xfrm>
          <a:prstGeom prst="rect">
            <a:avLst/>
          </a:prstGeom>
          <a:noFill/>
          <a:ln/>
        </p:spPr>
        <p:txBody>
          <a:bodyPr wrap="square" lIns="0" tIns="0" rIns="0" bIns="0" rtlCol="0" anchor="t"/>
          <a:lstStyle/>
          <a:p>
            <a:pPr marL="0" indent="0" algn="l">
              <a:buNone/>
            </a:pPr>
            <a:r>
              <a:rPr lang="en-US" sz="1000" b="1" dirty="0">
                <a:solidFill>
                  <a:srgbClr val="059669"/>
                </a:solidFill>
              </a:rPr>
              <a:t>•</a:t>
            </a:r>
          </a:p>
        </p:txBody>
      </p:sp>
      <p:sp>
        <p:nvSpPr>
          <p:cNvPr id="128" name="Text"/>
          <p:cNvSpPr/>
          <p:nvPr/>
        </p:nvSpPr>
        <p:spPr>
          <a:xfrm>
            <a:off x="4906300" y="3040000"/>
            <a:ext cx="3780500" cy="200000"/>
          </a:xfrm>
          <a:prstGeom prst="rect">
            <a:avLst/>
          </a:prstGeom>
          <a:noFill/>
          <a:ln/>
        </p:spPr>
        <p:txBody>
          <a:bodyPr wrap="square" lIns="0" tIns="0" rIns="0" bIns="0" rtlCol="0" anchor="t"/>
          <a:lstStyle/>
          <a:p>
            <a:pPr marL="0" indent="0" algn="l">
              <a:buNone/>
            </a:pPr>
            <a:r>
              <a:rPr lang="en-US" sz="900" b="0" dirty="0">
                <a:solidFill>
                  <a:srgbClr val="E2E8F0"/>
                </a:solidFill>
              </a:rPr>
              <a:t>Full CI/CD deploy pipeline on Azure</a:t>
            </a:r>
          </a:p>
        </p:txBody>
      </p:sp>
      <p:sp>
        <p:nvSpPr>
          <p:cNvPr id="129" name="Pill"/>
          <p:cNvSpPr/>
          <p:nvPr/>
        </p:nvSpPr>
        <p:spPr>
          <a:xfrm>
            <a:off x="4686300" y="3420000"/>
            <a:ext cx="750000" cy="250000"/>
          </a:xfrm>
          <a:prstGeom prst="roundRect">
            <a:avLst>
              <a:gd name="adj" fmla="val 50000"/>
            </a:avLst>
          </a:prstGeom>
          <a:solidFill>
            <a:srgbClr val="2563EB">
              <a:alpha val="20000"/>
            </a:srgbClr>
          </a:solidFill>
          <a:ln/>
        </p:spPr>
        <p:txBody>
          <a:bodyPr wrap="square" lIns="0" tIns="0" rIns="0" bIns="0" rtlCol="0" anchor="ctr"/>
          <a:lstStyle/>
          <a:p>
            <a:pPr marL="0" indent="0" algn="ctr">
              <a:buNone/>
            </a:pPr>
            <a:r>
              <a:rPr lang="en-US" sz="750" b="1" dirty="0">
                <a:solidFill>
                  <a:srgbClr val="FFFFFF"/>
                </a:solidFill>
              </a:rPr>
              <a:t>Streamlit</a:t>
            </a:r>
          </a:p>
        </p:txBody>
      </p:sp>
      <p:sp>
        <p:nvSpPr>
          <p:cNvPr id="130" name="Pill"/>
          <p:cNvSpPr/>
          <p:nvPr/>
        </p:nvSpPr>
        <p:spPr>
          <a:xfrm>
            <a:off x="5516300" y="3420000"/>
            <a:ext cx="750000" cy="250000"/>
          </a:xfrm>
          <a:prstGeom prst="roundRect">
            <a:avLst>
              <a:gd name="adj" fmla="val 50000"/>
            </a:avLst>
          </a:prstGeom>
          <a:solidFill>
            <a:srgbClr val="0891B2">
              <a:alpha val="20000"/>
            </a:srgbClr>
          </a:solidFill>
          <a:ln/>
        </p:spPr>
        <p:txBody>
          <a:bodyPr wrap="square" lIns="0" tIns="0" rIns="0" bIns="0" rtlCol="0" anchor="ctr"/>
          <a:lstStyle/>
          <a:p>
            <a:pPr marL="0" indent="0" algn="ctr">
              <a:buNone/>
            </a:pPr>
            <a:r>
              <a:rPr lang="en-US" sz="750" b="1" dirty="0">
                <a:solidFill>
                  <a:srgbClr val="FFFFFF"/>
                </a:solidFill>
              </a:rPr>
              <a:t>LangChain</a:t>
            </a:r>
          </a:p>
        </p:txBody>
      </p:sp>
      <p:sp>
        <p:nvSpPr>
          <p:cNvPr id="131" name="Pill"/>
          <p:cNvSpPr/>
          <p:nvPr/>
        </p:nvSpPr>
        <p:spPr>
          <a:xfrm>
            <a:off x="6346300" y="3420000"/>
            <a:ext cx="690000" cy="250000"/>
          </a:xfrm>
          <a:prstGeom prst="roundRect">
            <a:avLst>
              <a:gd name="adj" fmla="val 50000"/>
            </a:avLst>
          </a:prstGeom>
          <a:solidFill>
            <a:srgbClr val="059669">
              <a:alpha val="20000"/>
            </a:srgbClr>
          </a:solidFill>
          <a:ln/>
        </p:spPr>
        <p:txBody>
          <a:bodyPr wrap="square" lIns="0" tIns="0" rIns="0" bIns="0" rtlCol="0" anchor="ctr"/>
          <a:lstStyle/>
          <a:p>
            <a:pPr marL="0" indent="0" algn="ctr">
              <a:buNone/>
            </a:pPr>
            <a:r>
              <a:rPr lang="en-US" sz="750" b="1" dirty="0">
                <a:solidFill>
                  <a:srgbClr val="FFFFFF"/>
                </a:solidFill>
              </a:rPr>
              <a:t>Pinecone</a:t>
            </a:r>
          </a:p>
        </p:txBody>
      </p:sp>
      <p:sp>
        <p:nvSpPr>
          <p:cNvPr id="132" name="Pill"/>
          <p:cNvSpPr/>
          <p:nvPr/>
        </p:nvSpPr>
        <p:spPr>
          <a:xfrm>
            <a:off x="7116300" y="3420000"/>
            <a:ext cx="570000" cy="250000"/>
          </a:xfrm>
          <a:prstGeom prst="roundRect">
            <a:avLst>
              <a:gd name="adj" fmla="val 50000"/>
            </a:avLst>
          </a:prstGeom>
          <a:solidFill>
            <a:srgbClr val="D97706">
              <a:alpha val="20000"/>
            </a:srgbClr>
          </a:solidFill>
          <a:ln/>
        </p:spPr>
        <p:txBody>
          <a:bodyPr wrap="square" lIns="0" tIns="0" rIns="0" bIns="0" rtlCol="0" anchor="ctr"/>
          <a:lstStyle/>
          <a:p>
            <a:pPr marL="0" indent="0" algn="ctr">
              <a:buNone/>
            </a:pPr>
            <a:r>
              <a:rPr lang="en-US" sz="750" b="1" dirty="0">
                <a:solidFill>
                  <a:srgbClr val="FFFFFF"/>
                </a:solidFill>
              </a:rPr>
              <a:t>Docker</a:t>
            </a:r>
          </a:p>
        </p:txBody>
      </p:sp>
      <p:sp>
        <p:nvSpPr>
          <p:cNvPr id="133" name="Pill"/>
          <p:cNvSpPr/>
          <p:nvPr/>
        </p:nvSpPr>
        <p:spPr>
          <a:xfrm>
            <a:off x="7766300" y="3420000"/>
            <a:ext cx="510000" cy="250000"/>
          </a:xfrm>
          <a:prstGeom prst="roundRect">
            <a:avLst>
              <a:gd name="adj" fmla="val 50000"/>
            </a:avLst>
          </a:prstGeom>
          <a:solidFill>
            <a:srgbClr val="2563EB">
              <a:alpha val="20000"/>
            </a:srgbClr>
          </a:solidFill>
          <a:ln/>
        </p:spPr>
        <p:txBody>
          <a:bodyPr wrap="square" lIns="0" tIns="0" rIns="0" bIns="0" rtlCol="0" anchor="ctr"/>
          <a:lstStyle/>
          <a:p>
            <a:pPr marL="0" indent="0" algn="ctr">
              <a:buNone/>
            </a:pPr>
            <a:r>
              <a:rPr lang="en-US" sz="750" b="1" dirty="0">
                <a:solidFill>
                  <a:srgbClr val="FFFFFF"/>
                </a:solidFill>
              </a:rPr>
              <a:t>Azure</a:t>
            </a:r>
          </a:p>
        </p:txBody>
      </p:sp>
      <p:sp>
        <p:nvSpPr>
          <p:cNvPr id="134" name="Pill"/>
          <p:cNvSpPr/>
          <p:nvPr/>
        </p:nvSpPr>
        <p:spPr>
          <a:xfrm>
            <a:off x="4686300" y="3720000"/>
            <a:ext cx="750000" cy="250000"/>
          </a:xfrm>
          <a:prstGeom prst="roundRect">
            <a:avLst>
              <a:gd name="adj" fmla="val 50000"/>
            </a:avLst>
          </a:prstGeom>
          <a:solidFill>
            <a:srgbClr val="0891B2">
              <a:alpha val="20000"/>
            </a:srgbClr>
          </a:solidFill>
          <a:ln/>
        </p:spPr>
        <p:txBody>
          <a:bodyPr wrap="square" lIns="0" tIns="0" rIns="0" bIns="0" rtlCol="0" anchor="ctr"/>
          <a:lstStyle/>
          <a:p>
            <a:pPr marL="0" indent="0" algn="ctr">
              <a:buNone/>
            </a:pPr>
            <a:r>
              <a:rPr lang="en-US" sz="750" b="1" dirty="0">
                <a:solidFill>
                  <a:srgbClr val="FFFFFF"/>
                </a:solidFill>
              </a:rPr>
              <a:t>LangSmith</a:t>
            </a:r>
          </a:p>
        </p:txBody>
      </p:sp>
      <p:sp>
        <p:nvSpPr>
          <p:cNvPr id="135" name="Pill"/>
          <p:cNvSpPr/>
          <p:nvPr/>
        </p:nvSpPr>
        <p:spPr>
          <a:xfrm>
            <a:off x="5516300" y="3720000"/>
            <a:ext cx="570000" cy="250000"/>
          </a:xfrm>
          <a:prstGeom prst="roundRect">
            <a:avLst>
              <a:gd name="adj" fmla="val 50000"/>
            </a:avLst>
          </a:prstGeom>
          <a:solidFill>
            <a:srgbClr val="94A3B8">
              <a:alpha val="20000"/>
            </a:srgbClr>
          </a:solidFill>
          <a:ln/>
        </p:spPr>
        <p:txBody>
          <a:bodyPr wrap="square" lIns="0" tIns="0" rIns="0" bIns="0" rtlCol="0" anchor="ctr"/>
          <a:lstStyle/>
          <a:p>
            <a:pPr marL="0" indent="0" algn="ctr">
              <a:buNone/>
            </a:pPr>
            <a:r>
              <a:rPr lang="en-US" sz="750" b="1" dirty="0">
                <a:solidFill>
                  <a:srgbClr val="FFFFFF"/>
                </a:solidFill>
              </a:rPr>
              <a:t>OpenAI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457200" y="274320"/>
            <a:ext cx="1280160" cy="256032"/>
          </a:xfrm>
          <a:prstGeom prst="roundRect">
            <a:avLst>
              <a:gd name="adj" fmla="val 50000"/>
            </a:avLst>
          </a:prstGeom>
          <a:solidFill>
            <a:srgbClr val="2563EB">
              <a:alpha val="25000"/>
            </a:srgbClr>
          </a:solidFill>
          <a:ln/>
        </p:spPr>
      </p:sp>
      <p:sp>
        <p:nvSpPr>
          <p:cNvPr id="3" name="Text 1"/>
          <p:cNvSpPr/>
          <p:nvPr/>
        </p:nvSpPr>
        <p:spPr>
          <a:xfrm>
            <a:off x="457200" y="274320"/>
            <a:ext cx="1280160" cy="256032"/>
          </a:xfrm>
          <a:prstGeom prst="rect">
            <a:avLst/>
          </a:prstGeom>
          <a:noFill/>
          <a:ln/>
        </p:spPr>
        <p:txBody>
          <a:bodyPr wrap="square" lIns="0" tIns="0" rIns="0" bIns="0" rtlCol="0" anchor="ctr"/>
          <a:lstStyle/>
          <a:p>
            <a:pPr marL="0" indent="0" algn="ctr">
              <a:buNone/>
            </a:pPr>
            <a:r>
              <a:rPr lang="en-US" sz="900" b="1" kern="0" spc="150" dirty="0">
                <a:solidFill>
                  <a:srgbClr val="2563EB"/>
                </a:solidFill>
              </a:rPr>
              <a:t>ARCHITECTURE</a:t>
            </a:r>
            <a:endParaRPr lang="en-US" sz="900" dirty="0"/>
          </a:p>
        </p:txBody>
      </p:sp>
      <p:sp>
        <p:nvSpPr>
          <p:cNvPr id="4" name="Text 2"/>
          <p:cNvSpPr/>
          <p:nvPr/>
        </p:nvSpPr>
        <p:spPr>
          <a:xfrm>
            <a:off x="457200" y="621792"/>
            <a:ext cx="8229600" cy="5029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System Architecture</a:t>
            </a:r>
            <a:endParaRPr lang="en-US" sz="3000" dirty="0"/>
          </a:p>
        </p:txBody>
      </p:sp>
      <p:sp>
        <p:nvSpPr>
          <p:cNvPr id="5" name="Shape 3"/>
          <p:cNvSpPr/>
          <p:nvPr/>
        </p:nvSpPr>
        <p:spPr>
          <a:xfrm>
            <a:off x="365760" y="1325880"/>
            <a:ext cx="1572768" cy="2651760"/>
          </a:xfrm>
          <a:prstGeom prst="roundRect">
            <a:avLst>
              <a:gd name="adj" fmla="val 5814"/>
            </a:avLst>
          </a:prstGeom>
          <a:solidFill>
            <a:srgbClr val="162032"/>
          </a:solidFill>
          <a:ln/>
          <a:effectLst>
            <a:outerShdw blurRad="101600" dist="38100" dir="2700000" algn="bl" rotWithShape="0">
              <a:srgbClr val="000000">
                <a:alpha val="18000"/>
              </a:srgbClr>
            </a:outerShdw>
          </a:effectLst>
        </p:spPr>
      </p:sp>
      <p:sp>
        <p:nvSpPr>
          <p:cNvPr id="6" name="Shape 4"/>
          <p:cNvSpPr/>
          <p:nvPr/>
        </p:nvSpPr>
        <p:spPr>
          <a:xfrm>
            <a:off x="365760" y="1325880"/>
            <a:ext cx="1572768" cy="347472"/>
          </a:xfrm>
          <a:prstGeom prst="roundRect">
            <a:avLst>
              <a:gd name="adj" fmla="val 26316"/>
            </a:avLst>
          </a:prstGeom>
          <a:solidFill>
            <a:srgbClr val="0891B2">
              <a:alpha val="75000"/>
            </a:srgbClr>
          </a:solidFill>
          <a:ln/>
        </p:spPr>
      </p:sp>
      <p:sp>
        <p:nvSpPr>
          <p:cNvPr id="7" name="Text 5"/>
          <p:cNvSpPr/>
          <p:nvPr/>
        </p:nvSpPr>
        <p:spPr>
          <a:xfrm>
            <a:off x="365760" y="1325880"/>
            <a:ext cx="1572768" cy="347472"/>
          </a:xfrm>
          <a:prstGeom prst="rect">
            <a:avLst/>
          </a:prstGeom>
          <a:noFill/>
          <a:ln/>
        </p:spPr>
        <p:txBody>
          <a:bodyPr wrap="square" lIns="0" tIns="0" rIns="0" bIns="0" rtlCol="0" anchor="ctr"/>
          <a:lstStyle/>
          <a:p>
            <a:pPr marL="0" indent="0" algn="ctr">
              <a:buNone/>
            </a:pPr>
            <a:r>
              <a:rPr lang="en-US" sz="1000" b="1" dirty="0">
                <a:solidFill>
                  <a:srgbClr val="FFFFFF"/>
                </a:solidFill>
              </a:rPr>
              <a:t>UI Layer</a:t>
            </a:r>
            <a:endParaRPr lang="en-US" sz="1000" dirty="0"/>
          </a:p>
        </p:txBody>
      </p:sp>
      <p:sp>
        <p:nvSpPr>
          <p:cNvPr id="8" name="Text 6"/>
          <p:cNvSpPr/>
          <p:nvPr/>
        </p:nvSpPr>
        <p:spPr>
          <a:xfrm>
            <a:off x="457200" y="1783080"/>
            <a:ext cx="1389888" cy="384048"/>
          </a:xfrm>
          <a:prstGeom prst="rect">
            <a:avLst/>
          </a:prstGeom>
          <a:noFill/>
          <a:ln/>
        </p:spPr>
        <p:txBody>
          <a:bodyPr wrap="square" lIns="0" tIns="0" rIns="0" bIns="0" rtlCol="0" anchor="ctr"/>
          <a:lstStyle/>
          <a:p>
            <a:pPr marL="0" indent="0" algn="ctr">
              <a:lnSpc>
                <a:spcPct val="120000"/>
              </a:lnSpc>
              <a:buNone/>
            </a:pPr>
            <a:r>
              <a:rPr lang="en-US" sz="900" dirty="0">
                <a:solidFill>
                  <a:srgbClr val="CBD5E1"/>
                </a:solidFill>
              </a:rPr>
              <a:t>Streamlit Web App</a:t>
            </a:r>
            <a:endParaRPr lang="en-US" sz="900" dirty="0"/>
          </a:p>
        </p:txBody>
      </p:sp>
      <p:sp>
        <p:nvSpPr>
          <p:cNvPr id="9" name="Text 7"/>
          <p:cNvSpPr/>
          <p:nvPr/>
        </p:nvSpPr>
        <p:spPr>
          <a:xfrm>
            <a:off x="457200" y="2258568"/>
            <a:ext cx="1389888" cy="384048"/>
          </a:xfrm>
          <a:prstGeom prst="rect">
            <a:avLst/>
          </a:prstGeom>
          <a:noFill/>
          <a:ln/>
        </p:spPr>
        <p:txBody>
          <a:bodyPr wrap="square" lIns="0" tIns="0" rIns="0" bIns="0" rtlCol="0" anchor="ctr"/>
          <a:lstStyle/>
          <a:p>
            <a:pPr marL="0" indent="0" algn="ctr">
              <a:lnSpc>
                <a:spcPct val="120000"/>
              </a:lnSpc>
              <a:buNone/>
            </a:pPr>
            <a:r>
              <a:rPr lang="en-US" sz="900" dirty="0">
                <a:solidFill>
                  <a:srgbClr val="CBD5E1"/>
                </a:solidFill>
              </a:rPr>
              <a:t>Auth (JWT + bcrypt)</a:t>
            </a:r>
            <a:endParaRPr lang="en-US" sz="900" dirty="0"/>
          </a:p>
        </p:txBody>
      </p:sp>
      <p:sp>
        <p:nvSpPr>
          <p:cNvPr id="10" name="Text 8"/>
          <p:cNvSpPr/>
          <p:nvPr/>
        </p:nvSpPr>
        <p:spPr>
          <a:xfrm>
            <a:off x="457200" y="2734056"/>
            <a:ext cx="1389888" cy="384048"/>
          </a:xfrm>
          <a:prstGeom prst="rect">
            <a:avLst/>
          </a:prstGeom>
          <a:noFill/>
          <a:ln/>
        </p:spPr>
        <p:txBody>
          <a:bodyPr wrap="square" lIns="0" tIns="0" rIns="0" bIns="0" rtlCol="0" anchor="ctr"/>
          <a:lstStyle/>
          <a:p>
            <a:pPr marL="0" indent="0" algn="ctr">
              <a:lnSpc>
                <a:spcPct val="120000"/>
              </a:lnSpc>
              <a:buNone/>
            </a:pPr>
            <a:r>
              <a:rPr lang="en-US" sz="900" dirty="0">
                <a:solidFill>
                  <a:srgbClr val="CBD5E1"/>
                </a:solidFill>
              </a:rPr>
              <a:t>Customer + Institution Views</a:t>
            </a:r>
            <a:endParaRPr lang="en-US" sz="900" dirty="0"/>
          </a:p>
        </p:txBody>
      </p:sp>
      <p:sp>
        <p:nvSpPr>
          <p:cNvPr id="11" name="Shape 9"/>
          <p:cNvSpPr/>
          <p:nvPr/>
        </p:nvSpPr>
        <p:spPr>
          <a:xfrm>
            <a:off x="1938528" y="2651760"/>
            <a:ext cx="146304" cy="0"/>
          </a:xfrm>
          <a:prstGeom prst="line">
            <a:avLst/>
          </a:prstGeom>
          <a:noFill/>
          <a:ln w="19050">
            <a:solidFill>
              <a:srgbClr val="0891B2"/>
            </a:solidFill>
            <a:prstDash val="sysDash"/>
          </a:ln>
        </p:spPr>
      </p:sp>
      <p:sp>
        <p:nvSpPr>
          <p:cNvPr id="12" name="Shape 10"/>
          <p:cNvSpPr/>
          <p:nvPr/>
        </p:nvSpPr>
        <p:spPr>
          <a:xfrm>
            <a:off x="2084832" y="1325880"/>
            <a:ext cx="1572768" cy="2651760"/>
          </a:xfrm>
          <a:prstGeom prst="roundRect">
            <a:avLst>
              <a:gd name="adj" fmla="val 5814"/>
            </a:avLst>
          </a:prstGeom>
          <a:solidFill>
            <a:srgbClr val="162032"/>
          </a:solidFill>
          <a:ln/>
          <a:effectLst>
            <a:outerShdw blurRad="101600" dist="38100" dir="2700000" algn="bl" rotWithShape="0">
              <a:srgbClr val="000000">
                <a:alpha val="18000"/>
              </a:srgbClr>
            </a:outerShdw>
          </a:effectLst>
        </p:spPr>
      </p:sp>
      <p:sp>
        <p:nvSpPr>
          <p:cNvPr id="13" name="Shape 11"/>
          <p:cNvSpPr/>
          <p:nvPr/>
        </p:nvSpPr>
        <p:spPr>
          <a:xfrm>
            <a:off x="2084832" y="1325880"/>
            <a:ext cx="1572768" cy="347472"/>
          </a:xfrm>
          <a:prstGeom prst="roundRect">
            <a:avLst>
              <a:gd name="adj" fmla="val 26316"/>
            </a:avLst>
          </a:prstGeom>
          <a:solidFill>
            <a:srgbClr val="2563EB">
              <a:alpha val="75000"/>
            </a:srgbClr>
          </a:solidFill>
          <a:ln/>
        </p:spPr>
      </p:sp>
      <p:sp>
        <p:nvSpPr>
          <p:cNvPr id="14" name="Text 12"/>
          <p:cNvSpPr/>
          <p:nvPr/>
        </p:nvSpPr>
        <p:spPr>
          <a:xfrm>
            <a:off x="2084832" y="1325880"/>
            <a:ext cx="1572768" cy="347472"/>
          </a:xfrm>
          <a:prstGeom prst="rect">
            <a:avLst/>
          </a:prstGeom>
          <a:noFill/>
          <a:ln/>
        </p:spPr>
        <p:txBody>
          <a:bodyPr wrap="square" lIns="0" tIns="0" rIns="0" bIns="0" rtlCol="0" anchor="ctr"/>
          <a:lstStyle/>
          <a:p>
            <a:pPr marL="0" indent="0" algn="ctr">
              <a:buNone/>
            </a:pPr>
            <a:r>
              <a:rPr lang="en-US" sz="1000" b="1" dirty="0">
                <a:solidFill>
                  <a:srgbClr val="FFFFFF"/>
                </a:solidFill>
              </a:rPr>
              <a:t>Orchestrator</a:t>
            </a:r>
            <a:endParaRPr lang="en-US" sz="1000" dirty="0"/>
          </a:p>
        </p:txBody>
      </p:sp>
      <p:sp>
        <p:nvSpPr>
          <p:cNvPr id="15" name="Text 13"/>
          <p:cNvSpPr/>
          <p:nvPr/>
        </p:nvSpPr>
        <p:spPr>
          <a:xfrm>
            <a:off x="2176272" y="1783080"/>
            <a:ext cx="1389888" cy="384048"/>
          </a:xfrm>
          <a:prstGeom prst="rect">
            <a:avLst/>
          </a:prstGeom>
          <a:noFill/>
          <a:ln/>
        </p:spPr>
        <p:txBody>
          <a:bodyPr wrap="square" lIns="0" tIns="0" rIns="0" bIns="0" rtlCol="0" anchor="ctr"/>
          <a:lstStyle/>
          <a:p>
            <a:pPr marL="0" indent="0" algn="ctr">
              <a:lnSpc>
                <a:spcPct val="120000"/>
              </a:lnSpc>
              <a:buNone/>
            </a:pPr>
            <a:r>
              <a:rPr lang="en-US" sz="900" dirty="0">
                <a:solidFill>
                  <a:srgbClr val="CBD5E1"/>
                </a:solidFill>
              </a:rPr>
              <a:t>Chat Agent</a:t>
            </a:r>
            <a:endParaRPr lang="en-US" sz="900" dirty="0"/>
          </a:p>
        </p:txBody>
      </p:sp>
      <p:sp>
        <p:nvSpPr>
          <p:cNvPr id="16" name="Text 14"/>
          <p:cNvSpPr/>
          <p:nvPr/>
        </p:nvSpPr>
        <p:spPr>
          <a:xfrm>
            <a:off x="2176272" y="2258568"/>
            <a:ext cx="1389888" cy="384048"/>
          </a:xfrm>
          <a:prstGeom prst="rect">
            <a:avLst/>
          </a:prstGeom>
          <a:noFill/>
          <a:ln/>
        </p:spPr>
        <p:txBody>
          <a:bodyPr wrap="square" lIns="0" tIns="0" rIns="0" bIns="0" rtlCol="0" anchor="ctr"/>
          <a:lstStyle/>
          <a:p>
            <a:pPr marL="0" indent="0" algn="ctr">
              <a:lnSpc>
                <a:spcPct val="120000"/>
              </a:lnSpc>
              <a:buNone/>
            </a:pPr>
            <a:r>
              <a:rPr lang="en-US" sz="900" dirty="0">
                <a:solidFill>
                  <a:srgbClr val="CBD5E1"/>
                </a:solidFill>
              </a:rPr>
              <a:t>Document Agent</a:t>
            </a:r>
            <a:endParaRPr lang="en-US" sz="900" dirty="0"/>
          </a:p>
        </p:txBody>
      </p:sp>
      <p:sp>
        <p:nvSpPr>
          <p:cNvPr id="17" name="Text 15"/>
          <p:cNvSpPr/>
          <p:nvPr/>
        </p:nvSpPr>
        <p:spPr>
          <a:xfrm>
            <a:off x="2176272" y="2734056"/>
            <a:ext cx="1389888" cy="384048"/>
          </a:xfrm>
          <a:prstGeom prst="rect">
            <a:avLst/>
          </a:prstGeom>
          <a:noFill/>
          <a:ln/>
        </p:spPr>
        <p:txBody>
          <a:bodyPr wrap="square" lIns="0" tIns="0" rIns="0" bIns="0" rtlCol="0" anchor="ctr"/>
          <a:lstStyle/>
          <a:p>
            <a:pPr marL="0" indent="0" algn="ctr">
              <a:lnSpc>
                <a:spcPct val="120000"/>
              </a:lnSpc>
              <a:buNone/>
            </a:pPr>
            <a:r>
              <a:rPr lang="en-US" sz="900" dirty="0">
                <a:solidFill>
                  <a:srgbClr val="CBD5E1"/>
                </a:solidFill>
              </a:rPr>
              <a:t>Retrieval Agent</a:t>
            </a:r>
            <a:endParaRPr lang="en-US" sz="900" dirty="0"/>
          </a:p>
        </p:txBody>
      </p:sp>
      <p:sp>
        <p:nvSpPr>
          <p:cNvPr id="18" name="Shape 16"/>
          <p:cNvSpPr/>
          <p:nvPr/>
        </p:nvSpPr>
        <p:spPr>
          <a:xfrm>
            <a:off x="3657600" y="2651760"/>
            <a:ext cx="146304" cy="0"/>
          </a:xfrm>
          <a:prstGeom prst="line">
            <a:avLst/>
          </a:prstGeom>
          <a:noFill/>
          <a:ln w="19050">
            <a:solidFill>
              <a:srgbClr val="2563EB"/>
            </a:solidFill>
            <a:prstDash val="sysDash"/>
          </a:ln>
        </p:spPr>
      </p:sp>
      <p:sp>
        <p:nvSpPr>
          <p:cNvPr id="19" name="Shape 17"/>
          <p:cNvSpPr/>
          <p:nvPr/>
        </p:nvSpPr>
        <p:spPr>
          <a:xfrm>
            <a:off x="3803904" y="1325880"/>
            <a:ext cx="1572768" cy="2651760"/>
          </a:xfrm>
          <a:prstGeom prst="roundRect">
            <a:avLst>
              <a:gd name="adj" fmla="val 5814"/>
            </a:avLst>
          </a:prstGeom>
          <a:solidFill>
            <a:srgbClr val="162032"/>
          </a:solidFill>
          <a:ln/>
          <a:effectLst>
            <a:outerShdw blurRad="101600" dist="38100" dir="2700000" algn="bl" rotWithShape="0">
              <a:srgbClr val="000000">
                <a:alpha val="18000"/>
              </a:srgbClr>
            </a:outerShdw>
          </a:effectLst>
        </p:spPr>
      </p:sp>
      <p:sp>
        <p:nvSpPr>
          <p:cNvPr id="20" name="Shape 18"/>
          <p:cNvSpPr/>
          <p:nvPr/>
        </p:nvSpPr>
        <p:spPr>
          <a:xfrm>
            <a:off x="3803904" y="1325880"/>
            <a:ext cx="1572768" cy="347472"/>
          </a:xfrm>
          <a:prstGeom prst="roundRect">
            <a:avLst>
              <a:gd name="adj" fmla="val 26316"/>
            </a:avLst>
          </a:prstGeom>
          <a:solidFill>
            <a:srgbClr val="D97706">
              <a:alpha val="75000"/>
            </a:srgbClr>
          </a:solidFill>
          <a:ln/>
        </p:spPr>
      </p:sp>
      <p:sp>
        <p:nvSpPr>
          <p:cNvPr id="21" name="Text 19"/>
          <p:cNvSpPr/>
          <p:nvPr/>
        </p:nvSpPr>
        <p:spPr>
          <a:xfrm>
            <a:off x="3803904" y="1325880"/>
            <a:ext cx="1572768" cy="347472"/>
          </a:xfrm>
          <a:prstGeom prst="rect">
            <a:avLst/>
          </a:prstGeom>
          <a:noFill/>
          <a:ln/>
        </p:spPr>
        <p:txBody>
          <a:bodyPr wrap="square" lIns="0" tIns="0" rIns="0" bIns="0" rtlCol="0" anchor="ctr"/>
          <a:lstStyle/>
          <a:p>
            <a:pPr marL="0" indent="0" algn="ctr">
              <a:buNone/>
            </a:pPr>
            <a:r>
              <a:rPr lang="en-US" sz="1000" b="1" dirty="0">
                <a:solidFill>
                  <a:srgbClr val="FFFFFF"/>
                </a:solidFill>
              </a:rPr>
              <a:t>AI / LLM</a:t>
            </a:r>
            <a:endParaRPr lang="en-US" sz="1000" dirty="0"/>
          </a:p>
        </p:txBody>
      </p:sp>
      <p:sp>
        <p:nvSpPr>
          <p:cNvPr id="22" name="Text 20"/>
          <p:cNvSpPr/>
          <p:nvPr/>
        </p:nvSpPr>
        <p:spPr>
          <a:xfrm>
            <a:off x="3895344" y="1783080"/>
            <a:ext cx="1389888" cy="384048"/>
          </a:xfrm>
          <a:prstGeom prst="rect">
            <a:avLst/>
          </a:prstGeom>
          <a:noFill/>
          <a:ln/>
        </p:spPr>
        <p:txBody>
          <a:bodyPr wrap="square" lIns="0" tIns="0" rIns="0" bIns="0" rtlCol="0" anchor="ctr"/>
          <a:lstStyle/>
          <a:p>
            <a:pPr marL="0" indent="0" algn="ctr">
              <a:lnSpc>
                <a:spcPct val="120000"/>
              </a:lnSpc>
              <a:buNone/>
            </a:pPr>
            <a:r>
              <a:rPr lang="en-US" sz="900" dirty="0">
                <a:solidFill>
                  <a:srgbClr val="CBD5E1"/>
                </a:solidFill>
              </a:rPr>
              <a:t>OpenAI → Groq → Gemini</a:t>
            </a:r>
            <a:endParaRPr lang="en-US" sz="900" dirty="0"/>
          </a:p>
        </p:txBody>
      </p:sp>
      <p:sp>
        <p:nvSpPr>
          <p:cNvPr id="23" name="Text 21"/>
          <p:cNvSpPr/>
          <p:nvPr/>
        </p:nvSpPr>
        <p:spPr>
          <a:xfrm>
            <a:off x="3895344" y="2258568"/>
            <a:ext cx="1389888" cy="384048"/>
          </a:xfrm>
          <a:prstGeom prst="rect">
            <a:avLst/>
          </a:prstGeom>
          <a:noFill/>
          <a:ln/>
        </p:spPr>
        <p:txBody>
          <a:bodyPr wrap="square" lIns="0" tIns="0" rIns="0" bIns="0" rtlCol="0" anchor="ctr"/>
          <a:lstStyle/>
          <a:p>
            <a:pPr marL="0" indent="0" algn="ctr">
              <a:lnSpc>
                <a:spcPct val="120000"/>
              </a:lnSpc>
              <a:buNone/>
            </a:pPr>
            <a:r>
              <a:rPr lang="en-US" sz="900" dirty="0">
                <a:solidFill>
                  <a:srgbClr val="CBD5E1"/>
                </a:solidFill>
              </a:rPr>
              <a:t>3-tier fallback chain</a:t>
            </a:r>
            <a:endParaRPr lang="en-US" sz="900" dirty="0"/>
          </a:p>
        </p:txBody>
      </p:sp>
      <p:sp>
        <p:nvSpPr>
          <p:cNvPr id="24" name="Text 22"/>
          <p:cNvSpPr/>
          <p:nvPr/>
        </p:nvSpPr>
        <p:spPr>
          <a:xfrm>
            <a:off x="3895344" y="2734056"/>
            <a:ext cx="1389888" cy="384048"/>
          </a:xfrm>
          <a:prstGeom prst="rect">
            <a:avLst/>
          </a:prstGeom>
          <a:noFill/>
          <a:ln/>
        </p:spPr>
        <p:txBody>
          <a:bodyPr wrap="square" lIns="0" tIns="0" rIns="0" bIns="0" rtlCol="0" anchor="ctr"/>
          <a:lstStyle/>
          <a:p>
            <a:pPr marL="0" indent="0" algn="ctr">
              <a:lnSpc>
                <a:spcPct val="120000"/>
              </a:lnSpc>
              <a:buNone/>
            </a:pPr>
            <a:r>
              <a:rPr lang="en-US" sz="900" dirty="0">
                <a:solidFill>
                  <a:srgbClr val="CBD5E1"/>
                </a:solidFill>
              </a:rPr>
              <a:t>LangSmith tracing</a:t>
            </a:r>
            <a:endParaRPr lang="en-US" sz="900" dirty="0"/>
          </a:p>
        </p:txBody>
      </p:sp>
      <p:sp>
        <p:nvSpPr>
          <p:cNvPr id="25" name="Shape 23"/>
          <p:cNvSpPr/>
          <p:nvPr/>
        </p:nvSpPr>
        <p:spPr>
          <a:xfrm>
            <a:off x="5376672" y="2651760"/>
            <a:ext cx="146304" cy="0"/>
          </a:xfrm>
          <a:prstGeom prst="line">
            <a:avLst/>
          </a:prstGeom>
          <a:noFill/>
          <a:ln w="19050">
            <a:solidFill>
              <a:srgbClr val="D97706"/>
            </a:solidFill>
            <a:prstDash val="sysDash"/>
          </a:ln>
        </p:spPr>
      </p:sp>
      <p:sp>
        <p:nvSpPr>
          <p:cNvPr id="26" name="Shape 24"/>
          <p:cNvSpPr/>
          <p:nvPr/>
        </p:nvSpPr>
        <p:spPr>
          <a:xfrm>
            <a:off x="5522976" y="1325880"/>
            <a:ext cx="1572768" cy="2651760"/>
          </a:xfrm>
          <a:prstGeom prst="roundRect">
            <a:avLst>
              <a:gd name="adj" fmla="val 5814"/>
            </a:avLst>
          </a:prstGeom>
          <a:solidFill>
            <a:srgbClr val="162032"/>
          </a:solidFill>
          <a:ln/>
          <a:effectLst>
            <a:outerShdw blurRad="101600" dist="38100" dir="2700000" algn="bl" rotWithShape="0">
              <a:srgbClr val="000000">
                <a:alpha val="18000"/>
              </a:srgbClr>
            </a:outerShdw>
          </a:effectLst>
        </p:spPr>
      </p:sp>
      <p:sp>
        <p:nvSpPr>
          <p:cNvPr id="27" name="Shape 25"/>
          <p:cNvSpPr/>
          <p:nvPr/>
        </p:nvSpPr>
        <p:spPr>
          <a:xfrm>
            <a:off x="5522976" y="1325880"/>
            <a:ext cx="1572768" cy="347472"/>
          </a:xfrm>
          <a:prstGeom prst="roundRect">
            <a:avLst>
              <a:gd name="adj" fmla="val 26316"/>
            </a:avLst>
          </a:prstGeom>
          <a:solidFill>
            <a:srgbClr val="059669">
              <a:alpha val="75000"/>
            </a:srgbClr>
          </a:solidFill>
          <a:ln/>
        </p:spPr>
      </p:sp>
      <p:sp>
        <p:nvSpPr>
          <p:cNvPr id="28" name="Text 26"/>
          <p:cNvSpPr/>
          <p:nvPr/>
        </p:nvSpPr>
        <p:spPr>
          <a:xfrm>
            <a:off x="5522976" y="1325880"/>
            <a:ext cx="1572768" cy="347472"/>
          </a:xfrm>
          <a:prstGeom prst="rect">
            <a:avLst/>
          </a:prstGeom>
          <a:noFill/>
          <a:ln/>
        </p:spPr>
        <p:txBody>
          <a:bodyPr wrap="square" lIns="0" tIns="0" rIns="0" bIns="0" rtlCol="0" anchor="ctr"/>
          <a:lstStyle/>
          <a:p>
            <a:pPr marL="0" indent="0" algn="ctr">
              <a:buNone/>
            </a:pPr>
            <a:r>
              <a:rPr lang="en-US" sz="1000" b="1" dirty="0">
                <a:solidFill>
                  <a:srgbClr val="FFFFFF"/>
                </a:solidFill>
              </a:rPr>
              <a:t>Data Layer</a:t>
            </a:r>
            <a:endParaRPr lang="en-US" sz="1000" dirty="0"/>
          </a:p>
        </p:txBody>
      </p:sp>
      <p:sp>
        <p:nvSpPr>
          <p:cNvPr id="29" name="Text 27"/>
          <p:cNvSpPr/>
          <p:nvPr/>
        </p:nvSpPr>
        <p:spPr>
          <a:xfrm>
            <a:off x="5614416" y="1783080"/>
            <a:ext cx="1389888" cy="384048"/>
          </a:xfrm>
          <a:prstGeom prst="rect">
            <a:avLst/>
          </a:prstGeom>
          <a:noFill/>
          <a:ln/>
        </p:spPr>
        <p:txBody>
          <a:bodyPr wrap="square" lIns="0" tIns="0" rIns="0" bIns="0" rtlCol="0" anchor="ctr"/>
          <a:lstStyle/>
          <a:p>
            <a:pPr marL="0" indent="0" algn="ctr">
              <a:lnSpc>
                <a:spcPct val="120000"/>
              </a:lnSpc>
              <a:buNone/>
            </a:pPr>
            <a:r>
              <a:rPr lang="en-US" sz="900" dirty="0">
                <a:solidFill>
                  <a:srgbClr val="CBD5E1"/>
                </a:solidFill>
              </a:rPr>
              <a:t>Pinecone Vector DB</a:t>
            </a:r>
            <a:endParaRPr lang="en-US" sz="900" dirty="0"/>
          </a:p>
        </p:txBody>
      </p:sp>
      <p:sp>
        <p:nvSpPr>
          <p:cNvPr id="30" name="Text 28"/>
          <p:cNvSpPr/>
          <p:nvPr/>
        </p:nvSpPr>
        <p:spPr>
          <a:xfrm>
            <a:off x="5614416" y="2258568"/>
            <a:ext cx="1389888" cy="384048"/>
          </a:xfrm>
          <a:prstGeom prst="rect">
            <a:avLst/>
          </a:prstGeom>
          <a:noFill/>
          <a:ln/>
        </p:spPr>
        <p:txBody>
          <a:bodyPr wrap="square" lIns="0" tIns="0" rIns="0" bIns="0" rtlCol="0" anchor="ctr"/>
          <a:lstStyle/>
          <a:p>
            <a:pPr marL="0" indent="0" algn="ctr">
              <a:lnSpc>
                <a:spcPct val="120000"/>
              </a:lnSpc>
              <a:buNone/>
            </a:pPr>
            <a:r>
              <a:rPr lang="en-US" sz="900" dirty="0">
                <a:solidFill>
                  <a:srgbClr val="CBD5E1"/>
                </a:solidFill>
              </a:rPr>
              <a:t>BM25 Hybrid Search</a:t>
            </a:r>
            <a:endParaRPr lang="en-US" sz="900" dirty="0"/>
          </a:p>
        </p:txBody>
      </p:sp>
      <p:sp>
        <p:nvSpPr>
          <p:cNvPr id="31" name="Text 29"/>
          <p:cNvSpPr/>
          <p:nvPr/>
        </p:nvSpPr>
        <p:spPr>
          <a:xfrm>
            <a:off x="5614416" y="2734056"/>
            <a:ext cx="1389888" cy="384048"/>
          </a:xfrm>
          <a:prstGeom prst="rect">
            <a:avLst/>
          </a:prstGeom>
          <a:noFill/>
          <a:ln/>
        </p:spPr>
        <p:txBody>
          <a:bodyPr wrap="square" lIns="0" tIns="0" rIns="0" bIns="0" rtlCol="0" anchor="ctr"/>
          <a:lstStyle/>
          <a:p>
            <a:pPr marL="0" indent="0" algn="ctr">
              <a:lnSpc>
                <a:spcPct val="120000"/>
              </a:lnSpc>
              <a:buNone/>
            </a:pPr>
            <a:r>
              <a:rPr lang="en-US" sz="900" dirty="0">
                <a:solidFill>
                  <a:srgbClr val="CBD5E1"/>
                </a:solidFill>
              </a:rPr>
              <a:t>SQLite User Auth</a:t>
            </a:r>
            <a:endParaRPr lang="en-US" sz="900" dirty="0"/>
          </a:p>
        </p:txBody>
      </p:sp>
      <p:sp>
        <p:nvSpPr>
          <p:cNvPr id="32" name="Shape 30"/>
          <p:cNvSpPr/>
          <p:nvPr/>
        </p:nvSpPr>
        <p:spPr>
          <a:xfrm>
            <a:off x="7095744" y="2651760"/>
            <a:ext cx="146304" cy="0"/>
          </a:xfrm>
          <a:prstGeom prst="line">
            <a:avLst/>
          </a:prstGeom>
          <a:noFill/>
          <a:ln w="19050">
            <a:solidFill>
              <a:srgbClr val="059669"/>
            </a:solidFill>
            <a:prstDash val="sysDash"/>
          </a:ln>
        </p:spPr>
      </p:sp>
      <p:sp>
        <p:nvSpPr>
          <p:cNvPr id="33" name="Shape 31"/>
          <p:cNvSpPr/>
          <p:nvPr/>
        </p:nvSpPr>
        <p:spPr>
          <a:xfrm>
            <a:off x="7242048" y="1325880"/>
            <a:ext cx="1572768" cy="2651760"/>
          </a:xfrm>
          <a:prstGeom prst="roundRect">
            <a:avLst>
              <a:gd name="adj" fmla="val 5814"/>
            </a:avLst>
          </a:prstGeom>
          <a:solidFill>
            <a:srgbClr val="162032"/>
          </a:solidFill>
          <a:ln/>
          <a:effectLst>
            <a:outerShdw blurRad="101600" dist="38100" dir="2700000" algn="bl" rotWithShape="0">
              <a:srgbClr val="000000">
                <a:alpha val="18000"/>
              </a:srgbClr>
            </a:outerShdw>
          </a:effectLst>
        </p:spPr>
      </p:sp>
      <p:sp>
        <p:nvSpPr>
          <p:cNvPr id="34" name="Shape 32"/>
          <p:cNvSpPr/>
          <p:nvPr/>
        </p:nvSpPr>
        <p:spPr>
          <a:xfrm>
            <a:off x="7242048" y="1325880"/>
            <a:ext cx="1572768" cy="347472"/>
          </a:xfrm>
          <a:prstGeom prst="roundRect">
            <a:avLst>
              <a:gd name="adj" fmla="val 26316"/>
            </a:avLst>
          </a:prstGeom>
          <a:solidFill>
            <a:srgbClr val="DC2626">
              <a:alpha val="75000"/>
            </a:srgbClr>
          </a:solidFill>
          <a:ln/>
        </p:spPr>
      </p:sp>
      <p:sp>
        <p:nvSpPr>
          <p:cNvPr id="35" name="Text 33"/>
          <p:cNvSpPr/>
          <p:nvPr/>
        </p:nvSpPr>
        <p:spPr>
          <a:xfrm>
            <a:off x="7242048" y="1325880"/>
            <a:ext cx="1572768" cy="347472"/>
          </a:xfrm>
          <a:prstGeom prst="rect">
            <a:avLst/>
          </a:prstGeom>
          <a:noFill/>
          <a:ln/>
        </p:spPr>
        <p:txBody>
          <a:bodyPr wrap="square" lIns="0" tIns="0" rIns="0" bIns="0" rtlCol="0" anchor="ctr"/>
          <a:lstStyle/>
          <a:p>
            <a:pPr marL="0" indent="0" algn="ctr">
              <a:buNone/>
            </a:pPr>
            <a:r>
              <a:rPr lang="en-US" sz="1000" b="1" dirty="0">
                <a:solidFill>
                  <a:srgbClr val="FFFFFF"/>
                </a:solidFill>
              </a:rPr>
              <a:t>Cloud</a:t>
            </a:r>
            <a:endParaRPr lang="en-US" sz="1000" dirty="0"/>
          </a:p>
        </p:txBody>
      </p:sp>
      <p:sp>
        <p:nvSpPr>
          <p:cNvPr id="36" name="Text 34"/>
          <p:cNvSpPr/>
          <p:nvPr/>
        </p:nvSpPr>
        <p:spPr>
          <a:xfrm>
            <a:off x="7333488" y="1783080"/>
            <a:ext cx="1389888" cy="384048"/>
          </a:xfrm>
          <a:prstGeom prst="rect">
            <a:avLst/>
          </a:prstGeom>
          <a:noFill/>
          <a:ln/>
        </p:spPr>
        <p:txBody>
          <a:bodyPr wrap="square" lIns="0" tIns="0" rIns="0" bIns="0" rtlCol="0" anchor="ctr"/>
          <a:lstStyle/>
          <a:p>
            <a:pPr marL="0" indent="0" algn="ctr">
              <a:lnSpc>
                <a:spcPct val="120000"/>
              </a:lnSpc>
              <a:buNone/>
            </a:pPr>
            <a:r>
              <a:rPr lang="en-US" sz="900" dirty="0">
                <a:solidFill>
                  <a:srgbClr val="CBD5E1"/>
                </a:solidFill>
              </a:rPr>
              <a:t>Azure App Service</a:t>
            </a:r>
            <a:endParaRPr lang="en-US" sz="900" dirty="0"/>
          </a:p>
        </p:txBody>
      </p:sp>
      <p:sp>
        <p:nvSpPr>
          <p:cNvPr id="38" name="Text 36"/>
          <p:cNvSpPr/>
          <p:nvPr/>
        </p:nvSpPr>
        <p:spPr>
          <a:xfrm>
            <a:off x="7296912" y="2276856"/>
            <a:ext cx="1389888" cy="384048"/>
          </a:xfrm>
          <a:prstGeom prst="rect">
            <a:avLst/>
          </a:prstGeom>
          <a:noFill/>
          <a:ln/>
        </p:spPr>
        <p:txBody>
          <a:bodyPr wrap="square" lIns="0" tIns="0" rIns="0" bIns="0" rtlCol="0" anchor="ctr"/>
          <a:lstStyle/>
          <a:p>
            <a:pPr marL="0" indent="0" algn="ctr">
              <a:lnSpc>
                <a:spcPct val="120000"/>
              </a:lnSpc>
              <a:buNone/>
            </a:pPr>
            <a:r>
              <a:rPr lang="en-US" sz="900" dirty="0">
                <a:solidFill>
                  <a:srgbClr val="CBD5E1"/>
                </a:solidFill>
              </a:rPr>
              <a:t>GitHub Actions CI/CD</a:t>
            </a:r>
            <a:endParaRPr lang="en-US" sz="900" dirty="0"/>
          </a:p>
        </p:txBody>
      </p:sp>
      <p:sp>
        <p:nvSpPr>
          <p:cNvPr id="39" name="Text 37"/>
          <p:cNvSpPr/>
          <p:nvPr/>
        </p:nvSpPr>
        <p:spPr>
          <a:xfrm>
            <a:off x="365760" y="4160520"/>
            <a:ext cx="8412480" cy="320040"/>
          </a:xfrm>
          <a:prstGeom prst="rect">
            <a:avLst/>
          </a:prstGeom>
          <a:noFill/>
          <a:ln/>
        </p:spPr>
        <p:txBody>
          <a:bodyPr wrap="square" lIns="0" tIns="0" rIns="0" bIns="0" rtlCol="0" anchor="ctr"/>
          <a:lstStyle/>
          <a:p>
            <a:pPr marL="0" indent="0" algn="ctr">
              <a:buNone/>
            </a:pPr>
            <a:r>
              <a:rPr lang="en-US" sz="950" i="1" dirty="0">
                <a:solidFill>
                  <a:srgbClr val="94A3B8"/>
                </a:solidFill>
              </a:rPr>
              <a:t>← User uploads PDF → Chunks → Vectors → LLM → Risk Score + Recommendations →</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Features and Views">
    <p:bg>
      <p:bgPr>
        <a:solidFill>
          <a:srgbClr val="0F1B2D"/>
        </a:solidFill>
        <a:effectLst/>
      </p:bgPr>
    </p:bg>
    <p:spTree>
      <p:nvGrpSpPr>
        <p:cNvPr id="1" name=""/>
        <p:cNvGrpSpPr/>
        <p:nvPr/>
      </p:nvGrpSpPr>
      <p:grpSpPr>
        <a:xfrm>
          <a:off x="0" y="0"/>
          <a:ext cx="0" cy="0"/>
          <a:chOff x="0" y="0"/>
          <a:chExt cx="0" cy="0"/>
        </a:xfrm>
      </p:grpSpPr>
      <p:sp>
        <p:nvSpPr>
          <p:cNvPr id="101" name="Badge"/>
          <p:cNvSpPr/>
          <p:nvPr/>
        </p:nvSpPr>
        <p:spPr>
          <a:xfrm>
            <a:off x="457200" y="274320"/>
            <a:ext cx="1550000" cy="256032"/>
          </a:xfrm>
          <a:prstGeom prst="roundRect">
            <a:avLst>
              <a:gd name="adj" fmla="val 50000"/>
            </a:avLst>
          </a:prstGeom>
          <a:solidFill>
            <a:srgbClr val="2563EB">
              <a:alpha val="25000"/>
            </a:srgbClr>
          </a:solidFill>
          <a:ln/>
        </p:spPr>
      </p:sp>
      <p:sp>
        <p:nvSpPr>
          <p:cNvPr id="102" name="BadgeText"/>
          <p:cNvSpPr/>
          <p:nvPr/>
        </p:nvSpPr>
        <p:spPr>
          <a:xfrm>
            <a:off x="457200" y="274320"/>
            <a:ext cx="1550000" cy="256032"/>
          </a:xfrm>
          <a:prstGeom prst="rect">
            <a:avLst/>
          </a:prstGeom>
          <a:noFill/>
          <a:ln/>
        </p:spPr>
        <p:txBody>
          <a:bodyPr wrap="square" lIns="0" tIns="0" rIns="0" bIns="0" rtlCol="0" anchor="ctr"/>
          <a:lstStyle/>
          <a:p>
            <a:pPr marL="0" indent="0" algn="ctr">
              <a:buNone/>
            </a:pPr>
            <a:r>
              <a:rPr lang="en-US" sz="900" b="1" kern="0" spc="150" dirty="0">
                <a:solidFill>
                  <a:srgbClr val="2563EB"/>
                </a:solidFill>
              </a:rPr>
              <a:t>FEATURES</a:t>
            </a:r>
          </a:p>
        </p:txBody>
      </p:sp>
      <p:sp>
        <p:nvSpPr>
          <p:cNvPr id="103" name="Title"/>
          <p:cNvSpPr/>
          <p:nvPr/>
        </p:nvSpPr>
        <p:spPr>
          <a:xfrm>
            <a:off x="457200" y="590000"/>
            <a:ext cx="8229600" cy="4600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rPr>
              <a:t>Everything Inside The Platform</a:t>
            </a:r>
          </a:p>
        </p:txBody>
      </p:sp>
      <p:sp>
        <p:nvSpPr>
          <p:cNvPr id="104" name="Card"/>
          <p:cNvSpPr/>
          <p:nvPr/>
        </p:nvSpPr>
        <p:spPr>
          <a:xfrm>
            <a:off x="457200" y="1180000"/>
            <a:ext cx="2600000" cy="620000"/>
          </a:xfrm>
          <a:prstGeom prst="roundRect">
            <a:avLst>
              <a:gd name="adj" fmla="val 9000"/>
            </a:avLst>
          </a:prstGeom>
          <a:solidFill>
            <a:srgbClr val="162032"/>
          </a:solidFill>
          <a:ln/>
          <a:effectLst>
            <a:outerShdw blurRad="101600" dist="38100" dir="2700000" algn="bl" rotWithShape="0">
              <a:srgbClr val="000000">
                <a:alpha val="18000"/>
              </a:srgbClr>
            </a:outerShdw>
          </a:effectLst>
        </p:spPr>
      </p:sp>
      <p:sp>
        <p:nvSpPr>
          <p:cNvPr id="105" name="Text"/>
          <p:cNvSpPr/>
          <p:nvPr/>
        </p:nvSpPr>
        <p:spPr>
          <a:xfrm>
            <a:off x="597200" y="1250000"/>
            <a:ext cx="400000" cy="400000"/>
          </a:xfrm>
          <a:prstGeom prst="rect">
            <a:avLst/>
          </a:prstGeom>
          <a:noFill/>
          <a:ln/>
        </p:spPr>
        <p:txBody>
          <a:bodyPr wrap="square" lIns="0" tIns="0" rIns="0" bIns="0" rtlCol="0" anchor="ctr"/>
          <a:lstStyle/>
          <a:p>
            <a:pPr marL="0" indent="0" algn="l">
              <a:buNone/>
            </a:pPr>
            <a:r>
              <a:rPr lang="en-US" sz="1700" b="0" dirty="0">
                <a:solidFill>
                  <a:srgbClr val="FFFFFF"/>
                </a:solidFill>
              </a:rPr>
              <a:t>🔐</a:t>
            </a:r>
          </a:p>
        </p:txBody>
      </p:sp>
      <p:sp>
        <p:nvSpPr>
          <p:cNvPr id="106" name="Text"/>
          <p:cNvSpPr/>
          <p:nvPr/>
        </p:nvSpPr>
        <p:spPr>
          <a:xfrm>
            <a:off x="1017200" y="1270000"/>
            <a:ext cx="2000000" cy="220000"/>
          </a:xfrm>
          <a:prstGeom prst="rect">
            <a:avLst/>
          </a:prstGeom>
          <a:noFill/>
          <a:ln/>
        </p:spPr>
        <p:txBody>
          <a:bodyPr wrap="square" lIns="0" tIns="0" rIns="0" bIns="0" rtlCol="0" anchor="t"/>
          <a:lstStyle/>
          <a:p>
            <a:pPr marL="0" indent="0" algn="l">
              <a:buNone/>
            </a:pPr>
            <a:r>
              <a:rPr lang="en-US" sz="1000" b="1" dirty="0">
                <a:solidFill>
                  <a:srgbClr val="FFFFFF"/>
                </a:solidFill>
              </a:rPr>
              <a:t>Secure Login</a:t>
            </a:r>
          </a:p>
        </p:txBody>
      </p:sp>
      <p:sp>
        <p:nvSpPr>
          <p:cNvPr id="107" name="Text"/>
          <p:cNvSpPr/>
          <p:nvPr/>
        </p:nvSpPr>
        <p:spPr>
          <a:xfrm>
            <a:off x="1017200" y="1480000"/>
            <a:ext cx="2000000" cy="220000"/>
          </a:xfrm>
          <a:prstGeom prst="rect">
            <a:avLst/>
          </a:prstGeom>
          <a:noFill/>
          <a:ln/>
        </p:spPr>
        <p:txBody>
          <a:bodyPr wrap="square" lIns="0" tIns="0" rIns="0" bIns="0" rtlCol="0" anchor="t"/>
          <a:lstStyle/>
          <a:p>
            <a:pPr marL="0" indent="0" algn="l">
              <a:buNone/>
            </a:pPr>
            <a:r>
              <a:rPr lang="en-US" sz="800" b="0" dirty="0">
                <a:solidFill>
                  <a:srgbClr val="94A3B8"/>
                </a:solidFill>
              </a:rPr>
              <a:t>JWT + bcrypt auth</a:t>
            </a:r>
          </a:p>
        </p:txBody>
      </p:sp>
      <p:sp>
        <p:nvSpPr>
          <p:cNvPr id="108" name="Card"/>
          <p:cNvSpPr/>
          <p:nvPr/>
        </p:nvSpPr>
        <p:spPr>
          <a:xfrm>
            <a:off x="3172000" y="1180000"/>
            <a:ext cx="2600000" cy="620000"/>
          </a:xfrm>
          <a:prstGeom prst="roundRect">
            <a:avLst>
              <a:gd name="adj" fmla="val 9000"/>
            </a:avLst>
          </a:prstGeom>
          <a:solidFill>
            <a:srgbClr val="162032"/>
          </a:solidFill>
          <a:ln/>
          <a:effectLst>
            <a:outerShdw blurRad="101600" dist="38100" dir="2700000" algn="bl" rotWithShape="0">
              <a:srgbClr val="000000">
                <a:alpha val="18000"/>
              </a:srgbClr>
            </a:outerShdw>
          </a:effectLst>
        </p:spPr>
      </p:sp>
      <p:sp>
        <p:nvSpPr>
          <p:cNvPr id="109" name="Text"/>
          <p:cNvSpPr/>
          <p:nvPr/>
        </p:nvSpPr>
        <p:spPr>
          <a:xfrm>
            <a:off x="3312000" y="1250000"/>
            <a:ext cx="400000" cy="400000"/>
          </a:xfrm>
          <a:prstGeom prst="rect">
            <a:avLst/>
          </a:prstGeom>
          <a:noFill/>
          <a:ln/>
        </p:spPr>
        <p:txBody>
          <a:bodyPr wrap="square" lIns="0" tIns="0" rIns="0" bIns="0" rtlCol="0" anchor="ctr"/>
          <a:lstStyle/>
          <a:p>
            <a:pPr marL="0" indent="0" algn="l">
              <a:buNone/>
            </a:pPr>
            <a:r>
              <a:rPr lang="en-US" sz="1700" b="0" dirty="0">
                <a:solidFill>
                  <a:srgbClr val="FFFFFF"/>
                </a:solidFill>
              </a:rPr>
              <a:t>📤</a:t>
            </a:r>
          </a:p>
        </p:txBody>
      </p:sp>
      <p:sp>
        <p:nvSpPr>
          <p:cNvPr id="110" name="Text"/>
          <p:cNvSpPr/>
          <p:nvPr/>
        </p:nvSpPr>
        <p:spPr>
          <a:xfrm>
            <a:off x="3732000" y="1270000"/>
            <a:ext cx="2000000" cy="220000"/>
          </a:xfrm>
          <a:prstGeom prst="rect">
            <a:avLst/>
          </a:prstGeom>
          <a:noFill/>
          <a:ln/>
        </p:spPr>
        <p:txBody>
          <a:bodyPr wrap="square" lIns="0" tIns="0" rIns="0" bIns="0" rtlCol="0" anchor="t"/>
          <a:lstStyle/>
          <a:p>
            <a:pPr marL="0" indent="0" algn="l">
              <a:buNone/>
            </a:pPr>
            <a:r>
              <a:rPr lang="en-US" sz="1000" b="1" dirty="0">
                <a:solidFill>
                  <a:srgbClr val="FFFFFF"/>
                </a:solidFill>
              </a:rPr>
              <a:t>Upload PDFs</a:t>
            </a:r>
          </a:p>
        </p:txBody>
      </p:sp>
      <p:sp>
        <p:nvSpPr>
          <p:cNvPr id="111" name="Text"/>
          <p:cNvSpPr/>
          <p:nvPr/>
        </p:nvSpPr>
        <p:spPr>
          <a:xfrm>
            <a:off x="3732000" y="1480000"/>
            <a:ext cx="2000000" cy="220000"/>
          </a:xfrm>
          <a:prstGeom prst="rect">
            <a:avLst/>
          </a:prstGeom>
          <a:noFill/>
          <a:ln/>
        </p:spPr>
        <p:txBody>
          <a:bodyPr wrap="square" lIns="0" tIns="0" rIns="0" bIns="0" rtlCol="0" anchor="t"/>
          <a:lstStyle/>
          <a:p>
            <a:pPr marL="0" indent="0" algn="l">
              <a:buNone/>
            </a:pPr>
            <a:r>
              <a:rPr lang="en-US" sz="800" b="0" dirty="0">
                <a:solidFill>
                  <a:srgbClr val="94A3B8"/>
                </a:solidFill>
              </a:rPr>
              <a:t>Salary slips, statements, ITR</a:t>
            </a:r>
          </a:p>
        </p:txBody>
      </p:sp>
      <p:sp>
        <p:nvSpPr>
          <p:cNvPr id="112" name="Card"/>
          <p:cNvSpPr/>
          <p:nvPr/>
        </p:nvSpPr>
        <p:spPr>
          <a:xfrm>
            <a:off x="5886800" y="1180000"/>
            <a:ext cx="2600000" cy="620000"/>
          </a:xfrm>
          <a:prstGeom prst="roundRect">
            <a:avLst>
              <a:gd name="adj" fmla="val 9000"/>
            </a:avLst>
          </a:prstGeom>
          <a:solidFill>
            <a:srgbClr val="162032"/>
          </a:solidFill>
          <a:ln/>
          <a:effectLst>
            <a:outerShdw blurRad="101600" dist="38100" dir="2700000" algn="bl" rotWithShape="0">
              <a:srgbClr val="000000">
                <a:alpha val="18000"/>
              </a:srgbClr>
            </a:outerShdw>
          </a:effectLst>
        </p:spPr>
      </p:sp>
      <p:sp>
        <p:nvSpPr>
          <p:cNvPr id="113" name="Text"/>
          <p:cNvSpPr/>
          <p:nvPr/>
        </p:nvSpPr>
        <p:spPr>
          <a:xfrm>
            <a:off x="6026800" y="1250000"/>
            <a:ext cx="400000" cy="400000"/>
          </a:xfrm>
          <a:prstGeom prst="rect">
            <a:avLst/>
          </a:prstGeom>
          <a:noFill/>
          <a:ln/>
        </p:spPr>
        <p:txBody>
          <a:bodyPr wrap="square" lIns="0" tIns="0" rIns="0" bIns="0" rtlCol="0" anchor="ctr"/>
          <a:lstStyle/>
          <a:p>
            <a:pPr marL="0" indent="0" algn="l">
              <a:buNone/>
            </a:pPr>
            <a:r>
              <a:rPr lang="en-US" sz="1700" b="0" dirty="0">
                <a:solidFill>
                  <a:srgbClr val="FFFFFF"/>
                </a:solidFill>
              </a:rPr>
              <a:t>📊</a:t>
            </a:r>
          </a:p>
        </p:txBody>
      </p:sp>
      <p:sp>
        <p:nvSpPr>
          <p:cNvPr id="114" name="Text"/>
          <p:cNvSpPr/>
          <p:nvPr/>
        </p:nvSpPr>
        <p:spPr>
          <a:xfrm>
            <a:off x="6446800" y="1270000"/>
            <a:ext cx="2000000" cy="220000"/>
          </a:xfrm>
          <a:prstGeom prst="rect">
            <a:avLst/>
          </a:prstGeom>
          <a:noFill/>
          <a:ln/>
        </p:spPr>
        <p:txBody>
          <a:bodyPr wrap="square" lIns="0" tIns="0" rIns="0" bIns="0" rtlCol="0" anchor="t"/>
          <a:lstStyle/>
          <a:p>
            <a:pPr marL="0" indent="0" algn="l">
              <a:buNone/>
            </a:pPr>
            <a:r>
              <a:rPr lang="en-US" sz="1000" b="1" dirty="0">
                <a:solidFill>
                  <a:srgbClr val="FFFFFF"/>
                </a:solidFill>
              </a:rPr>
              <a:t>Risk Analysis</a:t>
            </a:r>
          </a:p>
        </p:txBody>
      </p:sp>
      <p:sp>
        <p:nvSpPr>
          <p:cNvPr id="115" name="Text"/>
          <p:cNvSpPr/>
          <p:nvPr/>
        </p:nvSpPr>
        <p:spPr>
          <a:xfrm>
            <a:off x="6446800" y="1480000"/>
            <a:ext cx="2000000" cy="220000"/>
          </a:xfrm>
          <a:prstGeom prst="rect">
            <a:avLst/>
          </a:prstGeom>
          <a:noFill/>
          <a:ln/>
        </p:spPr>
        <p:txBody>
          <a:bodyPr wrap="square" lIns="0" tIns="0" rIns="0" bIns="0" rtlCol="0" anchor="t"/>
          <a:lstStyle/>
          <a:p>
            <a:pPr marL="0" indent="0" algn="l">
              <a:buNone/>
            </a:pPr>
            <a:r>
              <a:rPr lang="en-US" sz="800" b="0" dirty="0">
                <a:solidFill>
                  <a:srgbClr val="94A3B8"/>
                </a:solidFill>
              </a:rPr>
              <a:t>AI credit score + red flags</a:t>
            </a:r>
          </a:p>
        </p:txBody>
      </p:sp>
      <p:sp>
        <p:nvSpPr>
          <p:cNvPr id="116" name="Card"/>
          <p:cNvSpPr/>
          <p:nvPr/>
        </p:nvSpPr>
        <p:spPr>
          <a:xfrm>
            <a:off x="457200" y="1914800"/>
            <a:ext cx="2600000" cy="620000"/>
          </a:xfrm>
          <a:prstGeom prst="roundRect">
            <a:avLst>
              <a:gd name="adj" fmla="val 9000"/>
            </a:avLst>
          </a:prstGeom>
          <a:solidFill>
            <a:srgbClr val="162032"/>
          </a:solidFill>
          <a:ln/>
          <a:effectLst>
            <a:outerShdw blurRad="101600" dist="38100" dir="2700000" algn="bl" rotWithShape="0">
              <a:srgbClr val="000000">
                <a:alpha val="18000"/>
              </a:srgbClr>
            </a:outerShdw>
          </a:effectLst>
        </p:spPr>
      </p:sp>
      <p:sp>
        <p:nvSpPr>
          <p:cNvPr id="117" name="Text"/>
          <p:cNvSpPr/>
          <p:nvPr/>
        </p:nvSpPr>
        <p:spPr>
          <a:xfrm>
            <a:off x="597200" y="1984800"/>
            <a:ext cx="400000" cy="400000"/>
          </a:xfrm>
          <a:prstGeom prst="rect">
            <a:avLst/>
          </a:prstGeom>
          <a:noFill/>
          <a:ln/>
        </p:spPr>
        <p:txBody>
          <a:bodyPr wrap="square" lIns="0" tIns="0" rIns="0" bIns="0" rtlCol="0" anchor="ctr"/>
          <a:lstStyle/>
          <a:p>
            <a:pPr marL="0" indent="0" algn="l">
              <a:buNone/>
            </a:pPr>
            <a:r>
              <a:rPr lang="en-US" sz="1700" b="0" dirty="0">
                <a:solidFill>
                  <a:srgbClr val="FFFFFF"/>
                </a:solidFill>
              </a:rPr>
              <a:t>💡</a:t>
            </a:r>
          </a:p>
        </p:txBody>
      </p:sp>
      <p:sp>
        <p:nvSpPr>
          <p:cNvPr id="118" name="Text"/>
          <p:cNvSpPr/>
          <p:nvPr/>
        </p:nvSpPr>
        <p:spPr>
          <a:xfrm>
            <a:off x="1017200" y="2004800"/>
            <a:ext cx="2000000" cy="220000"/>
          </a:xfrm>
          <a:prstGeom prst="rect">
            <a:avLst/>
          </a:prstGeom>
          <a:noFill/>
          <a:ln/>
        </p:spPr>
        <p:txBody>
          <a:bodyPr wrap="square" lIns="0" tIns="0" rIns="0" bIns="0" rtlCol="0" anchor="t"/>
          <a:lstStyle/>
          <a:p>
            <a:pPr marL="0" indent="0" algn="l">
              <a:buNone/>
            </a:pPr>
            <a:r>
              <a:rPr lang="en-US" sz="1000" b="1" dirty="0">
                <a:solidFill>
                  <a:srgbClr val="FFFFFF"/>
                </a:solidFill>
              </a:rPr>
              <a:t>AI Recommendations</a:t>
            </a:r>
          </a:p>
        </p:txBody>
      </p:sp>
      <p:sp>
        <p:nvSpPr>
          <p:cNvPr id="119" name="Text"/>
          <p:cNvSpPr/>
          <p:nvPr/>
        </p:nvSpPr>
        <p:spPr>
          <a:xfrm>
            <a:off x="1017200" y="2214800"/>
            <a:ext cx="2000000" cy="220000"/>
          </a:xfrm>
          <a:prstGeom prst="rect">
            <a:avLst/>
          </a:prstGeom>
          <a:noFill/>
          <a:ln/>
        </p:spPr>
        <p:txBody>
          <a:bodyPr wrap="square" lIns="0" tIns="0" rIns="0" bIns="0" rtlCol="0" anchor="t"/>
          <a:lstStyle/>
          <a:p>
            <a:pPr marL="0" indent="0" algn="l">
              <a:buNone/>
            </a:pPr>
            <a:r>
              <a:rPr lang="en-US" sz="800" b="0" dirty="0">
                <a:solidFill>
                  <a:srgbClr val="94A3B8"/>
                </a:solidFill>
              </a:rPr>
              <a:t>Urgency-sorted action plan</a:t>
            </a:r>
          </a:p>
        </p:txBody>
      </p:sp>
      <p:sp>
        <p:nvSpPr>
          <p:cNvPr id="120" name="Card"/>
          <p:cNvSpPr/>
          <p:nvPr/>
        </p:nvSpPr>
        <p:spPr>
          <a:xfrm>
            <a:off x="3172000" y="1914800"/>
            <a:ext cx="2600000" cy="620000"/>
          </a:xfrm>
          <a:prstGeom prst="roundRect">
            <a:avLst>
              <a:gd name="adj" fmla="val 9000"/>
            </a:avLst>
          </a:prstGeom>
          <a:solidFill>
            <a:srgbClr val="162032"/>
          </a:solidFill>
          <a:ln/>
          <a:effectLst>
            <a:outerShdw blurRad="101600" dist="38100" dir="2700000" algn="bl" rotWithShape="0">
              <a:srgbClr val="000000">
                <a:alpha val="18000"/>
              </a:srgbClr>
            </a:outerShdw>
          </a:effectLst>
        </p:spPr>
      </p:sp>
      <p:sp>
        <p:nvSpPr>
          <p:cNvPr id="121" name="Text"/>
          <p:cNvSpPr/>
          <p:nvPr/>
        </p:nvSpPr>
        <p:spPr>
          <a:xfrm>
            <a:off x="3312000" y="1984800"/>
            <a:ext cx="400000" cy="400000"/>
          </a:xfrm>
          <a:prstGeom prst="rect">
            <a:avLst/>
          </a:prstGeom>
          <a:noFill/>
          <a:ln/>
        </p:spPr>
        <p:txBody>
          <a:bodyPr wrap="square" lIns="0" tIns="0" rIns="0" bIns="0" rtlCol="0" anchor="ctr"/>
          <a:lstStyle/>
          <a:p>
            <a:pPr marL="0" indent="0" algn="l">
              <a:buNone/>
            </a:pPr>
            <a:r>
              <a:rPr lang="en-US" sz="1700" b="0" dirty="0">
                <a:solidFill>
                  <a:srgbClr val="FFFFFF"/>
                </a:solidFill>
              </a:rPr>
              <a:t>💬</a:t>
            </a:r>
          </a:p>
        </p:txBody>
      </p:sp>
      <p:sp>
        <p:nvSpPr>
          <p:cNvPr id="122" name="Text"/>
          <p:cNvSpPr/>
          <p:nvPr/>
        </p:nvSpPr>
        <p:spPr>
          <a:xfrm>
            <a:off x="3732000" y="2004800"/>
            <a:ext cx="2000000" cy="220000"/>
          </a:xfrm>
          <a:prstGeom prst="rect">
            <a:avLst/>
          </a:prstGeom>
          <a:noFill/>
          <a:ln/>
        </p:spPr>
        <p:txBody>
          <a:bodyPr wrap="square" lIns="0" tIns="0" rIns="0" bIns="0" rtlCol="0" anchor="t"/>
          <a:lstStyle/>
          <a:p>
            <a:pPr marL="0" indent="0" algn="l">
              <a:buNone/>
            </a:pPr>
            <a:r>
              <a:rPr lang="en-US" sz="1000" b="1" dirty="0">
                <a:solidFill>
                  <a:srgbClr val="FFFFFF"/>
                </a:solidFill>
              </a:rPr>
              <a:t>AI Chat</a:t>
            </a:r>
          </a:p>
        </p:txBody>
      </p:sp>
      <p:sp>
        <p:nvSpPr>
          <p:cNvPr id="123" name="Text"/>
          <p:cNvSpPr/>
          <p:nvPr/>
        </p:nvSpPr>
        <p:spPr>
          <a:xfrm>
            <a:off x="3732000" y="2214800"/>
            <a:ext cx="2000000" cy="220000"/>
          </a:xfrm>
          <a:prstGeom prst="rect">
            <a:avLst/>
          </a:prstGeom>
          <a:noFill/>
          <a:ln/>
        </p:spPr>
        <p:txBody>
          <a:bodyPr wrap="square" lIns="0" tIns="0" rIns="0" bIns="0" rtlCol="0" anchor="t"/>
          <a:lstStyle/>
          <a:p>
            <a:pPr marL="0" indent="0" algn="l">
              <a:buNone/>
            </a:pPr>
            <a:r>
              <a:rPr lang="en-US" sz="800" b="0" dirty="0">
                <a:solidFill>
                  <a:srgbClr val="94A3B8"/>
                </a:solidFill>
              </a:rPr>
              <a:t>Ask about your own documents</a:t>
            </a:r>
          </a:p>
        </p:txBody>
      </p:sp>
      <p:sp>
        <p:nvSpPr>
          <p:cNvPr id="124" name="Card"/>
          <p:cNvSpPr/>
          <p:nvPr/>
        </p:nvSpPr>
        <p:spPr>
          <a:xfrm>
            <a:off x="5886800" y="1914800"/>
            <a:ext cx="2600000" cy="620000"/>
          </a:xfrm>
          <a:prstGeom prst="roundRect">
            <a:avLst>
              <a:gd name="adj" fmla="val 9000"/>
            </a:avLst>
          </a:prstGeom>
          <a:solidFill>
            <a:srgbClr val="162032"/>
          </a:solidFill>
          <a:ln/>
          <a:effectLst>
            <a:outerShdw blurRad="101600" dist="38100" dir="2700000" algn="bl" rotWithShape="0">
              <a:srgbClr val="000000">
                <a:alpha val="18000"/>
              </a:srgbClr>
            </a:outerShdw>
          </a:effectLst>
        </p:spPr>
      </p:sp>
      <p:sp>
        <p:nvSpPr>
          <p:cNvPr id="125" name="Text"/>
          <p:cNvSpPr/>
          <p:nvPr/>
        </p:nvSpPr>
        <p:spPr>
          <a:xfrm>
            <a:off x="6026800" y="1984800"/>
            <a:ext cx="400000" cy="400000"/>
          </a:xfrm>
          <a:prstGeom prst="rect">
            <a:avLst/>
          </a:prstGeom>
          <a:noFill/>
          <a:ln/>
        </p:spPr>
        <p:txBody>
          <a:bodyPr wrap="square" lIns="0" tIns="0" rIns="0" bIns="0" rtlCol="0" anchor="ctr"/>
          <a:lstStyle/>
          <a:p>
            <a:pPr marL="0" indent="0" algn="l">
              <a:buNone/>
            </a:pPr>
            <a:r>
              <a:rPr lang="en-US" sz="1700" b="0" dirty="0">
                <a:solidFill>
                  <a:srgbClr val="FFFFFF"/>
                </a:solidFill>
              </a:rPr>
              <a:t>🏙️</a:t>
            </a:r>
          </a:p>
        </p:txBody>
      </p:sp>
      <p:sp>
        <p:nvSpPr>
          <p:cNvPr id="126" name="Text"/>
          <p:cNvSpPr/>
          <p:nvPr/>
        </p:nvSpPr>
        <p:spPr>
          <a:xfrm>
            <a:off x="6446800" y="2004800"/>
            <a:ext cx="2000000" cy="220000"/>
          </a:xfrm>
          <a:prstGeom prst="rect">
            <a:avLst/>
          </a:prstGeom>
          <a:noFill/>
          <a:ln/>
        </p:spPr>
        <p:txBody>
          <a:bodyPr wrap="square" lIns="0" tIns="0" rIns="0" bIns="0" rtlCol="0" anchor="t"/>
          <a:lstStyle/>
          <a:p>
            <a:pPr marL="0" indent="0" algn="l">
              <a:buNone/>
            </a:pPr>
            <a:r>
              <a:rPr lang="en-US" sz="1000" b="1" dirty="0">
                <a:solidFill>
                  <a:srgbClr val="FFFFFF"/>
                </a:solidFill>
              </a:rPr>
              <a:t>Retirement Planner</a:t>
            </a:r>
          </a:p>
        </p:txBody>
      </p:sp>
      <p:sp>
        <p:nvSpPr>
          <p:cNvPr id="127" name="Text"/>
          <p:cNvSpPr/>
          <p:nvPr/>
        </p:nvSpPr>
        <p:spPr>
          <a:xfrm>
            <a:off x="6446800" y="2214800"/>
            <a:ext cx="2000000" cy="220000"/>
          </a:xfrm>
          <a:prstGeom prst="rect">
            <a:avLst/>
          </a:prstGeom>
          <a:noFill/>
          <a:ln/>
        </p:spPr>
        <p:txBody>
          <a:bodyPr wrap="square" lIns="0" tIns="0" rIns="0" bIns="0" rtlCol="0" anchor="t"/>
          <a:lstStyle/>
          <a:p>
            <a:pPr marL="0" indent="0" algn="l">
              <a:buNone/>
            </a:pPr>
            <a:r>
              <a:rPr lang="en-US" sz="800" b="0" dirty="0">
                <a:solidFill>
                  <a:srgbClr val="94A3B8"/>
                </a:solidFill>
              </a:rPr>
              <a:t>40-city cost of living</a:t>
            </a:r>
          </a:p>
        </p:txBody>
      </p:sp>
      <p:sp>
        <p:nvSpPr>
          <p:cNvPr id="128" name="Pill"/>
          <p:cNvSpPr/>
          <p:nvPr/>
        </p:nvSpPr>
        <p:spPr>
          <a:xfrm>
            <a:off x="457200" y="2709600"/>
            <a:ext cx="1750000" cy="260000"/>
          </a:xfrm>
          <a:prstGeom prst="roundRect">
            <a:avLst>
              <a:gd name="adj" fmla="val 50000"/>
            </a:avLst>
          </a:prstGeom>
          <a:solidFill>
            <a:srgbClr val="0891B2">
              <a:alpha val="20000"/>
            </a:srgbClr>
          </a:solidFill>
          <a:ln/>
        </p:spPr>
        <p:txBody>
          <a:bodyPr wrap="square" lIns="0" tIns="0" rIns="0" bIns="0" rtlCol="0" anchor="ctr"/>
          <a:lstStyle/>
          <a:p>
            <a:pPr marL="0" indent="0" algn="ctr">
              <a:buNone/>
            </a:pPr>
            <a:r>
              <a:rPr lang="en-US" sz="900" b="1" dirty="0">
                <a:solidFill>
                  <a:srgbClr val="FFFFFF"/>
                </a:solidFill>
              </a:rPr>
              <a:t>👤  CUSTOMER SEES</a:t>
            </a:r>
          </a:p>
        </p:txBody>
      </p:sp>
      <p:sp>
        <p:nvSpPr>
          <p:cNvPr id="129" name="Pill"/>
          <p:cNvSpPr/>
          <p:nvPr/>
        </p:nvSpPr>
        <p:spPr>
          <a:xfrm>
            <a:off x="4686300" y="2709600"/>
            <a:ext cx="1750000" cy="260000"/>
          </a:xfrm>
          <a:prstGeom prst="roundRect">
            <a:avLst>
              <a:gd name="adj" fmla="val 50000"/>
            </a:avLst>
          </a:prstGeom>
          <a:solidFill>
            <a:srgbClr val="D97706">
              <a:alpha val="20000"/>
            </a:srgbClr>
          </a:solidFill>
          <a:ln/>
        </p:spPr>
        <p:txBody>
          <a:bodyPr wrap="square" lIns="0" tIns="0" rIns="0" bIns="0" rtlCol="0" anchor="ctr"/>
          <a:lstStyle/>
          <a:p>
            <a:pPr marL="0" indent="0" algn="ctr">
              <a:buNone/>
            </a:pPr>
            <a:r>
              <a:rPr lang="en-US" sz="900" b="1" dirty="0">
                <a:solidFill>
                  <a:srgbClr val="FFFFFF"/>
                </a:solidFill>
              </a:rPr>
              <a:t>🏦  BANK OFFICER SEES</a:t>
            </a:r>
          </a:p>
        </p:txBody>
      </p:sp>
      <p:sp>
        <p:nvSpPr>
          <p:cNvPr id="130" name="Text"/>
          <p:cNvSpPr/>
          <p:nvPr/>
        </p:nvSpPr>
        <p:spPr>
          <a:xfrm>
            <a:off x="457200" y="3049600"/>
            <a:ext cx="30000" cy="190000"/>
          </a:xfrm>
          <a:prstGeom prst="rect">
            <a:avLst/>
          </a:prstGeom>
          <a:noFill/>
          <a:ln/>
        </p:spPr>
        <p:txBody>
          <a:bodyPr wrap="square" lIns="0" tIns="0" rIns="0" bIns="0" rtlCol="0" anchor="t"/>
          <a:lstStyle/>
          <a:p>
            <a:pPr marL="0" indent="0" algn="l">
              <a:buNone/>
            </a:pPr>
            <a:r>
              <a:rPr lang="en-US" sz="950" b="1" dirty="0">
                <a:solidFill>
                  <a:srgbClr val="0891B2"/>
                </a:solidFill>
              </a:rPr>
              <a:t>•</a:t>
            </a:r>
          </a:p>
        </p:txBody>
      </p:sp>
      <p:sp>
        <p:nvSpPr>
          <p:cNvPr id="131" name="Text"/>
          <p:cNvSpPr/>
          <p:nvPr/>
        </p:nvSpPr>
        <p:spPr>
          <a:xfrm>
            <a:off x="657200" y="3049600"/>
            <a:ext cx="3800500" cy="190000"/>
          </a:xfrm>
          <a:prstGeom prst="rect">
            <a:avLst/>
          </a:prstGeom>
          <a:noFill/>
          <a:ln/>
        </p:spPr>
        <p:txBody>
          <a:bodyPr wrap="square" lIns="0" tIns="0" rIns="0" bIns="0" rtlCol="0" anchor="t"/>
          <a:lstStyle/>
          <a:p>
            <a:pPr marL="0" indent="0" algn="l">
              <a:buNone/>
            </a:pPr>
            <a:r>
              <a:rPr lang="en-US" sz="850" b="0" dirty="0">
                <a:solidFill>
                  <a:srgbClr val="E2E8F0"/>
                </a:solidFill>
              </a:rPr>
              <a:t>Personal risk score (0-100)</a:t>
            </a:r>
          </a:p>
        </p:txBody>
      </p:sp>
      <p:sp>
        <p:nvSpPr>
          <p:cNvPr id="132" name="Text"/>
          <p:cNvSpPr/>
          <p:nvPr/>
        </p:nvSpPr>
        <p:spPr>
          <a:xfrm>
            <a:off x="457200" y="3299600"/>
            <a:ext cx="30000" cy="190000"/>
          </a:xfrm>
          <a:prstGeom prst="rect">
            <a:avLst/>
          </a:prstGeom>
          <a:noFill/>
          <a:ln/>
        </p:spPr>
        <p:txBody>
          <a:bodyPr wrap="square" lIns="0" tIns="0" rIns="0" bIns="0" rtlCol="0" anchor="t"/>
          <a:lstStyle/>
          <a:p>
            <a:pPr marL="0" indent="0" algn="l">
              <a:buNone/>
            </a:pPr>
            <a:r>
              <a:rPr lang="en-US" sz="950" b="1" dirty="0">
                <a:solidFill>
                  <a:srgbClr val="0891B2"/>
                </a:solidFill>
              </a:rPr>
              <a:t>•</a:t>
            </a:r>
          </a:p>
        </p:txBody>
      </p:sp>
      <p:sp>
        <p:nvSpPr>
          <p:cNvPr id="133" name="Text"/>
          <p:cNvSpPr/>
          <p:nvPr/>
        </p:nvSpPr>
        <p:spPr>
          <a:xfrm>
            <a:off x="657200" y="3299600"/>
            <a:ext cx="3800500" cy="190000"/>
          </a:xfrm>
          <a:prstGeom prst="rect">
            <a:avLst/>
          </a:prstGeom>
          <a:noFill/>
          <a:ln/>
        </p:spPr>
        <p:txBody>
          <a:bodyPr wrap="square" lIns="0" tIns="0" rIns="0" bIns="0" rtlCol="0" anchor="t"/>
          <a:lstStyle/>
          <a:p>
            <a:pPr marL="0" indent="0" algn="l">
              <a:buNone/>
            </a:pPr>
            <a:r>
              <a:rPr lang="en-US" sz="850" b="0" dirty="0">
                <a:solidFill>
                  <a:srgbClr val="E2E8F0"/>
                </a:solidFill>
              </a:rPr>
              <a:t>Loan approval probability</a:t>
            </a:r>
          </a:p>
        </p:txBody>
      </p:sp>
      <p:sp>
        <p:nvSpPr>
          <p:cNvPr id="134" name="Text"/>
          <p:cNvSpPr/>
          <p:nvPr/>
        </p:nvSpPr>
        <p:spPr>
          <a:xfrm>
            <a:off x="457200" y="3549600"/>
            <a:ext cx="30000" cy="190000"/>
          </a:xfrm>
          <a:prstGeom prst="rect">
            <a:avLst/>
          </a:prstGeom>
          <a:noFill/>
          <a:ln/>
        </p:spPr>
        <p:txBody>
          <a:bodyPr wrap="square" lIns="0" tIns="0" rIns="0" bIns="0" rtlCol="0" anchor="t"/>
          <a:lstStyle/>
          <a:p>
            <a:pPr marL="0" indent="0" algn="l">
              <a:buNone/>
            </a:pPr>
            <a:r>
              <a:rPr lang="en-US" sz="950" b="1" dirty="0">
                <a:solidFill>
                  <a:srgbClr val="0891B2"/>
                </a:solidFill>
              </a:rPr>
              <a:t>•</a:t>
            </a:r>
          </a:p>
        </p:txBody>
      </p:sp>
      <p:sp>
        <p:nvSpPr>
          <p:cNvPr id="135" name="Text"/>
          <p:cNvSpPr/>
          <p:nvPr/>
        </p:nvSpPr>
        <p:spPr>
          <a:xfrm>
            <a:off x="657200" y="3549600"/>
            <a:ext cx="3800500" cy="190000"/>
          </a:xfrm>
          <a:prstGeom prst="rect">
            <a:avLst/>
          </a:prstGeom>
          <a:noFill/>
          <a:ln/>
        </p:spPr>
        <p:txBody>
          <a:bodyPr wrap="square" lIns="0" tIns="0" rIns="0" bIns="0" rtlCol="0" anchor="t"/>
          <a:lstStyle/>
          <a:p>
            <a:pPr marL="0" indent="0" algn="l">
              <a:buNone/>
            </a:pPr>
            <a:r>
              <a:rPr lang="en-US" sz="850" b="0" dirty="0">
                <a:solidFill>
                  <a:srgbClr val="E2E8F0"/>
                </a:solidFill>
              </a:rPr>
              <a:t>Safe borrowing amount</a:t>
            </a:r>
          </a:p>
        </p:txBody>
      </p:sp>
      <p:sp>
        <p:nvSpPr>
          <p:cNvPr id="136" name="Text"/>
          <p:cNvSpPr/>
          <p:nvPr/>
        </p:nvSpPr>
        <p:spPr>
          <a:xfrm>
            <a:off x="457200" y="3799600"/>
            <a:ext cx="30000" cy="190000"/>
          </a:xfrm>
          <a:prstGeom prst="rect">
            <a:avLst/>
          </a:prstGeom>
          <a:noFill/>
          <a:ln/>
        </p:spPr>
        <p:txBody>
          <a:bodyPr wrap="square" lIns="0" tIns="0" rIns="0" bIns="0" rtlCol="0" anchor="t"/>
          <a:lstStyle/>
          <a:p>
            <a:pPr marL="0" indent="0" algn="l">
              <a:buNone/>
            </a:pPr>
            <a:r>
              <a:rPr lang="en-US" sz="950" b="1" dirty="0">
                <a:solidFill>
                  <a:srgbClr val="0891B2"/>
                </a:solidFill>
              </a:rPr>
              <a:t>•</a:t>
            </a:r>
          </a:p>
        </p:txBody>
      </p:sp>
      <p:sp>
        <p:nvSpPr>
          <p:cNvPr id="137" name="Text"/>
          <p:cNvSpPr/>
          <p:nvPr/>
        </p:nvSpPr>
        <p:spPr>
          <a:xfrm>
            <a:off x="657200" y="3799600"/>
            <a:ext cx="3800500" cy="190000"/>
          </a:xfrm>
          <a:prstGeom prst="rect">
            <a:avLst/>
          </a:prstGeom>
          <a:noFill/>
          <a:ln/>
        </p:spPr>
        <p:txBody>
          <a:bodyPr wrap="square" lIns="0" tIns="0" rIns="0" bIns="0" rtlCol="0" anchor="t"/>
          <a:lstStyle/>
          <a:p>
            <a:pPr marL="0" indent="0" algn="l">
              <a:buNone/>
            </a:pPr>
            <a:r>
              <a:rPr lang="en-US" sz="850" b="0" dirty="0">
                <a:solidFill>
                  <a:srgbClr val="E2E8F0"/>
                </a:solidFill>
              </a:rPr>
              <a:t>Recommended banks &amp; rates</a:t>
            </a:r>
          </a:p>
        </p:txBody>
      </p:sp>
      <p:sp>
        <p:nvSpPr>
          <p:cNvPr id="138" name="Text"/>
          <p:cNvSpPr/>
          <p:nvPr/>
        </p:nvSpPr>
        <p:spPr>
          <a:xfrm>
            <a:off x="457200" y="4049600"/>
            <a:ext cx="30000" cy="190000"/>
          </a:xfrm>
          <a:prstGeom prst="rect">
            <a:avLst/>
          </a:prstGeom>
          <a:noFill/>
          <a:ln/>
        </p:spPr>
        <p:txBody>
          <a:bodyPr wrap="square" lIns="0" tIns="0" rIns="0" bIns="0" rtlCol="0" anchor="t"/>
          <a:lstStyle/>
          <a:p>
            <a:pPr marL="0" indent="0" algn="l">
              <a:buNone/>
            </a:pPr>
            <a:r>
              <a:rPr lang="en-US" sz="950" b="1" dirty="0">
                <a:solidFill>
                  <a:srgbClr val="0891B2"/>
                </a:solidFill>
              </a:rPr>
              <a:t>•</a:t>
            </a:r>
          </a:p>
        </p:txBody>
      </p:sp>
      <p:sp>
        <p:nvSpPr>
          <p:cNvPr id="139" name="Text"/>
          <p:cNvSpPr/>
          <p:nvPr/>
        </p:nvSpPr>
        <p:spPr>
          <a:xfrm>
            <a:off x="657200" y="4049600"/>
            <a:ext cx="3800500" cy="190000"/>
          </a:xfrm>
          <a:prstGeom prst="rect">
            <a:avLst/>
          </a:prstGeom>
          <a:noFill/>
          <a:ln/>
        </p:spPr>
        <p:txBody>
          <a:bodyPr wrap="square" lIns="0" tIns="0" rIns="0" bIns="0" rtlCol="0" anchor="t"/>
          <a:lstStyle/>
          <a:p>
            <a:pPr marL="0" indent="0" algn="l">
              <a:buNone/>
            </a:pPr>
            <a:r>
              <a:rPr lang="en-US" sz="850" b="0" dirty="0">
                <a:solidFill>
                  <a:srgbClr val="E2E8F0"/>
                </a:solidFill>
              </a:rPr>
              <a:t>Debt-to-income ratio (DTI)</a:t>
            </a:r>
          </a:p>
        </p:txBody>
      </p:sp>
      <p:sp>
        <p:nvSpPr>
          <p:cNvPr id="140" name="Text"/>
          <p:cNvSpPr/>
          <p:nvPr/>
        </p:nvSpPr>
        <p:spPr>
          <a:xfrm>
            <a:off x="457200" y="4299600"/>
            <a:ext cx="30000" cy="190000"/>
          </a:xfrm>
          <a:prstGeom prst="rect">
            <a:avLst/>
          </a:prstGeom>
          <a:noFill/>
          <a:ln/>
        </p:spPr>
        <p:txBody>
          <a:bodyPr wrap="square" lIns="0" tIns="0" rIns="0" bIns="0" rtlCol="0" anchor="t"/>
          <a:lstStyle/>
          <a:p>
            <a:pPr marL="0" indent="0" algn="l">
              <a:buNone/>
            </a:pPr>
            <a:r>
              <a:rPr lang="en-US" sz="950" b="1" dirty="0">
                <a:solidFill>
                  <a:srgbClr val="0891B2"/>
                </a:solidFill>
              </a:rPr>
              <a:t>•</a:t>
            </a:r>
          </a:p>
        </p:txBody>
      </p:sp>
      <p:sp>
        <p:nvSpPr>
          <p:cNvPr id="141" name="Text"/>
          <p:cNvSpPr/>
          <p:nvPr/>
        </p:nvSpPr>
        <p:spPr>
          <a:xfrm>
            <a:off x="657200" y="4299600"/>
            <a:ext cx="3800500" cy="190000"/>
          </a:xfrm>
          <a:prstGeom prst="rect">
            <a:avLst/>
          </a:prstGeom>
          <a:noFill/>
          <a:ln/>
        </p:spPr>
        <p:txBody>
          <a:bodyPr wrap="square" lIns="0" tIns="0" rIns="0" bIns="0" rtlCol="0" anchor="t"/>
          <a:lstStyle/>
          <a:p>
            <a:pPr marL="0" indent="0" algn="l">
              <a:buNone/>
            </a:pPr>
            <a:r>
              <a:rPr lang="en-US" sz="850" b="0" dirty="0">
                <a:solidFill>
                  <a:srgbClr val="E2E8F0"/>
                </a:solidFill>
              </a:rPr>
              <a:t>Improvement action plan</a:t>
            </a:r>
          </a:p>
        </p:txBody>
      </p:sp>
      <p:sp>
        <p:nvSpPr>
          <p:cNvPr id="142" name="Text"/>
          <p:cNvSpPr/>
          <p:nvPr/>
        </p:nvSpPr>
        <p:spPr>
          <a:xfrm>
            <a:off x="4686300" y="3049600"/>
            <a:ext cx="30000" cy="190000"/>
          </a:xfrm>
          <a:prstGeom prst="rect">
            <a:avLst/>
          </a:prstGeom>
          <a:noFill/>
          <a:ln/>
        </p:spPr>
        <p:txBody>
          <a:bodyPr wrap="square" lIns="0" tIns="0" rIns="0" bIns="0" rtlCol="0" anchor="t"/>
          <a:lstStyle/>
          <a:p>
            <a:pPr marL="0" indent="0" algn="l">
              <a:buNone/>
            </a:pPr>
            <a:r>
              <a:rPr lang="en-US" sz="950" b="1" dirty="0">
                <a:solidFill>
                  <a:srgbClr val="D97706"/>
                </a:solidFill>
              </a:rPr>
              <a:t>•</a:t>
            </a:r>
          </a:p>
        </p:txBody>
      </p:sp>
      <p:sp>
        <p:nvSpPr>
          <p:cNvPr id="143" name="Text"/>
          <p:cNvSpPr/>
          <p:nvPr/>
        </p:nvSpPr>
        <p:spPr>
          <a:xfrm>
            <a:off x="4886300" y="3049600"/>
            <a:ext cx="3800500" cy="190000"/>
          </a:xfrm>
          <a:prstGeom prst="rect">
            <a:avLst/>
          </a:prstGeom>
          <a:noFill/>
          <a:ln/>
        </p:spPr>
        <p:txBody>
          <a:bodyPr wrap="square" lIns="0" tIns="0" rIns="0" bIns="0" rtlCol="0" anchor="t"/>
          <a:lstStyle/>
          <a:p>
            <a:pPr marL="0" indent="0" algn="l">
              <a:buNone/>
            </a:pPr>
            <a:r>
              <a:rPr lang="en-US" sz="850" b="0" dirty="0">
                <a:solidFill>
                  <a:srgbClr val="E2E8F0"/>
                </a:solidFill>
              </a:rPr>
              <a:t>NPA risk &amp; CRAR indicators</a:t>
            </a:r>
          </a:p>
        </p:txBody>
      </p:sp>
      <p:sp>
        <p:nvSpPr>
          <p:cNvPr id="144" name="Text"/>
          <p:cNvSpPr/>
          <p:nvPr/>
        </p:nvSpPr>
        <p:spPr>
          <a:xfrm>
            <a:off x="4686300" y="3299600"/>
            <a:ext cx="30000" cy="190000"/>
          </a:xfrm>
          <a:prstGeom prst="rect">
            <a:avLst/>
          </a:prstGeom>
          <a:noFill/>
          <a:ln/>
        </p:spPr>
        <p:txBody>
          <a:bodyPr wrap="square" lIns="0" tIns="0" rIns="0" bIns="0" rtlCol="0" anchor="t"/>
          <a:lstStyle/>
          <a:p>
            <a:pPr marL="0" indent="0" algn="l">
              <a:buNone/>
            </a:pPr>
            <a:r>
              <a:rPr lang="en-US" sz="950" b="1" dirty="0">
                <a:solidFill>
                  <a:srgbClr val="D97706"/>
                </a:solidFill>
              </a:rPr>
              <a:t>•</a:t>
            </a:r>
          </a:p>
        </p:txBody>
      </p:sp>
      <p:sp>
        <p:nvSpPr>
          <p:cNvPr id="145" name="Text"/>
          <p:cNvSpPr/>
          <p:nvPr/>
        </p:nvSpPr>
        <p:spPr>
          <a:xfrm>
            <a:off x="4886300" y="3299600"/>
            <a:ext cx="3800500" cy="190000"/>
          </a:xfrm>
          <a:prstGeom prst="rect">
            <a:avLst/>
          </a:prstGeom>
          <a:noFill/>
          <a:ln/>
        </p:spPr>
        <p:txBody>
          <a:bodyPr wrap="square" lIns="0" tIns="0" rIns="0" bIns="0" rtlCol="0" anchor="t"/>
          <a:lstStyle/>
          <a:p>
            <a:pPr marL="0" indent="0" algn="l">
              <a:buNone/>
            </a:pPr>
            <a:r>
              <a:rPr lang="en-US" sz="850" b="0" dirty="0">
                <a:solidFill>
                  <a:srgbClr val="E2E8F0"/>
                </a:solidFill>
              </a:rPr>
              <a:t>Fraud detection flags</a:t>
            </a:r>
          </a:p>
        </p:txBody>
      </p:sp>
      <p:sp>
        <p:nvSpPr>
          <p:cNvPr id="146" name="Text"/>
          <p:cNvSpPr/>
          <p:nvPr/>
        </p:nvSpPr>
        <p:spPr>
          <a:xfrm>
            <a:off x="4686300" y="3549600"/>
            <a:ext cx="30000" cy="190000"/>
          </a:xfrm>
          <a:prstGeom prst="rect">
            <a:avLst/>
          </a:prstGeom>
          <a:noFill/>
          <a:ln/>
        </p:spPr>
        <p:txBody>
          <a:bodyPr wrap="square" lIns="0" tIns="0" rIns="0" bIns="0" rtlCol="0" anchor="t"/>
          <a:lstStyle/>
          <a:p>
            <a:pPr marL="0" indent="0" algn="l">
              <a:buNone/>
            </a:pPr>
            <a:r>
              <a:rPr lang="en-US" sz="950" b="1" dirty="0">
                <a:solidFill>
                  <a:srgbClr val="D97706"/>
                </a:solidFill>
              </a:rPr>
              <a:t>•</a:t>
            </a:r>
          </a:p>
        </p:txBody>
      </p:sp>
      <p:sp>
        <p:nvSpPr>
          <p:cNvPr id="147" name="Text"/>
          <p:cNvSpPr/>
          <p:nvPr/>
        </p:nvSpPr>
        <p:spPr>
          <a:xfrm>
            <a:off x="4886300" y="3549600"/>
            <a:ext cx="3800500" cy="190000"/>
          </a:xfrm>
          <a:prstGeom prst="rect">
            <a:avLst/>
          </a:prstGeom>
          <a:noFill/>
          <a:ln/>
        </p:spPr>
        <p:txBody>
          <a:bodyPr wrap="square" lIns="0" tIns="0" rIns="0" bIns="0" rtlCol="0" anchor="t"/>
          <a:lstStyle/>
          <a:p>
            <a:pPr marL="0" indent="0" algn="l">
              <a:buNone/>
            </a:pPr>
            <a:r>
              <a:rPr lang="en-US" sz="850" b="0" dirty="0">
                <a:solidFill>
                  <a:srgbClr val="E2E8F0"/>
                </a:solidFill>
              </a:rPr>
              <a:t>Applicant financial summary</a:t>
            </a:r>
          </a:p>
        </p:txBody>
      </p:sp>
      <p:sp>
        <p:nvSpPr>
          <p:cNvPr id="148" name="Text"/>
          <p:cNvSpPr/>
          <p:nvPr/>
        </p:nvSpPr>
        <p:spPr>
          <a:xfrm>
            <a:off x="4686300" y="3799600"/>
            <a:ext cx="30000" cy="190000"/>
          </a:xfrm>
          <a:prstGeom prst="rect">
            <a:avLst/>
          </a:prstGeom>
          <a:noFill/>
          <a:ln/>
        </p:spPr>
        <p:txBody>
          <a:bodyPr wrap="square" lIns="0" tIns="0" rIns="0" bIns="0" rtlCol="0" anchor="t"/>
          <a:lstStyle/>
          <a:p>
            <a:pPr marL="0" indent="0" algn="l">
              <a:buNone/>
            </a:pPr>
            <a:r>
              <a:rPr lang="en-US" sz="950" b="1" dirty="0">
                <a:solidFill>
                  <a:srgbClr val="D97706"/>
                </a:solidFill>
              </a:rPr>
              <a:t>•</a:t>
            </a:r>
          </a:p>
        </p:txBody>
      </p:sp>
      <p:sp>
        <p:nvSpPr>
          <p:cNvPr id="149" name="Text"/>
          <p:cNvSpPr/>
          <p:nvPr/>
        </p:nvSpPr>
        <p:spPr>
          <a:xfrm>
            <a:off x="4886300" y="3799600"/>
            <a:ext cx="3800500" cy="190000"/>
          </a:xfrm>
          <a:prstGeom prst="rect">
            <a:avLst/>
          </a:prstGeom>
          <a:noFill/>
          <a:ln/>
        </p:spPr>
        <p:txBody>
          <a:bodyPr wrap="square" lIns="0" tIns="0" rIns="0" bIns="0" rtlCol="0" anchor="t"/>
          <a:lstStyle/>
          <a:p>
            <a:pPr marL="0" indent="0" algn="l">
              <a:buNone/>
            </a:pPr>
            <a:r>
              <a:rPr lang="en-US" sz="850" b="0" dirty="0">
                <a:solidFill>
                  <a:srgbClr val="E2E8F0"/>
                </a:solidFill>
              </a:rPr>
              <a:t>Loan approve / reject decision</a:t>
            </a:r>
          </a:p>
        </p:txBody>
      </p:sp>
      <p:sp>
        <p:nvSpPr>
          <p:cNvPr id="150" name="Text"/>
          <p:cNvSpPr/>
          <p:nvPr/>
        </p:nvSpPr>
        <p:spPr>
          <a:xfrm>
            <a:off x="4686300" y="4049600"/>
            <a:ext cx="30000" cy="190000"/>
          </a:xfrm>
          <a:prstGeom prst="rect">
            <a:avLst/>
          </a:prstGeom>
          <a:noFill/>
          <a:ln/>
        </p:spPr>
        <p:txBody>
          <a:bodyPr wrap="square" lIns="0" tIns="0" rIns="0" bIns="0" rtlCol="0" anchor="t"/>
          <a:lstStyle/>
          <a:p>
            <a:pPr marL="0" indent="0" algn="l">
              <a:buNone/>
            </a:pPr>
            <a:r>
              <a:rPr lang="en-US" sz="950" b="1" dirty="0">
                <a:solidFill>
                  <a:srgbClr val="D97706"/>
                </a:solidFill>
              </a:rPr>
              <a:t>•</a:t>
            </a:r>
          </a:p>
        </p:txBody>
      </p:sp>
      <p:sp>
        <p:nvSpPr>
          <p:cNvPr id="151" name="Text"/>
          <p:cNvSpPr/>
          <p:nvPr/>
        </p:nvSpPr>
        <p:spPr>
          <a:xfrm>
            <a:off x="4886300" y="4049600"/>
            <a:ext cx="3800500" cy="190000"/>
          </a:xfrm>
          <a:prstGeom prst="rect">
            <a:avLst/>
          </a:prstGeom>
          <a:noFill/>
          <a:ln/>
        </p:spPr>
        <p:txBody>
          <a:bodyPr wrap="square" lIns="0" tIns="0" rIns="0" bIns="0" rtlCol="0" anchor="t"/>
          <a:lstStyle/>
          <a:p>
            <a:pPr marL="0" indent="0" algn="l">
              <a:buNone/>
            </a:pPr>
            <a:r>
              <a:rPr lang="en-US" sz="850" b="0" dirty="0">
                <a:solidFill>
                  <a:srgbClr val="E2E8F0"/>
                </a:solidFill>
              </a:rPr>
              <a:t>Capital adequacy assessment</a:t>
            </a:r>
          </a:p>
        </p:txBody>
      </p:sp>
      <p:sp>
        <p:nvSpPr>
          <p:cNvPr id="152" name="Text"/>
          <p:cNvSpPr/>
          <p:nvPr/>
        </p:nvSpPr>
        <p:spPr>
          <a:xfrm>
            <a:off x="4686300" y="4299600"/>
            <a:ext cx="30000" cy="190000"/>
          </a:xfrm>
          <a:prstGeom prst="rect">
            <a:avLst/>
          </a:prstGeom>
          <a:noFill/>
          <a:ln/>
        </p:spPr>
        <p:txBody>
          <a:bodyPr wrap="square" lIns="0" tIns="0" rIns="0" bIns="0" rtlCol="0" anchor="t"/>
          <a:lstStyle/>
          <a:p>
            <a:pPr marL="0" indent="0" algn="l">
              <a:buNone/>
            </a:pPr>
            <a:r>
              <a:rPr lang="en-US" sz="950" b="1" dirty="0">
                <a:solidFill>
                  <a:srgbClr val="D97706"/>
                </a:solidFill>
              </a:rPr>
              <a:t>•</a:t>
            </a:r>
          </a:p>
        </p:txBody>
      </p:sp>
      <p:sp>
        <p:nvSpPr>
          <p:cNvPr id="153" name="Text"/>
          <p:cNvSpPr/>
          <p:nvPr/>
        </p:nvSpPr>
        <p:spPr>
          <a:xfrm>
            <a:off x="4886300" y="4299600"/>
            <a:ext cx="3800500" cy="190000"/>
          </a:xfrm>
          <a:prstGeom prst="rect">
            <a:avLst/>
          </a:prstGeom>
          <a:noFill/>
          <a:ln/>
        </p:spPr>
        <p:txBody>
          <a:bodyPr wrap="square" lIns="0" tIns="0" rIns="0" bIns="0" rtlCol="0" anchor="t"/>
          <a:lstStyle/>
          <a:p>
            <a:pPr marL="0" indent="0" algn="l">
              <a:buNone/>
            </a:pPr>
            <a:r>
              <a:rPr lang="en-US" sz="850" b="0" dirty="0">
                <a:solidFill>
                  <a:srgbClr val="E2E8F0"/>
                </a:solidFill>
              </a:rPr>
              <a:t>Structured executive report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480060" y="377190"/>
            <a:ext cx="4114800" cy="240030"/>
          </a:xfrm>
          <a:prstGeom prst="rect">
            <a:avLst/>
          </a:prstGeom>
          <a:noFill/>
          <a:ln/>
        </p:spPr>
        <p:txBody>
          <a:bodyPr wrap="square" lIns="0" tIns="0" rIns="0" bIns="0" rtlCol="0" anchor="ctr"/>
          <a:lstStyle/>
          <a:p>
            <a:r>
              <a:rPr lang="en-US" sz="938" b="1" kern="0" spc="150" dirty="0">
                <a:solidFill>
                  <a:srgbClr val="EF6156"/>
                </a:solidFill>
                <a:latin typeface="Calibri" pitchFamily="34" charset="0"/>
                <a:ea typeface="Calibri" pitchFamily="34" charset="-122"/>
                <a:cs typeface="Calibri" pitchFamily="34" charset="-120"/>
              </a:rPr>
              <a:t>CORE FEATURE</a:t>
            </a:r>
            <a:endParaRPr lang="en-US" sz="938" dirty="0"/>
          </a:p>
        </p:txBody>
      </p:sp>
      <p:sp>
        <p:nvSpPr>
          <p:cNvPr id="3" name="Text 1"/>
          <p:cNvSpPr/>
          <p:nvPr/>
        </p:nvSpPr>
        <p:spPr>
          <a:xfrm>
            <a:off x="480060" y="617220"/>
            <a:ext cx="7886700" cy="480060"/>
          </a:xfrm>
          <a:prstGeom prst="rect">
            <a:avLst/>
          </a:prstGeom>
          <a:noFill/>
          <a:ln/>
        </p:spPr>
        <p:txBody>
          <a:bodyPr wrap="square" lIns="0" tIns="0" rIns="0" bIns="0" rtlCol="0" anchor="ctr"/>
          <a:lstStyle/>
          <a:p>
            <a:r>
              <a:rPr lang="en-US" sz="2025" b="1" dirty="0">
                <a:solidFill>
                  <a:schemeClr val="bg1"/>
                </a:solidFill>
                <a:latin typeface="Cambria" pitchFamily="34" charset="0"/>
                <a:ea typeface="Cambria" pitchFamily="34" charset="-122"/>
                <a:cs typeface="Cambria" pitchFamily="34" charset="-120"/>
              </a:rPr>
              <a:t>Understanding the documents, then scoring the risk</a:t>
            </a:r>
            <a:endParaRPr lang="en-US" sz="2025" dirty="0">
              <a:solidFill>
                <a:schemeClr val="bg1"/>
              </a:solidFill>
            </a:endParaRPr>
          </a:p>
        </p:txBody>
      </p:sp>
      <p:sp>
        <p:nvSpPr>
          <p:cNvPr id="4" name="Shape 2"/>
          <p:cNvSpPr/>
          <p:nvPr/>
        </p:nvSpPr>
        <p:spPr>
          <a:xfrm>
            <a:off x="480060" y="1200150"/>
            <a:ext cx="3954666" cy="3360420"/>
          </a:xfrm>
          <a:prstGeom prst="roundRect">
            <a:avLst>
              <a:gd name="adj" fmla="val 1837"/>
            </a:avLst>
          </a:prstGeom>
          <a:solidFill>
            <a:srgbClr val="F5F6FA"/>
          </a:solidFill>
          <a:ln/>
        </p:spPr>
      </p:sp>
      <p:sp>
        <p:nvSpPr>
          <p:cNvPr id="5" name="Shape 3"/>
          <p:cNvSpPr/>
          <p:nvPr/>
        </p:nvSpPr>
        <p:spPr>
          <a:xfrm>
            <a:off x="685800" y="1405890"/>
            <a:ext cx="411480" cy="41148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788670" y="1508760"/>
            <a:ext cx="205740" cy="205740"/>
          </a:xfrm>
          <a:prstGeom prst="rect">
            <a:avLst/>
          </a:prstGeom>
        </p:spPr>
      </p:pic>
      <p:sp>
        <p:nvSpPr>
          <p:cNvPr id="7" name="Text 4"/>
          <p:cNvSpPr/>
          <p:nvPr/>
        </p:nvSpPr>
        <p:spPr>
          <a:xfrm>
            <a:off x="1200150" y="1405890"/>
            <a:ext cx="3063126" cy="411480"/>
          </a:xfrm>
          <a:prstGeom prst="rect">
            <a:avLst/>
          </a:prstGeom>
          <a:noFill/>
          <a:ln/>
        </p:spPr>
        <p:txBody>
          <a:bodyPr wrap="square" lIns="0" tIns="0" rIns="0" bIns="0" rtlCol="0" anchor="ctr"/>
          <a:lstStyle/>
          <a:p>
            <a:r>
              <a:rPr lang="en-US" sz="1275" b="1" dirty="0">
                <a:solidFill>
                  <a:srgbClr val="1E2A44"/>
                </a:solidFill>
                <a:latin typeface="Cambria" pitchFamily="34" charset="0"/>
                <a:ea typeface="Cambria" pitchFamily="34" charset="-122"/>
                <a:cs typeface="Cambria" pitchFamily="34" charset="-120"/>
              </a:rPr>
              <a:t>Document Summary</a:t>
            </a:r>
            <a:endParaRPr lang="en-US" sz="1275" dirty="0"/>
          </a:p>
        </p:txBody>
      </p:sp>
      <p:sp>
        <p:nvSpPr>
          <p:cNvPr id="8" name="Text 5"/>
          <p:cNvSpPr/>
          <p:nvPr/>
        </p:nvSpPr>
        <p:spPr>
          <a:xfrm>
            <a:off x="685800" y="1954530"/>
            <a:ext cx="3543186" cy="754380"/>
          </a:xfrm>
          <a:prstGeom prst="rect">
            <a:avLst/>
          </a:prstGeom>
          <a:noFill/>
          <a:ln/>
        </p:spPr>
        <p:txBody>
          <a:bodyPr wrap="square" lIns="0" tIns="0" rIns="0" bIns="0" rtlCol="0" anchor="ctr"/>
          <a:lstStyle/>
          <a:p>
            <a:pPr>
              <a:lnSpc>
                <a:spcPct val="120000"/>
              </a:lnSpc>
            </a:pPr>
            <a:r>
              <a:rPr lang="en-US" sz="900" dirty="0">
                <a:solidFill>
                  <a:srgbClr val="667085"/>
                </a:solidFill>
                <a:latin typeface="Calibri" pitchFamily="34" charset="0"/>
                <a:ea typeface="Calibri" pitchFamily="34" charset="-122"/>
                <a:cs typeface="Calibri" pitchFamily="34" charset="-120"/>
              </a:rPr>
              <a:t>The AI reads every uploaded PDF and pulls out the numbers that actually matter — income, expenses, existing loans, balances — and lays them out in plain language instead of raw pages.</a:t>
            </a:r>
            <a:endParaRPr lang="en-US" sz="900" dirty="0"/>
          </a:p>
        </p:txBody>
      </p:sp>
      <p:sp>
        <p:nvSpPr>
          <p:cNvPr id="9" name="Shape 6"/>
          <p:cNvSpPr/>
          <p:nvPr/>
        </p:nvSpPr>
        <p:spPr>
          <a:xfrm>
            <a:off x="685800" y="2811780"/>
            <a:ext cx="3543186" cy="1611630"/>
          </a:xfrm>
          <a:prstGeom prst="roundRect">
            <a:avLst>
              <a:gd name="adj" fmla="val 3404"/>
            </a:avLst>
          </a:prstGeom>
          <a:solidFill>
            <a:srgbClr val="FBFBFD"/>
          </a:solidFill>
          <a:ln w="19050">
            <a:solidFill>
              <a:srgbClr val="C7CCE0"/>
            </a:solidFill>
            <a:prstDash val="dash"/>
          </a:ln>
        </p:spPr>
      </p:sp>
      <p:pic>
        <p:nvPicPr>
          <p:cNvPr id="10" name="Image 1" descr="preencoded.png"/>
          <p:cNvPicPr>
            <a:picLocks noChangeAspect="1"/>
          </p:cNvPicPr>
          <p:nvPr/>
        </p:nvPicPr>
        <p:blipFill>
          <a:blip r:embed="rId4"/>
          <a:stretch>
            <a:fillRect/>
          </a:stretch>
        </p:blipFill>
        <p:spPr>
          <a:xfrm>
            <a:off x="2268798" y="3116961"/>
            <a:ext cx="377190" cy="377190"/>
          </a:xfrm>
          <a:prstGeom prst="rect">
            <a:avLst/>
          </a:prstGeom>
        </p:spPr>
      </p:pic>
      <p:sp>
        <p:nvSpPr>
          <p:cNvPr id="11" name="Text 7"/>
          <p:cNvSpPr/>
          <p:nvPr/>
        </p:nvSpPr>
        <p:spPr>
          <a:xfrm>
            <a:off x="822960" y="3583305"/>
            <a:ext cx="3268866" cy="342900"/>
          </a:xfrm>
          <a:prstGeom prst="rect">
            <a:avLst/>
          </a:prstGeom>
          <a:noFill/>
          <a:ln/>
        </p:spPr>
        <p:txBody>
          <a:bodyPr wrap="square" lIns="0" tIns="0" rIns="0" bIns="0" rtlCol="0" anchor="ctr"/>
          <a:lstStyle/>
          <a:p>
            <a:pPr algn="ctr"/>
            <a:r>
              <a:rPr lang="en-US" sz="863" b="1" dirty="0">
                <a:solidFill>
                  <a:srgbClr val="8890B5"/>
                </a:solidFill>
                <a:latin typeface="Calibri" pitchFamily="34" charset="0"/>
                <a:ea typeface="Calibri" pitchFamily="34" charset="-122"/>
                <a:cs typeface="Calibri" pitchFamily="34" charset="-120"/>
              </a:rPr>
              <a:t>Document Summary Screen</a:t>
            </a:r>
            <a:endParaRPr lang="en-US" sz="863" dirty="0"/>
          </a:p>
        </p:txBody>
      </p:sp>
      <p:sp>
        <p:nvSpPr>
          <p:cNvPr id="12" name="Text 8"/>
          <p:cNvSpPr/>
          <p:nvPr/>
        </p:nvSpPr>
        <p:spPr>
          <a:xfrm>
            <a:off x="822960" y="3837051"/>
            <a:ext cx="3268866" cy="240030"/>
          </a:xfrm>
          <a:prstGeom prst="rect">
            <a:avLst/>
          </a:prstGeom>
          <a:noFill/>
          <a:ln/>
        </p:spPr>
        <p:txBody>
          <a:bodyPr wrap="square" lIns="0" tIns="0" rIns="0" bIns="0" rtlCol="0" anchor="ctr"/>
          <a:lstStyle/>
          <a:p>
            <a:pPr algn="ctr"/>
            <a:r>
              <a:rPr lang="en-US" sz="713" i="1" dirty="0">
                <a:solidFill>
                  <a:srgbClr val="AEB4D2"/>
                </a:solidFill>
                <a:latin typeface="Calibri" pitchFamily="34" charset="0"/>
                <a:ea typeface="Calibri" pitchFamily="34" charset="-122"/>
                <a:cs typeface="Calibri" pitchFamily="34" charset="-120"/>
              </a:rPr>
              <a:t>Paste your screenshot here</a:t>
            </a:r>
            <a:endParaRPr lang="en-US" sz="713" dirty="0"/>
          </a:p>
        </p:txBody>
      </p:sp>
      <p:sp>
        <p:nvSpPr>
          <p:cNvPr id="13" name="Shape 9"/>
          <p:cNvSpPr/>
          <p:nvPr/>
        </p:nvSpPr>
        <p:spPr>
          <a:xfrm>
            <a:off x="4709046" y="1200150"/>
            <a:ext cx="3954666" cy="3360420"/>
          </a:xfrm>
          <a:prstGeom prst="roundRect">
            <a:avLst>
              <a:gd name="adj" fmla="val 1837"/>
            </a:avLst>
          </a:prstGeom>
          <a:solidFill>
            <a:srgbClr val="F5F6FA"/>
          </a:solidFill>
          <a:ln/>
        </p:spPr>
      </p:sp>
      <p:sp>
        <p:nvSpPr>
          <p:cNvPr id="14" name="Shape 10"/>
          <p:cNvSpPr/>
          <p:nvPr/>
        </p:nvSpPr>
        <p:spPr>
          <a:xfrm>
            <a:off x="4914786" y="1405890"/>
            <a:ext cx="411480" cy="411480"/>
          </a:xfrm>
          <a:prstGeom prst="ellipse">
            <a:avLst/>
          </a:prstGeom>
          <a:solidFill>
            <a:srgbClr val="FFFFFF"/>
          </a:solidFill>
          <a:ln/>
        </p:spPr>
      </p:sp>
      <p:pic>
        <p:nvPicPr>
          <p:cNvPr id="15" name="Image 2" descr="preencoded.png"/>
          <p:cNvPicPr>
            <a:picLocks noChangeAspect="1"/>
          </p:cNvPicPr>
          <p:nvPr/>
        </p:nvPicPr>
        <p:blipFill>
          <a:blip r:embed="rId5"/>
          <a:stretch>
            <a:fillRect/>
          </a:stretch>
        </p:blipFill>
        <p:spPr>
          <a:xfrm>
            <a:off x="5017656" y="1508760"/>
            <a:ext cx="205740" cy="205740"/>
          </a:xfrm>
          <a:prstGeom prst="rect">
            <a:avLst/>
          </a:prstGeom>
        </p:spPr>
      </p:pic>
      <p:sp>
        <p:nvSpPr>
          <p:cNvPr id="16" name="Text 11"/>
          <p:cNvSpPr/>
          <p:nvPr/>
        </p:nvSpPr>
        <p:spPr>
          <a:xfrm>
            <a:off x="5429136" y="1405890"/>
            <a:ext cx="3063126" cy="411480"/>
          </a:xfrm>
          <a:prstGeom prst="rect">
            <a:avLst/>
          </a:prstGeom>
          <a:noFill/>
          <a:ln/>
        </p:spPr>
        <p:txBody>
          <a:bodyPr wrap="square" lIns="0" tIns="0" rIns="0" bIns="0" rtlCol="0" anchor="ctr"/>
          <a:lstStyle/>
          <a:p>
            <a:r>
              <a:rPr lang="en-US" sz="1275" b="1" dirty="0">
                <a:solidFill>
                  <a:srgbClr val="1E2A44"/>
                </a:solidFill>
                <a:latin typeface="Cambria" pitchFamily="34" charset="0"/>
                <a:ea typeface="Cambria" pitchFamily="34" charset="-122"/>
                <a:cs typeface="Cambria" pitchFamily="34" charset="-120"/>
              </a:rPr>
              <a:t>Risk Analysis</a:t>
            </a:r>
            <a:endParaRPr lang="en-US" sz="1275" dirty="0"/>
          </a:p>
        </p:txBody>
      </p:sp>
      <p:sp>
        <p:nvSpPr>
          <p:cNvPr id="17" name="Text 12"/>
          <p:cNvSpPr/>
          <p:nvPr/>
        </p:nvSpPr>
        <p:spPr>
          <a:xfrm>
            <a:off x="4914786" y="1954530"/>
            <a:ext cx="3543186" cy="754380"/>
          </a:xfrm>
          <a:prstGeom prst="rect">
            <a:avLst/>
          </a:prstGeom>
          <a:noFill/>
          <a:ln/>
        </p:spPr>
        <p:txBody>
          <a:bodyPr wrap="square" lIns="0" tIns="0" rIns="0" bIns="0" rtlCol="0" anchor="ctr"/>
          <a:lstStyle/>
          <a:p>
            <a:pPr>
              <a:lnSpc>
                <a:spcPct val="120000"/>
              </a:lnSpc>
            </a:pPr>
            <a:r>
              <a:rPr lang="en-US" sz="900" dirty="0">
                <a:solidFill>
                  <a:srgbClr val="667085"/>
                </a:solidFill>
                <a:latin typeface="Calibri" pitchFamily="34" charset="0"/>
                <a:ea typeface="Calibri" pitchFamily="34" charset="-122"/>
                <a:cs typeface="Calibri" pitchFamily="34" charset="-120"/>
              </a:rPr>
              <a:t>From that summary, the app calculates a credit risk score out of 100, and explains it — what's working in the applicant's favor, what the red flags are, and how much of their income already goes toward debt.</a:t>
            </a:r>
            <a:endParaRPr lang="en-US" sz="900" dirty="0"/>
          </a:p>
        </p:txBody>
      </p:sp>
      <p:sp>
        <p:nvSpPr>
          <p:cNvPr id="18" name="Shape 13"/>
          <p:cNvSpPr/>
          <p:nvPr/>
        </p:nvSpPr>
        <p:spPr>
          <a:xfrm>
            <a:off x="4914786" y="2811780"/>
            <a:ext cx="3543186" cy="1611630"/>
          </a:xfrm>
          <a:prstGeom prst="roundRect">
            <a:avLst>
              <a:gd name="adj" fmla="val 3404"/>
            </a:avLst>
          </a:prstGeom>
          <a:solidFill>
            <a:srgbClr val="FBFBFD"/>
          </a:solidFill>
          <a:ln w="19050">
            <a:solidFill>
              <a:srgbClr val="C7CCE0"/>
            </a:solidFill>
            <a:prstDash val="dash"/>
          </a:ln>
        </p:spPr>
      </p:sp>
      <p:pic>
        <p:nvPicPr>
          <p:cNvPr id="19" name="Image 3" descr="preencoded.png"/>
          <p:cNvPicPr>
            <a:picLocks noChangeAspect="1"/>
          </p:cNvPicPr>
          <p:nvPr/>
        </p:nvPicPr>
        <p:blipFill>
          <a:blip r:embed="rId4"/>
          <a:stretch>
            <a:fillRect/>
          </a:stretch>
        </p:blipFill>
        <p:spPr>
          <a:xfrm>
            <a:off x="6497783" y="3116961"/>
            <a:ext cx="377190" cy="377190"/>
          </a:xfrm>
          <a:prstGeom prst="rect">
            <a:avLst/>
          </a:prstGeom>
        </p:spPr>
      </p:pic>
      <p:sp>
        <p:nvSpPr>
          <p:cNvPr id="20" name="Text 14"/>
          <p:cNvSpPr/>
          <p:nvPr/>
        </p:nvSpPr>
        <p:spPr>
          <a:xfrm>
            <a:off x="5051946" y="3583305"/>
            <a:ext cx="3268866" cy="342900"/>
          </a:xfrm>
          <a:prstGeom prst="rect">
            <a:avLst/>
          </a:prstGeom>
          <a:noFill/>
          <a:ln/>
        </p:spPr>
        <p:txBody>
          <a:bodyPr wrap="square" lIns="0" tIns="0" rIns="0" bIns="0" rtlCol="0" anchor="ctr"/>
          <a:lstStyle/>
          <a:p>
            <a:pPr algn="ctr"/>
            <a:r>
              <a:rPr lang="en-US" sz="863" b="1" dirty="0">
                <a:solidFill>
                  <a:srgbClr val="8890B5"/>
                </a:solidFill>
                <a:latin typeface="Calibri" pitchFamily="34" charset="0"/>
                <a:ea typeface="Calibri" pitchFamily="34" charset="-122"/>
                <a:cs typeface="Calibri" pitchFamily="34" charset="-120"/>
              </a:rPr>
              <a:t>Risk Analysis Screen</a:t>
            </a:r>
            <a:endParaRPr lang="en-US" sz="863" dirty="0"/>
          </a:p>
        </p:txBody>
      </p:sp>
      <p:sp>
        <p:nvSpPr>
          <p:cNvPr id="21" name="Text 15"/>
          <p:cNvSpPr/>
          <p:nvPr/>
        </p:nvSpPr>
        <p:spPr>
          <a:xfrm>
            <a:off x="5051946" y="3837051"/>
            <a:ext cx="3268866" cy="240030"/>
          </a:xfrm>
          <a:prstGeom prst="rect">
            <a:avLst/>
          </a:prstGeom>
          <a:noFill/>
          <a:ln/>
        </p:spPr>
        <p:txBody>
          <a:bodyPr wrap="square" lIns="0" tIns="0" rIns="0" bIns="0" rtlCol="0" anchor="ctr"/>
          <a:lstStyle/>
          <a:p>
            <a:pPr algn="ctr"/>
            <a:r>
              <a:rPr lang="en-US" sz="713" i="1" dirty="0">
                <a:solidFill>
                  <a:srgbClr val="AEB4D2"/>
                </a:solidFill>
                <a:latin typeface="Calibri" pitchFamily="34" charset="0"/>
                <a:ea typeface="Calibri" pitchFamily="34" charset="-122"/>
                <a:cs typeface="Calibri" pitchFamily="34" charset="-120"/>
              </a:rPr>
              <a:t>Paste your screenshot here</a:t>
            </a:r>
            <a:endParaRPr lang="en-US" sz="713" dirty="0"/>
          </a:p>
        </p:txBody>
      </p:sp>
      <p:sp>
        <p:nvSpPr>
          <p:cNvPr id="22" name="Text 16"/>
          <p:cNvSpPr/>
          <p:nvPr/>
        </p:nvSpPr>
        <p:spPr>
          <a:xfrm>
            <a:off x="480060" y="4800600"/>
            <a:ext cx="3429000" cy="205740"/>
          </a:xfrm>
          <a:prstGeom prst="rect">
            <a:avLst/>
          </a:prstGeom>
          <a:noFill/>
          <a:ln/>
        </p:spPr>
        <p:txBody>
          <a:bodyPr wrap="square" lIns="0" tIns="0" rIns="0" bIns="0" rtlCol="0" anchor="ctr"/>
          <a:lstStyle/>
          <a:p>
            <a:r>
              <a:rPr lang="en-US" sz="750" dirty="0">
                <a:solidFill>
                  <a:srgbClr val="667085"/>
                </a:solidFill>
                <a:latin typeface="Calibri" pitchFamily="34" charset="0"/>
                <a:ea typeface="Calibri" pitchFamily="34" charset="-122"/>
                <a:cs typeface="Calibri" pitchFamily="34" charset="-120"/>
              </a:rPr>
              <a:t>Credit Risk Intelligence Platform</a:t>
            </a:r>
            <a:endParaRPr lang="en-US" sz="750" dirty="0"/>
          </a:p>
        </p:txBody>
      </p:sp>
      <p:sp>
        <p:nvSpPr>
          <p:cNvPr id="23" name="Text 17"/>
          <p:cNvSpPr/>
          <p:nvPr/>
        </p:nvSpPr>
        <p:spPr>
          <a:xfrm>
            <a:off x="8526551" y="4800600"/>
            <a:ext cx="411480" cy="205740"/>
          </a:xfrm>
          <a:prstGeom prst="rect">
            <a:avLst/>
          </a:prstGeom>
          <a:noFill/>
          <a:ln/>
        </p:spPr>
        <p:txBody>
          <a:bodyPr wrap="square" lIns="0" tIns="0" rIns="0" bIns="0" rtlCol="0" anchor="ctr"/>
          <a:lstStyle/>
          <a:p>
            <a:pPr algn="r"/>
            <a:r>
              <a:rPr lang="en-US" sz="750" dirty="0">
                <a:solidFill>
                  <a:srgbClr val="667085"/>
                </a:solidFill>
                <a:latin typeface="Calibri" pitchFamily="34" charset="0"/>
                <a:ea typeface="Calibri" pitchFamily="34" charset="-122"/>
                <a:cs typeface="Calibri" pitchFamily="34" charset="-120"/>
              </a:rPr>
              <a:t>07</a:t>
            </a:r>
            <a:endParaRPr lang="en-US" sz="750" dirty="0"/>
          </a:p>
        </p:txBody>
      </p:sp>
      <p:pic>
        <p:nvPicPr>
          <p:cNvPr id="25" name="Picture 24">
            <a:extLst>
              <a:ext uri="{FF2B5EF4-FFF2-40B4-BE49-F238E27FC236}">
                <a16:creationId xmlns:a16="http://schemas.microsoft.com/office/drawing/2014/main" id="{59C93F49-5CBB-6A40-7F34-5B986D725910}"/>
              </a:ext>
            </a:extLst>
          </p:cNvPr>
          <p:cNvPicPr>
            <a:picLocks noChangeAspect="1"/>
          </p:cNvPicPr>
          <p:nvPr/>
        </p:nvPicPr>
        <p:blipFill>
          <a:blip r:embed="rId6"/>
          <a:stretch>
            <a:fillRect/>
          </a:stretch>
        </p:blipFill>
        <p:spPr>
          <a:xfrm>
            <a:off x="696074" y="2811781"/>
            <a:ext cx="3567201" cy="1611629"/>
          </a:xfrm>
          <a:prstGeom prst="rect">
            <a:avLst/>
          </a:prstGeom>
        </p:spPr>
      </p:pic>
      <p:pic>
        <p:nvPicPr>
          <p:cNvPr id="27" name="Picture 26">
            <a:extLst>
              <a:ext uri="{FF2B5EF4-FFF2-40B4-BE49-F238E27FC236}">
                <a16:creationId xmlns:a16="http://schemas.microsoft.com/office/drawing/2014/main" id="{30E07E07-A533-5DD9-13AD-7FA66E087458}"/>
              </a:ext>
            </a:extLst>
          </p:cNvPr>
          <p:cNvPicPr>
            <a:picLocks noChangeAspect="1"/>
          </p:cNvPicPr>
          <p:nvPr/>
        </p:nvPicPr>
        <p:blipFill>
          <a:blip r:embed="rId7"/>
          <a:stretch>
            <a:fillRect/>
          </a:stretch>
        </p:blipFill>
        <p:spPr>
          <a:xfrm>
            <a:off x="4953476" y="2811780"/>
            <a:ext cx="3504495" cy="16116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Core Feature Showcase">
    <p:bg>
      <p:bgPr>
        <a:solidFill>
          <a:srgbClr val="0F1B2D"/>
        </a:solidFill>
        <a:effectLst/>
      </p:bgPr>
    </p:bg>
    <p:spTree>
      <p:nvGrpSpPr>
        <p:cNvPr id="1" name=""/>
        <p:cNvGrpSpPr/>
        <p:nvPr/>
      </p:nvGrpSpPr>
      <p:grpSpPr>
        <a:xfrm>
          <a:off x="0" y="0"/>
          <a:ext cx="0" cy="0"/>
          <a:chOff x="0" y="0"/>
          <a:chExt cx="0" cy="0"/>
        </a:xfrm>
      </p:grpSpPr>
      <p:sp>
        <p:nvSpPr>
          <p:cNvPr id="101" name="Badge"/>
          <p:cNvSpPr/>
          <p:nvPr/>
        </p:nvSpPr>
        <p:spPr>
          <a:xfrm>
            <a:off x="457200" y="274320"/>
            <a:ext cx="1650000" cy="256032"/>
          </a:xfrm>
          <a:prstGeom prst="roundRect">
            <a:avLst>
              <a:gd name="adj" fmla="val 50000"/>
            </a:avLst>
          </a:prstGeom>
          <a:solidFill>
            <a:srgbClr val="0891B2">
              <a:alpha val="25000"/>
            </a:srgbClr>
          </a:solidFill>
          <a:ln/>
        </p:spPr>
      </p:sp>
      <p:sp>
        <p:nvSpPr>
          <p:cNvPr id="102" name="BadgeText"/>
          <p:cNvSpPr/>
          <p:nvPr/>
        </p:nvSpPr>
        <p:spPr>
          <a:xfrm>
            <a:off x="457200" y="274320"/>
            <a:ext cx="1650000" cy="256032"/>
          </a:xfrm>
          <a:prstGeom prst="rect">
            <a:avLst/>
          </a:prstGeom>
          <a:noFill/>
          <a:ln/>
        </p:spPr>
        <p:txBody>
          <a:bodyPr wrap="square" lIns="0" tIns="0" rIns="0" bIns="0" rtlCol="0" anchor="ctr"/>
          <a:lstStyle/>
          <a:p>
            <a:pPr marL="0" indent="0" algn="ctr">
              <a:buNone/>
            </a:pPr>
            <a:r>
              <a:rPr lang="en-US" sz="900" b="1" kern="0" spc="150" dirty="0">
                <a:solidFill>
                  <a:srgbClr val="0891B2"/>
                </a:solidFill>
              </a:rPr>
              <a:t>CORE FEATURES</a:t>
            </a:r>
          </a:p>
        </p:txBody>
      </p:sp>
      <p:sp>
        <p:nvSpPr>
          <p:cNvPr id="103" name="Title"/>
          <p:cNvSpPr/>
          <p:nvPr/>
        </p:nvSpPr>
        <p:spPr>
          <a:xfrm>
            <a:off x="457200" y="590000"/>
            <a:ext cx="8229600" cy="4600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rPr>
              <a:t>Recommendations · Retirement · Chat</a:t>
            </a:r>
          </a:p>
        </p:txBody>
      </p:sp>
      <p:sp>
        <p:nvSpPr>
          <p:cNvPr id="104" name="Text"/>
          <p:cNvSpPr/>
          <p:nvPr/>
        </p:nvSpPr>
        <p:spPr>
          <a:xfrm>
            <a:off x="457200" y="1150000"/>
            <a:ext cx="2643200" cy="220000"/>
          </a:xfrm>
          <a:prstGeom prst="rect">
            <a:avLst/>
          </a:prstGeom>
          <a:noFill/>
          <a:ln/>
        </p:spPr>
        <p:txBody>
          <a:bodyPr wrap="square" lIns="0" tIns="0" rIns="0" bIns="0" rtlCol="0" anchor="t"/>
          <a:lstStyle/>
          <a:p>
            <a:pPr marL="0" indent="0" algn="l">
              <a:buNone/>
            </a:pPr>
            <a:r>
              <a:rPr lang="en-US" sz="1000" b="1" dirty="0">
                <a:solidFill>
                  <a:srgbClr val="FFFFFF"/>
                </a:solidFill>
              </a:rPr>
              <a:t>🎯 AI Recommendations</a:t>
            </a:r>
          </a:p>
        </p:txBody>
      </p:sp>
      <p:sp>
        <p:nvSpPr>
          <p:cNvPr id="105" name="Text"/>
          <p:cNvSpPr/>
          <p:nvPr/>
        </p:nvSpPr>
        <p:spPr>
          <a:xfrm>
            <a:off x="457200" y="1380000"/>
            <a:ext cx="2643200" cy="340000"/>
          </a:xfrm>
          <a:prstGeom prst="rect">
            <a:avLst/>
          </a:prstGeom>
          <a:noFill/>
          <a:ln/>
        </p:spPr>
        <p:txBody>
          <a:bodyPr wrap="square" lIns="0" tIns="0" rIns="0" bIns="0" rtlCol="0" anchor="t"/>
          <a:lstStyle/>
          <a:p>
            <a:pPr marL="0" indent="0" algn="l">
              <a:lnSpc>
                <a:spcPct val="115000"/>
              </a:lnSpc>
              <a:buNone/>
            </a:pPr>
            <a:r>
              <a:rPr lang="en-US" sz="800" b="0" dirty="0">
                <a:solidFill>
                  <a:srgbClr val="94A3B8"/>
                </a:solidFill>
              </a:rPr>
              <a:t>Personalised action plan from your risk profile.</a:t>
            </a:r>
          </a:p>
        </p:txBody>
      </p:sp>
      <p:pic>
        <p:nvPicPr>
          <p:cNvPr id="106" name="Shot_rIdImg1"/>
          <p:cNvPicPr>
            <a:picLocks noChangeAspect="1"/>
          </p:cNvPicPr>
          <p:nvPr/>
        </p:nvPicPr>
        <p:blipFill>
          <a:blip r:embed="rId2"/>
          <a:stretch>
            <a:fillRect/>
          </a:stretch>
        </p:blipFill>
        <p:spPr>
          <a:xfrm>
            <a:off x="1003388" y="1750000"/>
            <a:ext cx="1550823" cy="1150000"/>
          </a:xfrm>
          <a:prstGeom prst="roundRect">
            <a:avLst>
              <a:gd name="adj" fmla="val 3000"/>
            </a:avLst>
          </a:prstGeom>
          <a:ln w="12700">
            <a:solidFill>
              <a:srgbClr val="2A3B52"/>
            </a:solidFill>
          </a:ln>
        </p:spPr>
      </p:pic>
      <p:sp>
        <p:nvSpPr>
          <p:cNvPr id="107" name="Text"/>
          <p:cNvSpPr/>
          <p:nvPr/>
        </p:nvSpPr>
        <p:spPr>
          <a:xfrm>
            <a:off x="457200" y="3030000"/>
            <a:ext cx="30000" cy="190000"/>
          </a:xfrm>
          <a:prstGeom prst="rect">
            <a:avLst/>
          </a:prstGeom>
          <a:noFill/>
          <a:ln/>
        </p:spPr>
        <p:txBody>
          <a:bodyPr wrap="square" lIns="0" tIns="0" rIns="0" bIns="0" rtlCol="0" anchor="t"/>
          <a:lstStyle/>
          <a:p>
            <a:pPr marL="0" indent="0" algn="l">
              <a:buNone/>
            </a:pPr>
            <a:r>
              <a:rPr lang="en-US" sz="900" b="1" dirty="0">
                <a:solidFill>
                  <a:srgbClr val="0891B2"/>
                </a:solidFill>
              </a:rPr>
              <a:t>•</a:t>
            </a:r>
          </a:p>
        </p:txBody>
      </p:sp>
      <p:sp>
        <p:nvSpPr>
          <p:cNvPr id="108" name="Text"/>
          <p:cNvSpPr/>
          <p:nvPr/>
        </p:nvSpPr>
        <p:spPr>
          <a:xfrm>
            <a:off x="647200" y="3030000"/>
            <a:ext cx="2453200" cy="190000"/>
          </a:xfrm>
          <a:prstGeom prst="rect">
            <a:avLst/>
          </a:prstGeom>
          <a:noFill/>
          <a:ln/>
        </p:spPr>
        <p:txBody>
          <a:bodyPr wrap="square" lIns="0" tIns="0" rIns="0" bIns="0" rtlCol="0" anchor="t"/>
          <a:lstStyle/>
          <a:p>
            <a:pPr marL="0" indent="0" algn="l">
              <a:buNone/>
            </a:pPr>
            <a:r>
              <a:rPr lang="en-US" sz="780" b="0" dirty="0">
                <a:solidFill>
                  <a:srgbClr val="CBD5E1"/>
                </a:solidFill>
              </a:rPr>
              <a:t>Approve / Review / Reject with reasons</a:t>
            </a:r>
          </a:p>
        </p:txBody>
      </p:sp>
      <p:sp>
        <p:nvSpPr>
          <p:cNvPr id="109" name="Text"/>
          <p:cNvSpPr/>
          <p:nvPr/>
        </p:nvSpPr>
        <p:spPr>
          <a:xfrm>
            <a:off x="457200" y="3265000"/>
            <a:ext cx="30000" cy="190000"/>
          </a:xfrm>
          <a:prstGeom prst="rect">
            <a:avLst/>
          </a:prstGeom>
          <a:noFill/>
          <a:ln/>
        </p:spPr>
        <p:txBody>
          <a:bodyPr wrap="square" lIns="0" tIns="0" rIns="0" bIns="0" rtlCol="0" anchor="t"/>
          <a:lstStyle/>
          <a:p>
            <a:pPr marL="0" indent="0" algn="l">
              <a:buNone/>
            </a:pPr>
            <a:r>
              <a:rPr lang="en-US" sz="900" b="1" dirty="0">
                <a:solidFill>
                  <a:srgbClr val="0891B2"/>
                </a:solidFill>
              </a:rPr>
              <a:t>•</a:t>
            </a:r>
          </a:p>
        </p:txBody>
      </p:sp>
      <p:sp>
        <p:nvSpPr>
          <p:cNvPr id="110" name="Text"/>
          <p:cNvSpPr/>
          <p:nvPr/>
        </p:nvSpPr>
        <p:spPr>
          <a:xfrm>
            <a:off x="647200" y="3265000"/>
            <a:ext cx="2453200" cy="190000"/>
          </a:xfrm>
          <a:prstGeom prst="rect">
            <a:avLst/>
          </a:prstGeom>
          <a:noFill/>
          <a:ln/>
        </p:spPr>
        <p:txBody>
          <a:bodyPr wrap="square" lIns="0" tIns="0" rIns="0" bIns="0" rtlCol="0" anchor="t"/>
          <a:lstStyle/>
          <a:p>
            <a:pPr marL="0" indent="0" algn="l">
              <a:buNone/>
            </a:pPr>
            <a:r>
              <a:rPr lang="en-US" sz="780" b="0" dirty="0">
                <a:solidFill>
                  <a:srgbClr val="CBD5E1"/>
                </a:solidFill>
              </a:rPr>
              <a:t>Alternative financing suggestions</a:t>
            </a:r>
          </a:p>
        </p:txBody>
      </p:sp>
      <p:sp>
        <p:nvSpPr>
          <p:cNvPr id="111" name="Text"/>
          <p:cNvSpPr/>
          <p:nvPr/>
        </p:nvSpPr>
        <p:spPr>
          <a:xfrm>
            <a:off x="457200" y="3500000"/>
            <a:ext cx="30000" cy="190000"/>
          </a:xfrm>
          <a:prstGeom prst="rect">
            <a:avLst/>
          </a:prstGeom>
          <a:noFill/>
          <a:ln/>
        </p:spPr>
        <p:txBody>
          <a:bodyPr wrap="square" lIns="0" tIns="0" rIns="0" bIns="0" rtlCol="0" anchor="t"/>
          <a:lstStyle/>
          <a:p>
            <a:pPr marL="0" indent="0" algn="l">
              <a:buNone/>
            </a:pPr>
            <a:r>
              <a:rPr lang="en-US" sz="900" b="1" dirty="0">
                <a:solidFill>
                  <a:srgbClr val="0891B2"/>
                </a:solidFill>
              </a:rPr>
              <a:t>•</a:t>
            </a:r>
          </a:p>
        </p:txBody>
      </p:sp>
      <p:sp>
        <p:nvSpPr>
          <p:cNvPr id="112" name="Text"/>
          <p:cNvSpPr/>
          <p:nvPr/>
        </p:nvSpPr>
        <p:spPr>
          <a:xfrm>
            <a:off x="647200" y="3500000"/>
            <a:ext cx="2453200" cy="190000"/>
          </a:xfrm>
          <a:prstGeom prst="rect">
            <a:avLst/>
          </a:prstGeom>
          <a:noFill/>
          <a:ln/>
        </p:spPr>
        <p:txBody>
          <a:bodyPr wrap="square" lIns="0" tIns="0" rIns="0" bIns="0" rtlCol="0" anchor="t"/>
          <a:lstStyle/>
          <a:p>
            <a:pPr marL="0" indent="0" algn="l">
              <a:buNone/>
            </a:pPr>
            <a:r>
              <a:rPr lang="en-US" sz="780" b="0" dirty="0">
                <a:solidFill>
                  <a:srgbClr val="CBD5E1"/>
                </a:solidFill>
              </a:rPr>
              <a:t>Steps to improve approval odds</a:t>
            </a:r>
          </a:p>
        </p:txBody>
      </p:sp>
      <p:sp>
        <p:nvSpPr>
          <p:cNvPr id="113" name="Text"/>
          <p:cNvSpPr/>
          <p:nvPr/>
        </p:nvSpPr>
        <p:spPr>
          <a:xfrm>
            <a:off x="3250400" y="1150000"/>
            <a:ext cx="2643200" cy="220000"/>
          </a:xfrm>
          <a:prstGeom prst="rect">
            <a:avLst/>
          </a:prstGeom>
          <a:noFill/>
          <a:ln/>
        </p:spPr>
        <p:txBody>
          <a:bodyPr wrap="square" lIns="0" tIns="0" rIns="0" bIns="0" rtlCol="0" anchor="t"/>
          <a:lstStyle/>
          <a:p>
            <a:pPr marL="0" indent="0" algn="l">
              <a:buNone/>
            </a:pPr>
            <a:r>
              <a:rPr lang="en-US" sz="1000" b="1" dirty="0">
                <a:solidFill>
                  <a:srgbClr val="FFFFFF"/>
                </a:solidFill>
              </a:rPr>
              <a:t>🏙️ Retirement Planner</a:t>
            </a:r>
          </a:p>
        </p:txBody>
      </p:sp>
      <p:sp>
        <p:nvSpPr>
          <p:cNvPr id="114" name="Text"/>
          <p:cNvSpPr/>
          <p:nvPr/>
        </p:nvSpPr>
        <p:spPr>
          <a:xfrm>
            <a:off x="3250400" y="1380000"/>
            <a:ext cx="2643200" cy="340000"/>
          </a:xfrm>
          <a:prstGeom prst="rect">
            <a:avLst/>
          </a:prstGeom>
          <a:noFill/>
          <a:ln/>
        </p:spPr>
        <p:txBody>
          <a:bodyPr wrap="square" lIns="0" tIns="0" rIns="0" bIns="0" rtlCol="0" anchor="t"/>
          <a:lstStyle/>
          <a:p>
            <a:pPr marL="0" indent="0" algn="l">
              <a:lnSpc>
                <a:spcPct val="115000"/>
              </a:lnSpc>
              <a:buNone/>
            </a:pPr>
            <a:r>
              <a:rPr lang="en-US" sz="800" b="0" dirty="0">
                <a:solidFill>
                  <a:srgbClr val="94A3B8"/>
                </a:solidFill>
              </a:rPr>
              <a:t>City-aware corpus calculator, 40 Indian cities.</a:t>
            </a:r>
          </a:p>
        </p:txBody>
      </p:sp>
      <p:pic>
        <p:nvPicPr>
          <p:cNvPr id="115" name="Shot_rIdImg2"/>
          <p:cNvPicPr>
            <a:picLocks noChangeAspect="1"/>
          </p:cNvPicPr>
          <p:nvPr/>
        </p:nvPicPr>
        <p:blipFill>
          <a:blip r:embed="rId3"/>
          <a:stretch>
            <a:fillRect/>
          </a:stretch>
        </p:blipFill>
        <p:spPr>
          <a:xfrm>
            <a:off x="3566114" y="1750000"/>
            <a:ext cx="2011772" cy="1150000"/>
          </a:xfrm>
          <a:prstGeom prst="roundRect">
            <a:avLst>
              <a:gd name="adj" fmla="val 3000"/>
            </a:avLst>
          </a:prstGeom>
          <a:ln w="12700">
            <a:solidFill>
              <a:srgbClr val="2A3B52"/>
            </a:solidFill>
          </a:ln>
        </p:spPr>
      </p:pic>
      <p:sp>
        <p:nvSpPr>
          <p:cNvPr id="116" name="Text"/>
          <p:cNvSpPr/>
          <p:nvPr/>
        </p:nvSpPr>
        <p:spPr>
          <a:xfrm>
            <a:off x="3250400" y="3030000"/>
            <a:ext cx="30000" cy="190000"/>
          </a:xfrm>
          <a:prstGeom prst="rect">
            <a:avLst/>
          </a:prstGeom>
          <a:noFill/>
          <a:ln/>
        </p:spPr>
        <p:txBody>
          <a:bodyPr wrap="square" lIns="0" tIns="0" rIns="0" bIns="0" rtlCol="0" anchor="t"/>
          <a:lstStyle/>
          <a:p>
            <a:pPr marL="0" indent="0" algn="l">
              <a:buNone/>
            </a:pPr>
            <a:r>
              <a:rPr lang="en-US" sz="900" b="1" dirty="0">
                <a:solidFill>
                  <a:srgbClr val="0891B2"/>
                </a:solidFill>
              </a:rPr>
              <a:t>•</a:t>
            </a:r>
          </a:p>
        </p:txBody>
      </p:sp>
      <p:sp>
        <p:nvSpPr>
          <p:cNvPr id="117" name="Text"/>
          <p:cNvSpPr/>
          <p:nvPr/>
        </p:nvSpPr>
        <p:spPr>
          <a:xfrm>
            <a:off x="3440400" y="3030000"/>
            <a:ext cx="2453200" cy="190000"/>
          </a:xfrm>
          <a:prstGeom prst="rect">
            <a:avLst/>
          </a:prstGeom>
          <a:noFill/>
          <a:ln/>
        </p:spPr>
        <p:txBody>
          <a:bodyPr wrap="square" lIns="0" tIns="0" rIns="0" bIns="0" rtlCol="0" anchor="t"/>
          <a:lstStyle/>
          <a:p>
            <a:pPr marL="0" indent="0" algn="l">
              <a:buNone/>
            </a:pPr>
            <a:r>
              <a:rPr lang="en-US" sz="780" b="0" dirty="0">
                <a:solidFill>
                  <a:srgbClr val="CBD5E1"/>
                </a:solidFill>
              </a:rPr>
              <a:t>Retirement corpus required</a:t>
            </a:r>
          </a:p>
        </p:txBody>
      </p:sp>
      <p:sp>
        <p:nvSpPr>
          <p:cNvPr id="118" name="Text"/>
          <p:cNvSpPr/>
          <p:nvPr/>
        </p:nvSpPr>
        <p:spPr>
          <a:xfrm>
            <a:off x="3250400" y="3265000"/>
            <a:ext cx="30000" cy="190000"/>
          </a:xfrm>
          <a:prstGeom prst="rect">
            <a:avLst/>
          </a:prstGeom>
          <a:noFill/>
          <a:ln/>
        </p:spPr>
        <p:txBody>
          <a:bodyPr wrap="square" lIns="0" tIns="0" rIns="0" bIns="0" rtlCol="0" anchor="t"/>
          <a:lstStyle/>
          <a:p>
            <a:pPr marL="0" indent="0" algn="l">
              <a:buNone/>
            </a:pPr>
            <a:r>
              <a:rPr lang="en-US" sz="900" b="1" dirty="0">
                <a:solidFill>
                  <a:srgbClr val="0891B2"/>
                </a:solidFill>
              </a:rPr>
              <a:t>•</a:t>
            </a:r>
          </a:p>
        </p:txBody>
      </p:sp>
      <p:sp>
        <p:nvSpPr>
          <p:cNvPr id="119" name="Text"/>
          <p:cNvSpPr/>
          <p:nvPr/>
        </p:nvSpPr>
        <p:spPr>
          <a:xfrm>
            <a:off x="3440400" y="3265000"/>
            <a:ext cx="2453200" cy="190000"/>
          </a:xfrm>
          <a:prstGeom prst="rect">
            <a:avLst/>
          </a:prstGeom>
          <a:noFill/>
          <a:ln/>
        </p:spPr>
        <p:txBody>
          <a:bodyPr wrap="square" lIns="0" tIns="0" rIns="0" bIns="0" rtlCol="0" anchor="t"/>
          <a:lstStyle/>
          <a:p>
            <a:pPr marL="0" indent="0" algn="l">
              <a:buNone/>
            </a:pPr>
            <a:r>
              <a:rPr lang="en-US" sz="780" b="0" dirty="0">
                <a:solidFill>
                  <a:srgbClr val="CBD5E1"/>
                </a:solidFill>
              </a:rPr>
              <a:t>Monthly SIP needed to close the gap</a:t>
            </a:r>
          </a:p>
        </p:txBody>
      </p:sp>
      <p:sp>
        <p:nvSpPr>
          <p:cNvPr id="120" name="Text"/>
          <p:cNvSpPr/>
          <p:nvPr/>
        </p:nvSpPr>
        <p:spPr>
          <a:xfrm>
            <a:off x="3250400" y="3500000"/>
            <a:ext cx="30000" cy="190000"/>
          </a:xfrm>
          <a:prstGeom prst="rect">
            <a:avLst/>
          </a:prstGeom>
          <a:noFill/>
          <a:ln/>
        </p:spPr>
        <p:txBody>
          <a:bodyPr wrap="square" lIns="0" tIns="0" rIns="0" bIns="0" rtlCol="0" anchor="t"/>
          <a:lstStyle/>
          <a:p>
            <a:pPr marL="0" indent="0" algn="l">
              <a:buNone/>
            </a:pPr>
            <a:r>
              <a:rPr lang="en-US" sz="900" b="1" dirty="0">
                <a:solidFill>
                  <a:srgbClr val="0891B2"/>
                </a:solidFill>
              </a:rPr>
              <a:t>•</a:t>
            </a:r>
          </a:p>
        </p:txBody>
      </p:sp>
      <p:sp>
        <p:nvSpPr>
          <p:cNvPr id="121" name="Text"/>
          <p:cNvSpPr/>
          <p:nvPr/>
        </p:nvSpPr>
        <p:spPr>
          <a:xfrm>
            <a:off x="3440400" y="3500000"/>
            <a:ext cx="2453200" cy="190000"/>
          </a:xfrm>
          <a:prstGeom prst="rect">
            <a:avLst/>
          </a:prstGeom>
          <a:noFill/>
          <a:ln/>
        </p:spPr>
        <p:txBody>
          <a:bodyPr wrap="square" lIns="0" tIns="0" rIns="0" bIns="0" rtlCol="0" anchor="t"/>
          <a:lstStyle/>
          <a:p>
            <a:pPr marL="0" indent="0" algn="l">
              <a:buNone/>
            </a:pPr>
            <a:r>
              <a:rPr lang="en-US" sz="780" b="0" dirty="0">
                <a:solidFill>
                  <a:srgbClr val="CBD5E1"/>
                </a:solidFill>
              </a:rPr>
              <a:t>Feasibility check vs income</a:t>
            </a:r>
          </a:p>
        </p:txBody>
      </p:sp>
      <p:sp>
        <p:nvSpPr>
          <p:cNvPr id="122" name="Text"/>
          <p:cNvSpPr/>
          <p:nvPr/>
        </p:nvSpPr>
        <p:spPr>
          <a:xfrm>
            <a:off x="6043600" y="1150000"/>
            <a:ext cx="2643200" cy="220000"/>
          </a:xfrm>
          <a:prstGeom prst="rect">
            <a:avLst/>
          </a:prstGeom>
          <a:noFill/>
          <a:ln/>
        </p:spPr>
        <p:txBody>
          <a:bodyPr wrap="square" lIns="0" tIns="0" rIns="0" bIns="0" rtlCol="0" anchor="t"/>
          <a:lstStyle/>
          <a:p>
            <a:pPr marL="0" indent="0" algn="l">
              <a:buNone/>
            </a:pPr>
            <a:r>
              <a:rPr lang="en-US" sz="1000" b="1" dirty="0">
                <a:solidFill>
                  <a:srgbClr val="FFFFFF"/>
                </a:solidFill>
              </a:rPr>
              <a:t>💬 AI Chat</a:t>
            </a:r>
          </a:p>
        </p:txBody>
      </p:sp>
      <p:sp>
        <p:nvSpPr>
          <p:cNvPr id="123" name="Text"/>
          <p:cNvSpPr/>
          <p:nvPr/>
        </p:nvSpPr>
        <p:spPr>
          <a:xfrm>
            <a:off x="6043600" y="1380000"/>
            <a:ext cx="2643200" cy="340000"/>
          </a:xfrm>
          <a:prstGeom prst="rect">
            <a:avLst/>
          </a:prstGeom>
          <a:noFill/>
          <a:ln/>
        </p:spPr>
        <p:txBody>
          <a:bodyPr wrap="square" lIns="0" tIns="0" rIns="0" bIns="0" rtlCol="0" anchor="t"/>
          <a:lstStyle/>
          <a:p>
            <a:pPr marL="0" indent="0" algn="l">
              <a:lnSpc>
                <a:spcPct val="115000"/>
              </a:lnSpc>
              <a:buNone/>
            </a:pPr>
            <a:r>
              <a:rPr lang="en-US" sz="800" b="0" dirty="0">
                <a:solidFill>
                  <a:srgbClr val="94A3B8"/>
                </a:solidFill>
              </a:rPr>
              <a:t>Ask questions about your own documents.</a:t>
            </a:r>
          </a:p>
        </p:txBody>
      </p:sp>
      <p:pic>
        <p:nvPicPr>
          <p:cNvPr id="124" name="Shot_rIdImg3"/>
          <p:cNvPicPr>
            <a:picLocks noChangeAspect="1"/>
          </p:cNvPicPr>
          <p:nvPr/>
        </p:nvPicPr>
        <p:blipFill>
          <a:blip r:embed="rId4"/>
          <a:stretch>
            <a:fillRect/>
          </a:stretch>
        </p:blipFill>
        <p:spPr>
          <a:xfrm>
            <a:off x="6164625" y="1750000"/>
            <a:ext cx="2401150" cy="1150000"/>
          </a:xfrm>
          <a:prstGeom prst="roundRect">
            <a:avLst>
              <a:gd name="adj" fmla="val 3000"/>
            </a:avLst>
          </a:prstGeom>
          <a:ln w="12700">
            <a:solidFill>
              <a:srgbClr val="2A3B52"/>
            </a:solidFill>
          </a:ln>
        </p:spPr>
      </p:pic>
      <p:sp>
        <p:nvSpPr>
          <p:cNvPr id="125" name="Text"/>
          <p:cNvSpPr/>
          <p:nvPr/>
        </p:nvSpPr>
        <p:spPr>
          <a:xfrm>
            <a:off x="6043600" y="3030000"/>
            <a:ext cx="30000" cy="190000"/>
          </a:xfrm>
          <a:prstGeom prst="rect">
            <a:avLst/>
          </a:prstGeom>
          <a:noFill/>
          <a:ln/>
        </p:spPr>
        <p:txBody>
          <a:bodyPr wrap="square" lIns="0" tIns="0" rIns="0" bIns="0" rtlCol="0" anchor="t"/>
          <a:lstStyle/>
          <a:p>
            <a:pPr marL="0" indent="0" algn="l">
              <a:buNone/>
            </a:pPr>
            <a:r>
              <a:rPr lang="en-US" sz="900" b="1" dirty="0">
                <a:solidFill>
                  <a:srgbClr val="0891B2"/>
                </a:solidFill>
              </a:rPr>
              <a:t>•</a:t>
            </a:r>
          </a:p>
        </p:txBody>
      </p:sp>
      <p:sp>
        <p:nvSpPr>
          <p:cNvPr id="126" name="Text"/>
          <p:cNvSpPr/>
          <p:nvPr/>
        </p:nvSpPr>
        <p:spPr>
          <a:xfrm>
            <a:off x="6233600" y="3030000"/>
            <a:ext cx="2453200" cy="190000"/>
          </a:xfrm>
          <a:prstGeom prst="rect">
            <a:avLst/>
          </a:prstGeom>
          <a:noFill/>
          <a:ln/>
        </p:spPr>
        <p:txBody>
          <a:bodyPr wrap="square" lIns="0" tIns="0" rIns="0" bIns="0" rtlCol="0" anchor="t"/>
          <a:lstStyle/>
          <a:p>
            <a:pPr marL="0" indent="0" algn="l">
              <a:buNone/>
            </a:pPr>
            <a:r>
              <a:rPr lang="en-US" sz="780" b="0" dirty="0">
                <a:solidFill>
                  <a:srgbClr val="CBD5E1"/>
                </a:solidFill>
              </a:rPr>
              <a:t>Answers grounded only in your documents</a:t>
            </a:r>
          </a:p>
        </p:txBody>
      </p:sp>
      <p:sp>
        <p:nvSpPr>
          <p:cNvPr id="127" name="Text"/>
          <p:cNvSpPr/>
          <p:nvPr/>
        </p:nvSpPr>
        <p:spPr>
          <a:xfrm>
            <a:off x="6043600" y="3265000"/>
            <a:ext cx="30000" cy="190000"/>
          </a:xfrm>
          <a:prstGeom prst="rect">
            <a:avLst/>
          </a:prstGeom>
          <a:noFill/>
          <a:ln/>
        </p:spPr>
        <p:txBody>
          <a:bodyPr wrap="square" lIns="0" tIns="0" rIns="0" bIns="0" rtlCol="0" anchor="t"/>
          <a:lstStyle/>
          <a:p>
            <a:pPr marL="0" indent="0" algn="l">
              <a:buNone/>
            </a:pPr>
            <a:r>
              <a:rPr lang="en-US" sz="900" b="1" dirty="0">
                <a:solidFill>
                  <a:srgbClr val="0891B2"/>
                </a:solidFill>
              </a:rPr>
              <a:t>•</a:t>
            </a:r>
          </a:p>
        </p:txBody>
      </p:sp>
      <p:sp>
        <p:nvSpPr>
          <p:cNvPr id="128" name="Text"/>
          <p:cNvSpPr/>
          <p:nvPr/>
        </p:nvSpPr>
        <p:spPr>
          <a:xfrm>
            <a:off x="6233600" y="3265000"/>
            <a:ext cx="2453200" cy="190000"/>
          </a:xfrm>
          <a:prstGeom prst="rect">
            <a:avLst/>
          </a:prstGeom>
          <a:noFill/>
          <a:ln/>
        </p:spPr>
        <p:txBody>
          <a:bodyPr wrap="square" lIns="0" tIns="0" rIns="0" bIns="0" rtlCol="0" anchor="t"/>
          <a:lstStyle/>
          <a:p>
            <a:pPr marL="0" indent="0" algn="l">
              <a:buNone/>
            </a:pPr>
            <a:r>
              <a:rPr lang="en-US" sz="780" b="0" dirty="0">
                <a:solidFill>
                  <a:srgbClr val="CBD5E1"/>
                </a:solidFill>
              </a:rPr>
              <a:t>Hybrid BM25 + vector retrieval</a:t>
            </a:r>
          </a:p>
        </p:txBody>
      </p:sp>
      <p:sp>
        <p:nvSpPr>
          <p:cNvPr id="129" name="Text"/>
          <p:cNvSpPr/>
          <p:nvPr/>
        </p:nvSpPr>
        <p:spPr>
          <a:xfrm>
            <a:off x="6043600" y="3500000"/>
            <a:ext cx="30000" cy="190000"/>
          </a:xfrm>
          <a:prstGeom prst="rect">
            <a:avLst/>
          </a:prstGeom>
          <a:noFill/>
          <a:ln/>
        </p:spPr>
        <p:txBody>
          <a:bodyPr wrap="square" lIns="0" tIns="0" rIns="0" bIns="0" rtlCol="0" anchor="t"/>
          <a:lstStyle/>
          <a:p>
            <a:pPr marL="0" indent="0" algn="l">
              <a:buNone/>
            </a:pPr>
            <a:r>
              <a:rPr lang="en-US" sz="900" b="1" dirty="0">
                <a:solidFill>
                  <a:srgbClr val="0891B2"/>
                </a:solidFill>
              </a:rPr>
              <a:t>•</a:t>
            </a:r>
          </a:p>
        </p:txBody>
      </p:sp>
      <p:sp>
        <p:nvSpPr>
          <p:cNvPr id="130" name="Text"/>
          <p:cNvSpPr/>
          <p:nvPr/>
        </p:nvSpPr>
        <p:spPr>
          <a:xfrm>
            <a:off x="6233600" y="3500000"/>
            <a:ext cx="2453200" cy="190000"/>
          </a:xfrm>
          <a:prstGeom prst="rect">
            <a:avLst/>
          </a:prstGeom>
          <a:noFill/>
          <a:ln/>
        </p:spPr>
        <p:txBody>
          <a:bodyPr wrap="square" lIns="0" tIns="0" rIns="0" bIns="0" rtlCol="0" anchor="t"/>
          <a:lstStyle/>
          <a:p>
            <a:pPr marL="0" indent="0" algn="l">
              <a:buNone/>
            </a:pPr>
            <a:r>
              <a:rPr lang="en-US" sz="780" b="0" dirty="0">
                <a:solidFill>
                  <a:srgbClr val="CBD5E1"/>
                </a:solidFill>
              </a:rPr>
              <a:t>Year-aware re-ranking prevents mixups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457200" y="274320"/>
            <a:ext cx="1280160" cy="256032"/>
          </a:xfrm>
          <a:prstGeom prst="roundRect">
            <a:avLst>
              <a:gd name="adj" fmla="val 50000"/>
            </a:avLst>
          </a:prstGeom>
          <a:solidFill>
            <a:srgbClr val="0891B2">
              <a:alpha val="25000"/>
            </a:srgbClr>
          </a:solidFill>
          <a:ln/>
        </p:spPr>
      </p:sp>
      <p:sp>
        <p:nvSpPr>
          <p:cNvPr id="3" name="Text 1"/>
          <p:cNvSpPr/>
          <p:nvPr/>
        </p:nvSpPr>
        <p:spPr>
          <a:xfrm>
            <a:off x="457200" y="274320"/>
            <a:ext cx="1280160" cy="256032"/>
          </a:xfrm>
          <a:prstGeom prst="rect">
            <a:avLst/>
          </a:prstGeom>
          <a:noFill/>
          <a:ln/>
        </p:spPr>
        <p:txBody>
          <a:bodyPr wrap="square" lIns="0" tIns="0" rIns="0" bIns="0" rtlCol="0" anchor="ctr"/>
          <a:lstStyle/>
          <a:p>
            <a:pPr marL="0" indent="0" algn="ctr">
              <a:buNone/>
            </a:pPr>
            <a:r>
              <a:rPr lang="en-US" sz="900" b="1" kern="0" spc="150" dirty="0">
                <a:solidFill>
                  <a:srgbClr val="0891B2"/>
                </a:solidFill>
              </a:rPr>
              <a:t>HOW IT WORKS</a:t>
            </a:r>
            <a:endParaRPr lang="en-US" sz="900" dirty="0"/>
          </a:p>
        </p:txBody>
      </p:sp>
      <p:sp>
        <p:nvSpPr>
          <p:cNvPr id="4" name="Text 2"/>
          <p:cNvSpPr/>
          <p:nvPr/>
        </p:nvSpPr>
        <p:spPr>
          <a:xfrm>
            <a:off x="457200" y="62179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RAG Pipeline</a:t>
            </a:r>
            <a:endParaRPr lang="en-US" sz="2800" dirty="0"/>
          </a:p>
        </p:txBody>
      </p:sp>
      <p:sp>
        <p:nvSpPr>
          <p:cNvPr id="5" name="Shape 3"/>
          <p:cNvSpPr/>
          <p:nvPr/>
        </p:nvSpPr>
        <p:spPr>
          <a:xfrm>
            <a:off x="365760" y="1298448"/>
            <a:ext cx="1600200" cy="1234440"/>
          </a:xfrm>
          <a:prstGeom prst="roundRect">
            <a:avLst>
              <a:gd name="adj" fmla="val 7407"/>
            </a:avLst>
          </a:prstGeom>
          <a:solidFill>
            <a:srgbClr val="162032"/>
          </a:solidFill>
          <a:ln/>
          <a:effectLst>
            <a:outerShdw blurRad="101600" dist="38100" dir="2700000" algn="bl" rotWithShape="0">
              <a:srgbClr val="000000">
                <a:alpha val="18000"/>
              </a:srgbClr>
            </a:outerShdw>
          </a:effectLst>
        </p:spPr>
      </p:sp>
      <p:sp>
        <p:nvSpPr>
          <p:cNvPr id="6" name="Shape 4"/>
          <p:cNvSpPr/>
          <p:nvPr/>
        </p:nvSpPr>
        <p:spPr>
          <a:xfrm>
            <a:off x="960120" y="1408176"/>
            <a:ext cx="384048" cy="384048"/>
          </a:xfrm>
          <a:prstGeom prst="ellipse">
            <a:avLst/>
          </a:prstGeom>
          <a:solidFill>
            <a:srgbClr val="2563EB"/>
          </a:solidFill>
          <a:ln/>
        </p:spPr>
      </p:sp>
      <p:sp>
        <p:nvSpPr>
          <p:cNvPr id="7" name="Text 5"/>
          <p:cNvSpPr/>
          <p:nvPr/>
        </p:nvSpPr>
        <p:spPr>
          <a:xfrm>
            <a:off x="960120" y="140817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8" name="Text 6"/>
          <p:cNvSpPr/>
          <p:nvPr/>
        </p:nvSpPr>
        <p:spPr>
          <a:xfrm>
            <a:off x="457200" y="1847088"/>
            <a:ext cx="1417320" cy="256032"/>
          </a:xfrm>
          <a:prstGeom prst="rect">
            <a:avLst/>
          </a:prstGeom>
          <a:noFill/>
          <a:ln/>
        </p:spPr>
        <p:txBody>
          <a:bodyPr wrap="square" lIns="0" tIns="0" rIns="0" bIns="0" rtlCol="0" anchor="ctr"/>
          <a:lstStyle/>
          <a:p>
            <a:pPr marL="0" indent="0" algn="ctr">
              <a:buNone/>
            </a:pPr>
            <a:r>
              <a:rPr lang="en-US" sz="1000" b="1" dirty="0">
                <a:solidFill>
                  <a:srgbClr val="FFFFFF"/>
                </a:solidFill>
              </a:rPr>
              <a:t>Upload PDF</a:t>
            </a:r>
            <a:endParaRPr lang="en-US" sz="1000" dirty="0"/>
          </a:p>
        </p:txBody>
      </p:sp>
      <p:sp>
        <p:nvSpPr>
          <p:cNvPr id="9" name="Text 7"/>
          <p:cNvSpPr/>
          <p:nvPr/>
        </p:nvSpPr>
        <p:spPr>
          <a:xfrm>
            <a:off x="457200" y="2121408"/>
            <a:ext cx="1417320" cy="347472"/>
          </a:xfrm>
          <a:prstGeom prst="rect">
            <a:avLst/>
          </a:prstGeom>
          <a:noFill/>
          <a:ln/>
        </p:spPr>
        <p:txBody>
          <a:bodyPr wrap="square" lIns="0" tIns="0" rIns="0" bIns="0" rtlCol="0" anchor="ctr"/>
          <a:lstStyle/>
          <a:p>
            <a:pPr marL="0" indent="0" algn="ctr">
              <a:lnSpc>
                <a:spcPct val="120000"/>
              </a:lnSpc>
              <a:buNone/>
            </a:pPr>
            <a:r>
              <a:rPr lang="en-US" sz="850" dirty="0">
                <a:solidFill>
                  <a:srgbClr val="94A3B8"/>
                </a:solidFill>
              </a:rPr>
              <a:t>User uploads financial documents</a:t>
            </a:r>
            <a:endParaRPr lang="en-US" sz="850" dirty="0"/>
          </a:p>
        </p:txBody>
      </p:sp>
      <p:sp>
        <p:nvSpPr>
          <p:cNvPr id="10" name="Shape 8"/>
          <p:cNvSpPr/>
          <p:nvPr/>
        </p:nvSpPr>
        <p:spPr>
          <a:xfrm>
            <a:off x="1965960" y="1920240"/>
            <a:ext cx="164592" cy="0"/>
          </a:xfrm>
          <a:prstGeom prst="line">
            <a:avLst/>
          </a:prstGeom>
          <a:noFill/>
          <a:ln w="19050">
            <a:solidFill>
              <a:srgbClr val="94A3B8"/>
            </a:solidFill>
            <a:prstDash val="solid"/>
          </a:ln>
        </p:spPr>
      </p:sp>
      <p:sp>
        <p:nvSpPr>
          <p:cNvPr id="11" name="Shape 9"/>
          <p:cNvSpPr/>
          <p:nvPr/>
        </p:nvSpPr>
        <p:spPr>
          <a:xfrm>
            <a:off x="2130552" y="1298448"/>
            <a:ext cx="1600200" cy="1234440"/>
          </a:xfrm>
          <a:prstGeom prst="roundRect">
            <a:avLst>
              <a:gd name="adj" fmla="val 7407"/>
            </a:avLst>
          </a:prstGeom>
          <a:solidFill>
            <a:srgbClr val="162032"/>
          </a:solidFill>
          <a:ln/>
          <a:effectLst>
            <a:outerShdw blurRad="101600" dist="38100" dir="2700000" algn="bl" rotWithShape="0">
              <a:srgbClr val="000000">
                <a:alpha val="18000"/>
              </a:srgbClr>
            </a:outerShdw>
          </a:effectLst>
        </p:spPr>
      </p:sp>
      <p:sp>
        <p:nvSpPr>
          <p:cNvPr id="12" name="Shape 10"/>
          <p:cNvSpPr/>
          <p:nvPr/>
        </p:nvSpPr>
        <p:spPr>
          <a:xfrm>
            <a:off x="2724912" y="1408176"/>
            <a:ext cx="384048" cy="384048"/>
          </a:xfrm>
          <a:prstGeom prst="ellipse">
            <a:avLst/>
          </a:prstGeom>
          <a:solidFill>
            <a:srgbClr val="0891B2"/>
          </a:solidFill>
          <a:ln/>
        </p:spPr>
      </p:sp>
      <p:sp>
        <p:nvSpPr>
          <p:cNvPr id="13" name="Text 11"/>
          <p:cNvSpPr/>
          <p:nvPr/>
        </p:nvSpPr>
        <p:spPr>
          <a:xfrm>
            <a:off x="2724912" y="140817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p:nvPr/>
        </p:nvSpPr>
        <p:spPr>
          <a:xfrm>
            <a:off x="2221992" y="1847088"/>
            <a:ext cx="1417320" cy="256032"/>
          </a:xfrm>
          <a:prstGeom prst="rect">
            <a:avLst/>
          </a:prstGeom>
          <a:noFill/>
          <a:ln/>
        </p:spPr>
        <p:txBody>
          <a:bodyPr wrap="square" lIns="0" tIns="0" rIns="0" bIns="0" rtlCol="0" anchor="ctr"/>
          <a:lstStyle/>
          <a:p>
            <a:pPr marL="0" indent="0" algn="ctr">
              <a:buNone/>
            </a:pPr>
            <a:r>
              <a:rPr lang="en-US" sz="1000" b="1" dirty="0">
                <a:solidFill>
                  <a:srgbClr val="FFFFFF"/>
                </a:solidFill>
              </a:rPr>
              <a:t>Extract Text</a:t>
            </a:r>
            <a:endParaRPr lang="en-US" sz="1000" dirty="0"/>
          </a:p>
        </p:txBody>
      </p:sp>
      <p:sp>
        <p:nvSpPr>
          <p:cNvPr id="15" name="Text 13"/>
          <p:cNvSpPr/>
          <p:nvPr/>
        </p:nvSpPr>
        <p:spPr>
          <a:xfrm>
            <a:off x="2221992" y="2121408"/>
            <a:ext cx="1417320" cy="347472"/>
          </a:xfrm>
          <a:prstGeom prst="rect">
            <a:avLst/>
          </a:prstGeom>
          <a:noFill/>
          <a:ln/>
        </p:spPr>
        <p:txBody>
          <a:bodyPr wrap="square" lIns="0" tIns="0" rIns="0" bIns="0" rtlCol="0" anchor="ctr"/>
          <a:lstStyle/>
          <a:p>
            <a:pPr marL="0" indent="0" algn="ctr">
              <a:lnSpc>
                <a:spcPct val="120000"/>
              </a:lnSpc>
              <a:buNone/>
            </a:pPr>
            <a:r>
              <a:rPr lang="en-US" sz="850" dirty="0">
                <a:solidFill>
                  <a:srgbClr val="94A3B8"/>
                </a:solidFill>
              </a:rPr>
              <a:t>PyMuPDF extracts content by page</a:t>
            </a:r>
            <a:endParaRPr lang="en-US" sz="850" dirty="0"/>
          </a:p>
        </p:txBody>
      </p:sp>
      <p:sp>
        <p:nvSpPr>
          <p:cNvPr id="16" name="Shape 14"/>
          <p:cNvSpPr/>
          <p:nvPr/>
        </p:nvSpPr>
        <p:spPr>
          <a:xfrm>
            <a:off x="3730752" y="1920240"/>
            <a:ext cx="164592" cy="0"/>
          </a:xfrm>
          <a:prstGeom prst="line">
            <a:avLst/>
          </a:prstGeom>
          <a:noFill/>
          <a:ln w="19050">
            <a:solidFill>
              <a:srgbClr val="94A3B8"/>
            </a:solidFill>
            <a:prstDash val="solid"/>
          </a:ln>
        </p:spPr>
      </p:sp>
      <p:sp>
        <p:nvSpPr>
          <p:cNvPr id="17" name="Shape 15"/>
          <p:cNvSpPr/>
          <p:nvPr/>
        </p:nvSpPr>
        <p:spPr>
          <a:xfrm>
            <a:off x="3895344" y="1298448"/>
            <a:ext cx="1600200" cy="1234440"/>
          </a:xfrm>
          <a:prstGeom prst="roundRect">
            <a:avLst>
              <a:gd name="adj" fmla="val 7407"/>
            </a:avLst>
          </a:prstGeom>
          <a:solidFill>
            <a:srgbClr val="162032"/>
          </a:solidFill>
          <a:ln/>
          <a:effectLst>
            <a:outerShdw blurRad="101600" dist="38100" dir="2700000" algn="bl" rotWithShape="0">
              <a:srgbClr val="000000">
                <a:alpha val="18000"/>
              </a:srgbClr>
            </a:outerShdw>
          </a:effectLst>
        </p:spPr>
      </p:sp>
      <p:sp>
        <p:nvSpPr>
          <p:cNvPr id="18" name="Shape 16"/>
          <p:cNvSpPr/>
          <p:nvPr/>
        </p:nvSpPr>
        <p:spPr>
          <a:xfrm>
            <a:off x="4489704" y="1408176"/>
            <a:ext cx="384048" cy="384048"/>
          </a:xfrm>
          <a:prstGeom prst="ellipse">
            <a:avLst/>
          </a:prstGeom>
          <a:solidFill>
            <a:srgbClr val="059669"/>
          </a:solidFill>
          <a:ln/>
        </p:spPr>
      </p:sp>
      <p:sp>
        <p:nvSpPr>
          <p:cNvPr id="19" name="Text 17"/>
          <p:cNvSpPr/>
          <p:nvPr/>
        </p:nvSpPr>
        <p:spPr>
          <a:xfrm>
            <a:off x="4489704" y="140817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20" name="Text 18"/>
          <p:cNvSpPr/>
          <p:nvPr/>
        </p:nvSpPr>
        <p:spPr>
          <a:xfrm>
            <a:off x="3986784" y="1847088"/>
            <a:ext cx="1417320" cy="256032"/>
          </a:xfrm>
          <a:prstGeom prst="rect">
            <a:avLst/>
          </a:prstGeom>
          <a:noFill/>
          <a:ln/>
        </p:spPr>
        <p:txBody>
          <a:bodyPr wrap="square" lIns="0" tIns="0" rIns="0" bIns="0" rtlCol="0" anchor="ctr"/>
          <a:lstStyle/>
          <a:p>
            <a:pPr marL="0" indent="0" algn="ctr">
              <a:buNone/>
            </a:pPr>
            <a:r>
              <a:rPr lang="en-US" sz="1000" b="1" dirty="0">
                <a:solidFill>
                  <a:srgbClr val="FFFFFF"/>
                </a:solidFill>
              </a:rPr>
              <a:t>Chunk + Embed</a:t>
            </a:r>
            <a:endParaRPr lang="en-US" sz="1000" dirty="0"/>
          </a:p>
        </p:txBody>
      </p:sp>
      <p:sp>
        <p:nvSpPr>
          <p:cNvPr id="21" name="Text 19"/>
          <p:cNvSpPr/>
          <p:nvPr/>
        </p:nvSpPr>
        <p:spPr>
          <a:xfrm>
            <a:off x="3986784" y="2121408"/>
            <a:ext cx="1417320" cy="347472"/>
          </a:xfrm>
          <a:prstGeom prst="rect">
            <a:avLst/>
          </a:prstGeom>
          <a:noFill/>
          <a:ln/>
        </p:spPr>
        <p:txBody>
          <a:bodyPr wrap="square" lIns="0" tIns="0" rIns="0" bIns="0" rtlCol="0" anchor="ctr"/>
          <a:lstStyle/>
          <a:p>
            <a:pPr marL="0" indent="0" algn="ctr">
              <a:lnSpc>
                <a:spcPct val="120000"/>
              </a:lnSpc>
              <a:buNone/>
            </a:pPr>
            <a:r>
              <a:rPr lang="en-US" sz="850" dirty="0">
                <a:solidFill>
                  <a:srgbClr val="94A3B8"/>
                </a:solidFill>
              </a:rPr>
              <a:t>Split into chunks, create vectors</a:t>
            </a:r>
            <a:endParaRPr lang="en-US" sz="850" dirty="0"/>
          </a:p>
        </p:txBody>
      </p:sp>
      <p:sp>
        <p:nvSpPr>
          <p:cNvPr id="22" name="Shape 20"/>
          <p:cNvSpPr/>
          <p:nvPr/>
        </p:nvSpPr>
        <p:spPr>
          <a:xfrm>
            <a:off x="5495544" y="1920240"/>
            <a:ext cx="164592" cy="0"/>
          </a:xfrm>
          <a:prstGeom prst="line">
            <a:avLst/>
          </a:prstGeom>
          <a:noFill/>
          <a:ln w="19050">
            <a:solidFill>
              <a:srgbClr val="94A3B8"/>
            </a:solidFill>
            <a:prstDash val="solid"/>
          </a:ln>
        </p:spPr>
      </p:sp>
      <p:sp>
        <p:nvSpPr>
          <p:cNvPr id="23" name="Shape 21"/>
          <p:cNvSpPr/>
          <p:nvPr/>
        </p:nvSpPr>
        <p:spPr>
          <a:xfrm>
            <a:off x="5660136" y="1298448"/>
            <a:ext cx="1600200" cy="1234440"/>
          </a:xfrm>
          <a:prstGeom prst="roundRect">
            <a:avLst>
              <a:gd name="adj" fmla="val 7407"/>
            </a:avLst>
          </a:prstGeom>
          <a:solidFill>
            <a:srgbClr val="162032"/>
          </a:solidFill>
          <a:ln/>
          <a:effectLst>
            <a:outerShdw blurRad="101600" dist="38100" dir="2700000" algn="bl" rotWithShape="0">
              <a:srgbClr val="000000">
                <a:alpha val="18000"/>
              </a:srgbClr>
            </a:outerShdw>
          </a:effectLst>
        </p:spPr>
      </p:sp>
      <p:sp>
        <p:nvSpPr>
          <p:cNvPr id="24" name="Shape 22"/>
          <p:cNvSpPr/>
          <p:nvPr/>
        </p:nvSpPr>
        <p:spPr>
          <a:xfrm>
            <a:off x="6254496" y="1408176"/>
            <a:ext cx="384048" cy="384048"/>
          </a:xfrm>
          <a:prstGeom prst="ellipse">
            <a:avLst/>
          </a:prstGeom>
          <a:solidFill>
            <a:srgbClr val="D97706"/>
          </a:solidFill>
          <a:ln/>
        </p:spPr>
      </p:sp>
      <p:sp>
        <p:nvSpPr>
          <p:cNvPr id="25" name="Text 23"/>
          <p:cNvSpPr/>
          <p:nvPr/>
        </p:nvSpPr>
        <p:spPr>
          <a:xfrm>
            <a:off x="6254496" y="140817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6" name="Text 24"/>
          <p:cNvSpPr/>
          <p:nvPr/>
        </p:nvSpPr>
        <p:spPr>
          <a:xfrm>
            <a:off x="5751576" y="1847088"/>
            <a:ext cx="1417320" cy="256032"/>
          </a:xfrm>
          <a:prstGeom prst="rect">
            <a:avLst/>
          </a:prstGeom>
          <a:noFill/>
          <a:ln/>
        </p:spPr>
        <p:txBody>
          <a:bodyPr wrap="square" lIns="0" tIns="0" rIns="0" bIns="0" rtlCol="0" anchor="ctr"/>
          <a:lstStyle/>
          <a:p>
            <a:pPr marL="0" indent="0" algn="ctr">
              <a:buNone/>
            </a:pPr>
            <a:r>
              <a:rPr lang="en-US" sz="1000" b="1" dirty="0">
                <a:solidFill>
                  <a:srgbClr val="FFFFFF"/>
                </a:solidFill>
              </a:rPr>
              <a:t>Store Vectors</a:t>
            </a:r>
            <a:endParaRPr lang="en-US" sz="1000" dirty="0"/>
          </a:p>
        </p:txBody>
      </p:sp>
      <p:sp>
        <p:nvSpPr>
          <p:cNvPr id="27" name="Text 25"/>
          <p:cNvSpPr/>
          <p:nvPr/>
        </p:nvSpPr>
        <p:spPr>
          <a:xfrm>
            <a:off x="5751576" y="2121408"/>
            <a:ext cx="1417320" cy="347472"/>
          </a:xfrm>
          <a:prstGeom prst="rect">
            <a:avLst/>
          </a:prstGeom>
          <a:noFill/>
          <a:ln/>
        </p:spPr>
        <p:txBody>
          <a:bodyPr wrap="square" lIns="0" tIns="0" rIns="0" bIns="0" rtlCol="0" anchor="ctr"/>
          <a:lstStyle/>
          <a:p>
            <a:pPr marL="0" indent="0" algn="ctr">
              <a:lnSpc>
                <a:spcPct val="120000"/>
              </a:lnSpc>
              <a:buNone/>
            </a:pPr>
            <a:r>
              <a:rPr lang="en-US" sz="850" dirty="0">
                <a:solidFill>
                  <a:srgbClr val="94A3B8"/>
                </a:solidFill>
              </a:rPr>
              <a:t>Indexed in Pinecone cloud DB</a:t>
            </a:r>
            <a:endParaRPr lang="en-US" sz="850" dirty="0"/>
          </a:p>
        </p:txBody>
      </p:sp>
      <p:sp>
        <p:nvSpPr>
          <p:cNvPr id="28" name="Shape 26"/>
          <p:cNvSpPr/>
          <p:nvPr/>
        </p:nvSpPr>
        <p:spPr>
          <a:xfrm>
            <a:off x="7260336" y="1920240"/>
            <a:ext cx="164592" cy="0"/>
          </a:xfrm>
          <a:prstGeom prst="line">
            <a:avLst/>
          </a:prstGeom>
          <a:noFill/>
          <a:ln w="19050">
            <a:solidFill>
              <a:srgbClr val="94A3B8"/>
            </a:solidFill>
            <a:prstDash val="solid"/>
          </a:ln>
        </p:spPr>
      </p:sp>
      <p:sp>
        <p:nvSpPr>
          <p:cNvPr id="29" name="Shape 27"/>
          <p:cNvSpPr/>
          <p:nvPr/>
        </p:nvSpPr>
        <p:spPr>
          <a:xfrm>
            <a:off x="7424928" y="1298448"/>
            <a:ext cx="1600200" cy="1234440"/>
          </a:xfrm>
          <a:prstGeom prst="roundRect">
            <a:avLst>
              <a:gd name="adj" fmla="val 7407"/>
            </a:avLst>
          </a:prstGeom>
          <a:solidFill>
            <a:srgbClr val="162032"/>
          </a:solidFill>
          <a:ln/>
          <a:effectLst>
            <a:outerShdw blurRad="101600" dist="38100" dir="2700000" algn="bl" rotWithShape="0">
              <a:srgbClr val="000000">
                <a:alpha val="18000"/>
              </a:srgbClr>
            </a:outerShdw>
          </a:effectLst>
        </p:spPr>
      </p:sp>
      <p:sp>
        <p:nvSpPr>
          <p:cNvPr id="30" name="Shape 28"/>
          <p:cNvSpPr/>
          <p:nvPr/>
        </p:nvSpPr>
        <p:spPr>
          <a:xfrm>
            <a:off x="8019288" y="1408176"/>
            <a:ext cx="384048" cy="384048"/>
          </a:xfrm>
          <a:prstGeom prst="ellipse">
            <a:avLst/>
          </a:prstGeom>
          <a:solidFill>
            <a:srgbClr val="2563EB"/>
          </a:solidFill>
          <a:ln/>
        </p:spPr>
      </p:sp>
      <p:sp>
        <p:nvSpPr>
          <p:cNvPr id="31" name="Text 29"/>
          <p:cNvSpPr/>
          <p:nvPr/>
        </p:nvSpPr>
        <p:spPr>
          <a:xfrm>
            <a:off x="8019288" y="140817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32" name="Text 30"/>
          <p:cNvSpPr/>
          <p:nvPr/>
        </p:nvSpPr>
        <p:spPr>
          <a:xfrm>
            <a:off x="7516368" y="1847088"/>
            <a:ext cx="1417320" cy="256032"/>
          </a:xfrm>
          <a:prstGeom prst="rect">
            <a:avLst/>
          </a:prstGeom>
          <a:noFill/>
          <a:ln/>
        </p:spPr>
        <p:txBody>
          <a:bodyPr wrap="square" lIns="0" tIns="0" rIns="0" bIns="0" rtlCol="0" anchor="ctr"/>
          <a:lstStyle/>
          <a:p>
            <a:pPr marL="0" indent="0" algn="ctr">
              <a:buNone/>
            </a:pPr>
            <a:r>
              <a:rPr lang="en-US" sz="1000" b="1" dirty="0">
                <a:solidFill>
                  <a:srgbClr val="FFFFFF"/>
                </a:solidFill>
              </a:rPr>
              <a:t>Retrieve</a:t>
            </a:r>
            <a:endParaRPr lang="en-US" sz="1000" dirty="0"/>
          </a:p>
        </p:txBody>
      </p:sp>
      <p:sp>
        <p:nvSpPr>
          <p:cNvPr id="33" name="Text 31"/>
          <p:cNvSpPr/>
          <p:nvPr/>
        </p:nvSpPr>
        <p:spPr>
          <a:xfrm>
            <a:off x="7516368" y="2121408"/>
            <a:ext cx="1417320" cy="347472"/>
          </a:xfrm>
          <a:prstGeom prst="rect">
            <a:avLst/>
          </a:prstGeom>
          <a:noFill/>
          <a:ln/>
        </p:spPr>
        <p:txBody>
          <a:bodyPr wrap="square" lIns="0" tIns="0" rIns="0" bIns="0" rtlCol="0" anchor="ctr"/>
          <a:lstStyle/>
          <a:p>
            <a:pPr marL="0" indent="0" algn="ctr">
              <a:lnSpc>
                <a:spcPct val="120000"/>
              </a:lnSpc>
              <a:buNone/>
            </a:pPr>
            <a:r>
              <a:rPr lang="en-US" sz="850" dirty="0">
                <a:solidFill>
                  <a:srgbClr val="94A3B8"/>
                </a:solidFill>
              </a:rPr>
              <a:t>BM25 + vector hybrid search</a:t>
            </a:r>
            <a:endParaRPr lang="en-US" sz="850" dirty="0"/>
          </a:p>
        </p:txBody>
      </p:sp>
      <p:sp>
        <p:nvSpPr>
          <p:cNvPr id="34" name="Shape 32"/>
          <p:cNvSpPr/>
          <p:nvPr/>
        </p:nvSpPr>
        <p:spPr>
          <a:xfrm>
            <a:off x="365760" y="2743200"/>
            <a:ext cx="1600200" cy="1234440"/>
          </a:xfrm>
          <a:prstGeom prst="roundRect">
            <a:avLst>
              <a:gd name="adj" fmla="val 7407"/>
            </a:avLst>
          </a:prstGeom>
          <a:solidFill>
            <a:srgbClr val="162032"/>
          </a:solidFill>
          <a:ln/>
          <a:effectLst>
            <a:outerShdw blurRad="101600" dist="38100" dir="2700000" algn="bl" rotWithShape="0">
              <a:srgbClr val="000000">
                <a:alpha val="18000"/>
              </a:srgbClr>
            </a:outerShdw>
          </a:effectLst>
        </p:spPr>
      </p:sp>
      <p:sp>
        <p:nvSpPr>
          <p:cNvPr id="35" name="Shape 33"/>
          <p:cNvSpPr/>
          <p:nvPr/>
        </p:nvSpPr>
        <p:spPr>
          <a:xfrm>
            <a:off x="960120" y="2852928"/>
            <a:ext cx="384048" cy="384048"/>
          </a:xfrm>
          <a:prstGeom prst="ellipse">
            <a:avLst/>
          </a:prstGeom>
          <a:solidFill>
            <a:srgbClr val="0891B2"/>
          </a:solidFill>
          <a:ln/>
        </p:spPr>
      </p:sp>
      <p:sp>
        <p:nvSpPr>
          <p:cNvPr id="36" name="Text 34"/>
          <p:cNvSpPr/>
          <p:nvPr/>
        </p:nvSpPr>
        <p:spPr>
          <a:xfrm>
            <a:off x="960120" y="28529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37" name="Text 35"/>
          <p:cNvSpPr/>
          <p:nvPr/>
        </p:nvSpPr>
        <p:spPr>
          <a:xfrm>
            <a:off x="457200" y="3291840"/>
            <a:ext cx="1417320" cy="256032"/>
          </a:xfrm>
          <a:prstGeom prst="rect">
            <a:avLst/>
          </a:prstGeom>
          <a:noFill/>
          <a:ln/>
        </p:spPr>
        <p:txBody>
          <a:bodyPr wrap="square" lIns="0" tIns="0" rIns="0" bIns="0" rtlCol="0" anchor="ctr"/>
          <a:lstStyle/>
          <a:p>
            <a:pPr marL="0" indent="0" algn="ctr">
              <a:buNone/>
            </a:pPr>
            <a:r>
              <a:rPr lang="en-US" sz="1000" b="1" dirty="0">
                <a:solidFill>
                  <a:srgbClr val="FFFFFF"/>
                </a:solidFill>
              </a:rPr>
              <a:t>Re-rank</a:t>
            </a:r>
            <a:endParaRPr lang="en-US" sz="1000" dirty="0"/>
          </a:p>
        </p:txBody>
      </p:sp>
      <p:sp>
        <p:nvSpPr>
          <p:cNvPr id="38" name="Text 36"/>
          <p:cNvSpPr/>
          <p:nvPr/>
        </p:nvSpPr>
        <p:spPr>
          <a:xfrm>
            <a:off x="457200" y="3566160"/>
            <a:ext cx="1417320" cy="347472"/>
          </a:xfrm>
          <a:prstGeom prst="rect">
            <a:avLst/>
          </a:prstGeom>
          <a:noFill/>
          <a:ln/>
        </p:spPr>
        <p:txBody>
          <a:bodyPr wrap="square" lIns="0" tIns="0" rIns="0" bIns="0" rtlCol="0" anchor="ctr"/>
          <a:lstStyle/>
          <a:p>
            <a:pPr marL="0" indent="0" algn="ctr">
              <a:lnSpc>
                <a:spcPct val="120000"/>
              </a:lnSpc>
              <a:buNone/>
            </a:pPr>
            <a:r>
              <a:rPr lang="en-US" sz="850" dirty="0">
                <a:solidFill>
                  <a:srgbClr val="94A3B8"/>
                </a:solidFill>
              </a:rPr>
              <a:t>Year-aware re-ranking removes stale data</a:t>
            </a:r>
            <a:endParaRPr lang="en-US" sz="850" dirty="0"/>
          </a:p>
        </p:txBody>
      </p:sp>
      <p:sp>
        <p:nvSpPr>
          <p:cNvPr id="39" name="Shape 37"/>
          <p:cNvSpPr/>
          <p:nvPr/>
        </p:nvSpPr>
        <p:spPr>
          <a:xfrm>
            <a:off x="1965960" y="3364992"/>
            <a:ext cx="576072" cy="0"/>
          </a:xfrm>
          <a:prstGeom prst="line">
            <a:avLst/>
          </a:prstGeom>
          <a:noFill/>
          <a:ln w="19050">
            <a:solidFill>
              <a:srgbClr val="94A3B8"/>
            </a:solidFill>
            <a:prstDash val="solid"/>
          </a:ln>
        </p:spPr>
      </p:sp>
      <p:sp>
        <p:nvSpPr>
          <p:cNvPr id="40" name="Shape 38"/>
          <p:cNvSpPr/>
          <p:nvPr/>
        </p:nvSpPr>
        <p:spPr>
          <a:xfrm>
            <a:off x="2542032" y="2743200"/>
            <a:ext cx="1600200" cy="1234440"/>
          </a:xfrm>
          <a:prstGeom prst="roundRect">
            <a:avLst>
              <a:gd name="adj" fmla="val 7407"/>
            </a:avLst>
          </a:prstGeom>
          <a:solidFill>
            <a:srgbClr val="162032"/>
          </a:solidFill>
          <a:ln/>
          <a:effectLst>
            <a:outerShdw blurRad="101600" dist="38100" dir="2700000" algn="bl" rotWithShape="0">
              <a:srgbClr val="000000">
                <a:alpha val="18000"/>
              </a:srgbClr>
            </a:outerShdw>
          </a:effectLst>
        </p:spPr>
      </p:sp>
      <p:sp>
        <p:nvSpPr>
          <p:cNvPr id="41" name="Shape 39"/>
          <p:cNvSpPr/>
          <p:nvPr/>
        </p:nvSpPr>
        <p:spPr>
          <a:xfrm>
            <a:off x="3136392" y="2852928"/>
            <a:ext cx="384048" cy="384048"/>
          </a:xfrm>
          <a:prstGeom prst="ellipse">
            <a:avLst/>
          </a:prstGeom>
          <a:solidFill>
            <a:srgbClr val="059669"/>
          </a:solidFill>
          <a:ln/>
        </p:spPr>
      </p:sp>
      <p:sp>
        <p:nvSpPr>
          <p:cNvPr id="42" name="Text 40"/>
          <p:cNvSpPr/>
          <p:nvPr/>
        </p:nvSpPr>
        <p:spPr>
          <a:xfrm>
            <a:off x="3136392" y="28529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7</a:t>
            </a:r>
            <a:endParaRPr lang="en-US" sz="1400" dirty="0"/>
          </a:p>
        </p:txBody>
      </p:sp>
      <p:sp>
        <p:nvSpPr>
          <p:cNvPr id="43" name="Text 41"/>
          <p:cNvSpPr/>
          <p:nvPr/>
        </p:nvSpPr>
        <p:spPr>
          <a:xfrm>
            <a:off x="2633472" y="3291840"/>
            <a:ext cx="1417320" cy="256032"/>
          </a:xfrm>
          <a:prstGeom prst="rect">
            <a:avLst/>
          </a:prstGeom>
          <a:noFill/>
          <a:ln/>
        </p:spPr>
        <p:txBody>
          <a:bodyPr wrap="square" lIns="0" tIns="0" rIns="0" bIns="0" rtlCol="0" anchor="ctr"/>
          <a:lstStyle/>
          <a:p>
            <a:pPr marL="0" indent="0" algn="ctr">
              <a:buNone/>
            </a:pPr>
            <a:r>
              <a:rPr lang="en-US" sz="1000" b="1" dirty="0">
                <a:solidFill>
                  <a:srgbClr val="FFFFFF"/>
                </a:solidFill>
              </a:rPr>
              <a:t>LLM Call</a:t>
            </a:r>
            <a:endParaRPr lang="en-US" sz="1000" dirty="0"/>
          </a:p>
        </p:txBody>
      </p:sp>
      <p:sp>
        <p:nvSpPr>
          <p:cNvPr id="44" name="Text 42"/>
          <p:cNvSpPr/>
          <p:nvPr/>
        </p:nvSpPr>
        <p:spPr>
          <a:xfrm>
            <a:off x="2633472" y="3566160"/>
            <a:ext cx="1417320" cy="347472"/>
          </a:xfrm>
          <a:prstGeom prst="rect">
            <a:avLst/>
          </a:prstGeom>
          <a:noFill/>
          <a:ln/>
        </p:spPr>
        <p:txBody>
          <a:bodyPr wrap="square" lIns="0" tIns="0" rIns="0" bIns="0" rtlCol="0" anchor="ctr"/>
          <a:lstStyle/>
          <a:p>
            <a:pPr marL="0" indent="0" algn="ctr">
              <a:lnSpc>
                <a:spcPct val="120000"/>
              </a:lnSpc>
              <a:buNone/>
            </a:pPr>
            <a:r>
              <a:rPr lang="en-US" sz="850" dirty="0">
                <a:solidFill>
                  <a:srgbClr val="94A3B8"/>
                </a:solidFill>
              </a:rPr>
              <a:t>OpenAI → Groq → Gemini fallback chain</a:t>
            </a:r>
            <a:endParaRPr lang="en-US" sz="850" dirty="0"/>
          </a:p>
        </p:txBody>
      </p:sp>
      <p:sp>
        <p:nvSpPr>
          <p:cNvPr id="45" name="Shape 43"/>
          <p:cNvSpPr/>
          <p:nvPr/>
        </p:nvSpPr>
        <p:spPr>
          <a:xfrm>
            <a:off x="4142232" y="3364992"/>
            <a:ext cx="576072" cy="0"/>
          </a:xfrm>
          <a:prstGeom prst="line">
            <a:avLst/>
          </a:prstGeom>
          <a:noFill/>
          <a:ln w="19050">
            <a:solidFill>
              <a:srgbClr val="94A3B8"/>
            </a:solidFill>
            <a:prstDash val="solid"/>
          </a:ln>
        </p:spPr>
      </p:sp>
      <p:sp>
        <p:nvSpPr>
          <p:cNvPr id="46" name="Shape 44"/>
          <p:cNvSpPr/>
          <p:nvPr/>
        </p:nvSpPr>
        <p:spPr>
          <a:xfrm>
            <a:off x="4718304" y="2743200"/>
            <a:ext cx="1600200" cy="1234440"/>
          </a:xfrm>
          <a:prstGeom prst="roundRect">
            <a:avLst>
              <a:gd name="adj" fmla="val 7407"/>
            </a:avLst>
          </a:prstGeom>
          <a:solidFill>
            <a:srgbClr val="162032"/>
          </a:solidFill>
          <a:ln/>
          <a:effectLst>
            <a:outerShdw blurRad="101600" dist="38100" dir="2700000" algn="bl" rotWithShape="0">
              <a:srgbClr val="000000">
                <a:alpha val="18000"/>
              </a:srgbClr>
            </a:outerShdw>
          </a:effectLst>
        </p:spPr>
      </p:sp>
      <p:sp>
        <p:nvSpPr>
          <p:cNvPr id="47" name="Shape 45"/>
          <p:cNvSpPr/>
          <p:nvPr/>
        </p:nvSpPr>
        <p:spPr>
          <a:xfrm>
            <a:off x="5312664" y="2852928"/>
            <a:ext cx="384048" cy="384048"/>
          </a:xfrm>
          <a:prstGeom prst="ellipse">
            <a:avLst/>
          </a:prstGeom>
          <a:solidFill>
            <a:srgbClr val="D97706"/>
          </a:solidFill>
          <a:ln/>
        </p:spPr>
      </p:sp>
      <p:sp>
        <p:nvSpPr>
          <p:cNvPr id="48" name="Text 46"/>
          <p:cNvSpPr/>
          <p:nvPr/>
        </p:nvSpPr>
        <p:spPr>
          <a:xfrm>
            <a:off x="5312664" y="28529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8</a:t>
            </a:r>
            <a:endParaRPr lang="en-US" sz="1400" dirty="0"/>
          </a:p>
        </p:txBody>
      </p:sp>
      <p:sp>
        <p:nvSpPr>
          <p:cNvPr id="49" name="Text 47"/>
          <p:cNvSpPr/>
          <p:nvPr/>
        </p:nvSpPr>
        <p:spPr>
          <a:xfrm>
            <a:off x="4809744" y="3291840"/>
            <a:ext cx="1417320" cy="256032"/>
          </a:xfrm>
          <a:prstGeom prst="rect">
            <a:avLst/>
          </a:prstGeom>
          <a:noFill/>
          <a:ln/>
        </p:spPr>
        <p:txBody>
          <a:bodyPr wrap="square" lIns="0" tIns="0" rIns="0" bIns="0" rtlCol="0" anchor="ctr"/>
          <a:lstStyle/>
          <a:p>
            <a:pPr marL="0" indent="0" algn="ctr">
              <a:buNone/>
            </a:pPr>
            <a:r>
              <a:rPr lang="en-US" sz="1000" b="1" dirty="0">
                <a:solidFill>
                  <a:srgbClr val="FFFFFF"/>
                </a:solidFill>
              </a:rPr>
              <a:t>Validate</a:t>
            </a:r>
            <a:endParaRPr lang="en-US" sz="1000" dirty="0"/>
          </a:p>
        </p:txBody>
      </p:sp>
      <p:sp>
        <p:nvSpPr>
          <p:cNvPr id="50" name="Text 48"/>
          <p:cNvSpPr/>
          <p:nvPr/>
        </p:nvSpPr>
        <p:spPr>
          <a:xfrm>
            <a:off x="4809744" y="3566160"/>
            <a:ext cx="1417320" cy="347472"/>
          </a:xfrm>
          <a:prstGeom prst="rect">
            <a:avLst/>
          </a:prstGeom>
          <a:noFill/>
          <a:ln/>
        </p:spPr>
        <p:txBody>
          <a:bodyPr wrap="square" lIns="0" tIns="0" rIns="0" bIns="0" rtlCol="0" anchor="ctr"/>
          <a:lstStyle/>
          <a:p>
            <a:pPr marL="0" indent="0" algn="ctr">
              <a:lnSpc>
                <a:spcPct val="120000"/>
              </a:lnSpc>
              <a:buNone/>
            </a:pPr>
            <a:r>
              <a:rPr lang="en-US" sz="850" dirty="0">
                <a:solidFill>
                  <a:srgbClr val="94A3B8"/>
                </a:solidFill>
              </a:rPr>
              <a:t>DeepEval + RAGAS hallucination check</a:t>
            </a:r>
            <a:endParaRPr lang="en-US" sz="850" dirty="0"/>
          </a:p>
        </p:txBody>
      </p:sp>
      <p:sp>
        <p:nvSpPr>
          <p:cNvPr id="51" name="Shape 49"/>
          <p:cNvSpPr/>
          <p:nvPr/>
        </p:nvSpPr>
        <p:spPr>
          <a:xfrm>
            <a:off x="6318504" y="3364992"/>
            <a:ext cx="576072" cy="0"/>
          </a:xfrm>
          <a:prstGeom prst="line">
            <a:avLst/>
          </a:prstGeom>
          <a:noFill/>
          <a:ln w="19050">
            <a:solidFill>
              <a:srgbClr val="94A3B8"/>
            </a:solidFill>
            <a:prstDash val="solid"/>
          </a:ln>
        </p:spPr>
      </p:sp>
      <p:sp>
        <p:nvSpPr>
          <p:cNvPr id="52" name="Shape 50"/>
          <p:cNvSpPr/>
          <p:nvPr/>
        </p:nvSpPr>
        <p:spPr>
          <a:xfrm>
            <a:off x="6894576" y="2743200"/>
            <a:ext cx="1600200" cy="1234440"/>
          </a:xfrm>
          <a:prstGeom prst="roundRect">
            <a:avLst>
              <a:gd name="adj" fmla="val 7407"/>
            </a:avLst>
          </a:prstGeom>
          <a:solidFill>
            <a:srgbClr val="162032"/>
          </a:solidFill>
          <a:ln/>
          <a:effectLst>
            <a:outerShdw blurRad="101600" dist="38100" dir="2700000" algn="bl" rotWithShape="0">
              <a:srgbClr val="000000">
                <a:alpha val="18000"/>
              </a:srgbClr>
            </a:outerShdw>
          </a:effectLst>
        </p:spPr>
      </p:sp>
      <p:sp>
        <p:nvSpPr>
          <p:cNvPr id="53" name="Shape 51"/>
          <p:cNvSpPr/>
          <p:nvPr/>
        </p:nvSpPr>
        <p:spPr>
          <a:xfrm>
            <a:off x="7488936" y="2852928"/>
            <a:ext cx="384048" cy="384048"/>
          </a:xfrm>
          <a:prstGeom prst="ellipse">
            <a:avLst/>
          </a:prstGeom>
          <a:solidFill>
            <a:srgbClr val="2563EB"/>
          </a:solidFill>
          <a:ln/>
        </p:spPr>
      </p:sp>
      <p:sp>
        <p:nvSpPr>
          <p:cNvPr id="54" name="Text 52"/>
          <p:cNvSpPr/>
          <p:nvPr/>
        </p:nvSpPr>
        <p:spPr>
          <a:xfrm>
            <a:off x="7488936" y="28529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9</a:t>
            </a:r>
            <a:endParaRPr lang="en-US" sz="1400" dirty="0"/>
          </a:p>
        </p:txBody>
      </p:sp>
      <p:sp>
        <p:nvSpPr>
          <p:cNvPr id="55" name="Text 53"/>
          <p:cNvSpPr/>
          <p:nvPr/>
        </p:nvSpPr>
        <p:spPr>
          <a:xfrm>
            <a:off x="6986016" y="3291840"/>
            <a:ext cx="1417320" cy="256032"/>
          </a:xfrm>
          <a:prstGeom prst="rect">
            <a:avLst/>
          </a:prstGeom>
          <a:noFill/>
          <a:ln/>
        </p:spPr>
        <p:txBody>
          <a:bodyPr wrap="square" lIns="0" tIns="0" rIns="0" bIns="0" rtlCol="0" anchor="ctr"/>
          <a:lstStyle/>
          <a:p>
            <a:pPr marL="0" indent="0" algn="ctr">
              <a:buNone/>
            </a:pPr>
            <a:r>
              <a:rPr lang="en-US" sz="1000" b="1" dirty="0">
                <a:solidFill>
                  <a:srgbClr val="FFFFFF"/>
                </a:solidFill>
              </a:rPr>
              <a:t>Display</a:t>
            </a:r>
            <a:endParaRPr lang="en-US" sz="1000" dirty="0"/>
          </a:p>
        </p:txBody>
      </p:sp>
      <p:sp>
        <p:nvSpPr>
          <p:cNvPr id="56" name="Text 54"/>
          <p:cNvSpPr/>
          <p:nvPr/>
        </p:nvSpPr>
        <p:spPr>
          <a:xfrm>
            <a:off x="6986016" y="3566160"/>
            <a:ext cx="1417320" cy="347472"/>
          </a:xfrm>
          <a:prstGeom prst="rect">
            <a:avLst/>
          </a:prstGeom>
          <a:noFill/>
          <a:ln/>
        </p:spPr>
        <p:txBody>
          <a:bodyPr wrap="square" lIns="0" tIns="0" rIns="0" bIns="0" rtlCol="0" anchor="ctr"/>
          <a:lstStyle/>
          <a:p>
            <a:pPr marL="0" indent="0" algn="ctr">
              <a:lnSpc>
                <a:spcPct val="120000"/>
              </a:lnSpc>
              <a:buNone/>
            </a:pPr>
            <a:r>
              <a:rPr lang="en-US" sz="850" dirty="0">
                <a:solidFill>
                  <a:srgbClr val="94A3B8"/>
                </a:solidFill>
              </a:rPr>
              <a:t>Risk score, recommendations, chat answer</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AI Quality and Testing">
    <p:bg>
      <p:bgPr>
        <a:solidFill>
          <a:srgbClr val="0F1B2D"/>
        </a:solidFill>
        <a:effectLst/>
      </p:bgPr>
    </p:bg>
    <p:spTree>
      <p:nvGrpSpPr>
        <p:cNvPr id="1" name=""/>
        <p:cNvGrpSpPr/>
        <p:nvPr/>
      </p:nvGrpSpPr>
      <p:grpSpPr>
        <a:xfrm>
          <a:off x="0" y="0"/>
          <a:ext cx="0" cy="0"/>
          <a:chOff x="0" y="0"/>
          <a:chExt cx="0" cy="0"/>
        </a:xfrm>
      </p:grpSpPr>
      <p:sp>
        <p:nvSpPr>
          <p:cNvPr id="101" name="Badge"/>
          <p:cNvSpPr/>
          <p:nvPr/>
        </p:nvSpPr>
        <p:spPr>
          <a:xfrm>
            <a:off x="457200" y="274320"/>
            <a:ext cx="1350000" cy="256032"/>
          </a:xfrm>
          <a:prstGeom prst="roundRect">
            <a:avLst>
              <a:gd name="adj" fmla="val 50000"/>
            </a:avLst>
          </a:prstGeom>
          <a:solidFill>
            <a:srgbClr val="059669">
              <a:alpha val="25000"/>
            </a:srgbClr>
          </a:solidFill>
          <a:ln/>
        </p:spPr>
      </p:sp>
      <p:sp>
        <p:nvSpPr>
          <p:cNvPr id="102" name="BadgeText"/>
          <p:cNvSpPr/>
          <p:nvPr/>
        </p:nvSpPr>
        <p:spPr>
          <a:xfrm>
            <a:off x="457200" y="274320"/>
            <a:ext cx="1350000" cy="256032"/>
          </a:xfrm>
          <a:prstGeom prst="rect">
            <a:avLst/>
          </a:prstGeom>
          <a:noFill/>
          <a:ln/>
        </p:spPr>
        <p:txBody>
          <a:bodyPr wrap="square" lIns="0" tIns="0" rIns="0" bIns="0" rtlCol="0" anchor="ctr"/>
          <a:lstStyle/>
          <a:p>
            <a:pPr marL="0" indent="0" algn="ctr">
              <a:buNone/>
            </a:pPr>
            <a:r>
              <a:rPr lang="en-US" sz="900" b="1" kern="0" spc="150" dirty="0">
                <a:solidFill>
                  <a:srgbClr val="059669"/>
                </a:solidFill>
              </a:rPr>
              <a:t>AI QUALITY</a:t>
            </a:r>
          </a:p>
        </p:txBody>
      </p:sp>
      <p:sp>
        <p:nvSpPr>
          <p:cNvPr id="103" name="Title"/>
          <p:cNvSpPr/>
          <p:nvPr/>
        </p:nvSpPr>
        <p:spPr>
          <a:xfrm>
            <a:off x="457200" y="590000"/>
            <a:ext cx="8229600" cy="4600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rPr>
              <a:t>Evaluation &amp; Testing Coverage</a:t>
            </a:r>
          </a:p>
        </p:txBody>
      </p:sp>
      <p:sp>
        <p:nvSpPr>
          <p:cNvPr id="104" name="Card"/>
          <p:cNvSpPr/>
          <p:nvPr/>
        </p:nvSpPr>
        <p:spPr>
          <a:xfrm>
            <a:off x="457200" y="1180000"/>
            <a:ext cx="3986800" cy="900000"/>
          </a:xfrm>
          <a:prstGeom prst="roundRect">
            <a:avLst>
              <a:gd name="adj" fmla="val 6000"/>
            </a:avLst>
          </a:prstGeom>
          <a:solidFill>
            <a:srgbClr val="162032"/>
          </a:solidFill>
          <a:ln/>
          <a:effectLst>
            <a:outerShdw blurRad="101600" dist="38100" dir="2700000" algn="bl" rotWithShape="0">
              <a:srgbClr val="000000">
                <a:alpha val="18000"/>
              </a:srgbClr>
            </a:outerShdw>
          </a:effectLst>
        </p:spPr>
      </p:sp>
      <p:sp>
        <p:nvSpPr>
          <p:cNvPr id="105" name="Text"/>
          <p:cNvSpPr/>
          <p:nvPr/>
        </p:nvSpPr>
        <p:spPr>
          <a:xfrm>
            <a:off x="717200" y="1290000"/>
            <a:ext cx="3486800" cy="240000"/>
          </a:xfrm>
          <a:prstGeom prst="rect">
            <a:avLst/>
          </a:prstGeom>
          <a:noFill/>
          <a:ln/>
        </p:spPr>
        <p:txBody>
          <a:bodyPr wrap="square" lIns="0" tIns="0" rIns="0" bIns="0" rtlCol="0" anchor="t"/>
          <a:lstStyle/>
          <a:p>
            <a:pPr marL="0" indent="0" algn="l">
              <a:buNone/>
            </a:pPr>
            <a:r>
              <a:rPr lang="en-US" sz="1000" b="1" dirty="0">
                <a:solidFill>
                  <a:srgbClr val="FFFFFF"/>
                </a:solidFill>
              </a:rPr>
              <a:t>DeepEval — Hallucination Detection</a:t>
            </a:r>
          </a:p>
        </p:txBody>
      </p:sp>
      <p:sp>
        <p:nvSpPr>
          <p:cNvPr id="106" name="Text"/>
          <p:cNvSpPr/>
          <p:nvPr/>
        </p:nvSpPr>
        <p:spPr>
          <a:xfrm>
            <a:off x="717200" y="1540000"/>
            <a:ext cx="900000" cy="460000"/>
          </a:xfrm>
          <a:prstGeom prst="rect">
            <a:avLst/>
          </a:prstGeom>
          <a:noFill/>
          <a:ln/>
        </p:spPr>
        <p:txBody>
          <a:bodyPr wrap="square" lIns="0" tIns="0" rIns="0" bIns="0" rtlCol="0" anchor="t"/>
          <a:lstStyle/>
          <a:p>
            <a:pPr marL="0" indent="0" algn="l">
              <a:buNone/>
            </a:pPr>
            <a:r>
              <a:rPr lang="en-US" sz="2800" b="1" dirty="0">
                <a:solidFill>
                  <a:srgbClr val="059669"/>
                </a:solidFill>
              </a:rPr>
              <a:t>0.22</a:t>
            </a:r>
          </a:p>
        </p:txBody>
      </p:sp>
      <p:sp>
        <p:nvSpPr>
          <p:cNvPr id="107" name="Text"/>
          <p:cNvSpPr/>
          <p:nvPr/>
        </p:nvSpPr>
        <p:spPr>
          <a:xfrm>
            <a:off x="1357200" y="1650000"/>
            <a:ext cx="2836800" cy="300000"/>
          </a:xfrm>
          <a:prstGeom prst="rect">
            <a:avLst/>
          </a:prstGeom>
          <a:noFill/>
          <a:ln/>
        </p:spPr>
        <p:txBody>
          <a:bodyPr wrap="square" lIns="0" tIns="0" rIns="0" bIns="0" rtlCol="0" anchor="t"/>
          <a:lstStyle/>
          <a:p>
            <a:pPr marL="0" indent="0" algn="l">
              <a:buNone/>
            </a:pPr>
            <a:r>
              <a:rPr lang="en-US" sz="800" b="0" dirty="0">
                <a:solidFill>
                  <a:srgbClr val="94A3B8"/>
                </a:solidFill>
              </a:rPr>
              <a:t>avg. score, bad profile (under 0.5 = pass)</a:t>
            </a:r>
          </a:p>
        </p:txBody>
      </p:sp>
      <p:sp>
        <p:nvSpPr>
          <p:cNvPr id="108" name="Card"/>
          <p:cNvSpPr/>
          <p:nvPr/>
        </p:nvSpPr>
        <p:spPr>
          <a:xfrm>
            <a:off x="4686300" y="1180000"/>
            <a:ext cx="3986800" cy="900000"/>
          </a:xfrm>
          <a:prstGeom prst="roundRect">
            <a:avLst>
              <a:gd name="adj" fmla="val 6000"/>
            </a:avLst>
          </a:prstGeom>
          <a:solidFill>
            <a:srgbClr val="162032"/>
          </a:solidFill>
          <a:ln/>
          <a:effectLst>
            <a:outerShdw blurRad="101600" dist="38100" dir="2700000" algn="bl" rotWithShape="0">
              <a:srgbClr val="000000">
                <a:alpha val="18000"/>
              </a:srgbClr>
            </a:outerShdw>
          </a:effectLst>
        </p:spPr>
      </p:sp>
      <p:sp>
        <p:nvSpPr>
          <p:cNvPr id="109" name="Text"/>
          <p:cNvSpPr/>
          <p:nvPr/>
        </p:nvSpPr>
        <p:spPr>
          <a:xfrm>
            <a:off x="4946300" y="1290000"/>
            <a:ext cx="3486800" cy="240000"/>
          </a:xfrm>
          <a:prstGeom prst="rect">
            <a:avLst/>
          </a:prstGeom>
          <a:noFill/>
          <a:ln/>
        </p:spPr>
        <p:txBody>
          <a:bodyPr wrap="square" lIns="0" tIns="0" rIns="0" bIns="0" rtlCol="0" anchor="t"/>
          <a:lstStyle/>
          <a:p>
            <a:pPr marL="0" indent="0" algn="l">
              <a:buNone/>
            </a:pPr>
            <a:r>
              <a:rPr lang="en-US" sz="1000" b="1" dirty="0">
                <a:solidFill>
                  <a:srgbClr val="FFFFFF"/>
                </a:solidFill>
              </a:rPr>
              <a:t>RAGAS — Faithfulness &amp; Relevancy</a:t>
            </a:r>
          </a:p>
        </p:txBody>
      </p:sp>
      <p:sp>
        <p:nvSpPr>
          <p:cNvPr id="110" name="Text"/>
          <p:cNvSpPr/>
          <p:nvPr/>
        </p:nvSpPr>
        <p:spPr>
          <a:xfrm>
            <a:off x="4946300" y="1540000"/>
            <a:ext cx="900000" cy="460000"/>
          </a:xfrm>
          <a:prstGeom prst="rect">
            <a:avLst/>
          </a:prstGeom>
          <a:noFill/>
          <a:ln/>
        </p:spPr>
        <p:txBody>
          <a:bodyPr wrap="square" lIns="0" tIns="0" rIns="0" bIns="0" rtlCol="0" anchor="t"/>
          <a:lstStyle/>
          <a:p>
            <a:pPr marL="0" indent="0" algn="l">
              <a:buNone/>
            </a:pPr>
            <a:r>
              <a:rPr lang="en-US" sz="2800" b="1" dirty="0">
                <a:solidFill>
                  <a:srgbClr val="0891B2"/>
                </a:solidFill>
              </a:rPr>
              <a:t>0.88</a:t>
            </a:r>
          </a:p>
        </p:txBody>
      </p:sp>
      <p:sp>
        <p:nvSpPr>
          <p:cNvPr id="111" name="Text"/>
          <p:cNvSpPr/>
          <p:nvPr/>
        </p:nvSpPr>
        <p:spPr>
          <a:xfrm>
            <a:off x="5586300" y="1650000"/>
            <a:ext cx="2836800" cy="300000"/>
          </a:xfrm>
          <a:prstGeom prst="rect">
            <a:avLst/>
          </a:prstGeom>
          <a:noFill/>
          <a:ln/>
        </p:spPr>
        <p:txBody>
          <a:bodyPr wrap="square" lIns="0" tIns="0" rIns="0" bIns="0" rtlCol="0" anchor="t"/>
          <a:lstStyle/>
          <a:p>
            <a:pPr marL="0" indent="0" algn="l">
              <a:buNone/>
            </a:pPr>
            <a:r>
              <a:rPr lang="en-US" sz="800" b="0" dirty="0">
                <a:solidFill>
                  <a:srgbClr val="94A3B8"/>
                </a:solidFill>
              </a:rPr>
              <a:t>avg. faithfulness score</a:t>
            </a:r>
          </a:p>
        </p:txBody>
      </p:sp>
      <p:sp>
        <p:nvSpPr>
          <p:cNvPr id="112" name="Text"/>
          <p:cNvSpPr/>
          <p:nvPr/>
        </p:nvSpPr>
        <p:spPr>
          <a:xfrm>
            <a:off x="457200" y="2210000"/>
            <a:ext cx="8229600" cy="220000"/>
          </a:xfrm>
          <a:prstGeom prst="rect">
            <a:avLst/>
          </a:prstGeom>
          <a:noFill/>
          <a:ln/>
        </p:spPr>
        <p:txBody>
          <a:bodyPr wrap="square" lIns="0" tIns="0" rIns="0" bIns="0" rtlCol="0" anchor="t"/>
          <a:lstStyle/>
          <a:p>
            <a:pPr marL="0" indent="0" algn="l">
              <a:buNone/>
            </a:pPr>
            <a:r>
              <a:rPr lang="en-US" sz="1150" b="1" dirty="0">
                <a:solidFill>
                  <a:srgbClr val="FFFFFF"/>
                </a:solidFill>
              </a:rPr>
              <a:t>96 Unit Tests — Every Module Covered</a:t>
            </a:r>
          </a:p>
        </p:txBody>
      </p:sp>
      <p:sp>
        <p:nvSpPr>
          <p:cNvPr id="113" name="Card"/>
          <p:cNvSpPr/>
          <p:nvPr/>
        </p:nvSpPr>
        <p:spPr>
          <a:xfrm>
            <a:off x="457200" y="2490000"/>
            <a:ext cx="1976700" cy="480000"/>
          </a:xfrm>
          <a:prstGeom prst="roundRect">
            <a:avLst>
              <a:gd name="adj" fmla="val 9000"/>
            </a:avLst>
          </a:prstGeom>
          <a:solidFill>
            <a:srgbClr val="162032"/>
          </a:solidFill>
          <a:ln/>
          <a:effectLst>
            <a:outerShdw blurRad="101600" dist="38100" dir="2700000" algn="bl" rotWithShape="0">
              <a:srgbClr val="000000">
                <a:alpha val="18000"/>
              </a:srgbClr>
            </a:outerShdw>
          </a:effectLst>
        </p:spPr>
      </p:sp>
      <p:sp>
        <p:nvSpPr>
          <p:cNvPr id="114" name="Text"/>
          <p:cNvSpPr/>
          <p:nvPr/>
        </p:nvSpPr>
        <p:spPr>
          <a:xfrm>
            <a:off x="567200" y="2550000"/>
            <a:ext cx="420000" cy="360000"/>
          </a:xfrm>
          <a:prstGeom prst="rect">
            <a:avLst/>
          </a:prstGeom>
          <a:noFill/>
          <a:ln/>
        </p:spPr>
        <p:txBody>
          <a:bodyPr wrap="square" lIns="0" tIns="0" rIns="0" bIns="0" rtlCol="0" anchor="ctr"/>
          <a:lstStyle/>
          <a:p>
            <a:pPr marL="0" indent="0" algn="l">
              <a:buNone/>
            </a:pPr>
            <a:r>
              <a:rPr lang="en-US" sz="1500" b="1" dirty="0">
                <a:solidFill>
                  <a:srgbClr val="059669"/>
                </a:solidFill>
              </a:rPr>
              <a:t>13</a:t>
            </a:r>
          </a:p>
        </p:txBody>
      </p:sp>
      <p:sp>
        <p:nvSpPr>
          <p:cNvPr id="115" name="Text"/>
          <p:cNvSpPr/>
          <p:nvPr/>
        </p:nvSpPr>
        <p:spPr>
          <a:xfrm>
            <a:off x="1017200" y="2490000"/>
            <a:ext cx="1376700" cy="480000"/>
          </a:xfrm>
          <a:prstGeom prst="rect">
            <a:avLst/>
          </a:prstGeom>
          <a:noFill/>
          <a:ln/>
        </p:spPr>
        <p:txBody>
          <a:bodyPr wrap="square" lIns="0" tIns="0" rIns="0" bIns="0" rtlCol="0" anchor="ctr"/>
          <a:lstStyle/>
          <a:p>
            <a:pPr marL="0" indent="0" algn="l">
              <a:buNone/>
            </a:pPr>
            <a:r>
              <a:rPr lang="en-US" sz="800" b="0" dirty="0">
                <a:solidFill>
                  <a:srgbClr val="E2E8F0"/>
                </a:solidFill>
              </a:rPr>
              <a:t>test_auth.py</a:t>
            </a:r>
          </a:p>
        </p:txBody>
      </p:sp>
      <p:sp>
        <p:nvSpPr>
          <p:cNvPr id="116" name="Card"/>
          <p:cNvSpPr/>
          <p:nvPr/>
        </p:nvSpPr>
        <p:spPr>
          <a:xfrm>
            <a:off x="2454100" y="2490000"/>
            <a:ext cx="1976700" cy="480000"/>
          </a:xfrm>
          <a:prstGeom prst="roundRect">
            <a:avLst>
              <a:gd name="adj" fmla="val 9000"/>
            </a:avLst>
          </a:prstGeom>
          <a:solidFill>
            <a:srgbClr val="162032"/>
          </a:solidFill>
          <a:ln/>
          <a:effectLst>
            <a:outerShdw blurRad="101600" dist="38100" dir="2700000" algn="bl" rotWithShape="0">
              <a:srgbClr val="000000">
                <a:alpha val="18000"/>
              </a:srgbClr>
            </a:outerShdw>
          </a:effectLst>
        </p:spPr>
      </p:sp>
      <p:sp>
        <p:nvSpPr>
          <p:cNvPr id="117" name="Text"/>
          <p:cNvSpPr/>
          <p:nvPr/>
        </p:nvSpPr>
        <p:spPr>
          <a:xfrm>
            <a:off x="2564100" y="2550000"/>
            <a:ext cx="420000" cy="360000"/>
          </a:xfrm>
          <a:prstGeom prst="rect">
            <a:avLst/>
          </a:prstGeom>
          <a:noFill/>
          <a:ln/>
        </p:spPr>
        <p:txBody>
          <a:bodyPr wrap="square" lIns="0" tIns="0" rIns="0" bIns="0" rtlCol="0" anchor="ctr"/>
          <a:lstStyle/>
          <a:p>
            <a:pPr marL="0" indent="0" algn="l">
              <a:buNone/>
            </a:pPr>
            <a:r>
              <a:rPr lang="en-US" sz="1500" b="1" dirty="0">
                <a:solidFill>
                  <a:srgbClr val="059669"/>
                </a:solidFill>
              </a:rPr>
              <a:t>16</a:t>
            </a:r>
          </a:p>
        </p:txBody>
      </p:sp>
      <p:sp>
        <p:nvSpPr>
          <p:cNvPr id="118" name="Text"/>
          <p:cNvSpPr/>
          <p:nvPr/>
        </p:nvSpPr>
        <p:spPr>
          <a:xfrm>
            <a:off x="3014100" y="2490000"/>
            <a:ext cx="1376700" cy="480000"/>
          </a:xfrm>
          <a:prstGeom prst="rect">
            <a:avLst/>
          </a:prstGeom>
          <a:noFill/>
          <a:ln/>
        </p:spPr>
        <p:txBody>
          <a:bodyPr wrap="square" lIns="0" tIns="0" rIns="0" bIns="0" rtlCol="0" anchor="ctr"/>
          <a:lstStyle/>
          <a:p>
            <a:pPr marL="0" indent="0" algn="l">
              <a:buNone/>
            </a:pPr>
            <a:r>
              <a:rPr lang="en-US" sz="800" b="0" dirty="0">
                <a:solidFill>
                  <a:srgbClr val="E2E8F0"/>
                </a:solidFill>
              </a:rPr>
              <a:t>test_loan_workflow.py</a:t>
            </a:r>
          </a:p>
        </p:txBody>
      </p:sp>
      <p:sp>
        <p:nvSpPr>
          <p:cNvPr id="119" name="Card"/>
          <p:cNvSpPr/>
          <p:nvPr/>
        </p:nvSpPr>
        <p:spPr>
          <a:xfrm>
            <a:off x="4451000" y="2490000"/>
            <a:ext cx="1976700" cy="480000"/>
          </a:xfrm>
          <a:prstGeom prst="roundRect">
            <a:avLst>
              <a:gd name="adj" fmla="val 9000"/>
            </a:avLst>
          </a:prstGeom>
          <a:solidFill>
            <a:srgbClr val="162032"/>
          </a:solidFill>
          <a:ln/>
          <a:effectLst>
            <a:outerShdw blurRad="101600" dist="38100" dir="2700000" algn="bl" rotWithShape="0">
              <a:srgbClr val="000000">
                <a:alpha val="18000"/>
              </a:srgbClr>
            </a:outerShdw>
          </a:effectLst>
        </p:spPr>
      </p:sp>
      <p:sp>
        <p:nvSpPr>
          <p:cNvPr id="120" name="Text"/>
          <p:cNvSpPr/>
          <p:nvPr/>
        </p:nvSpPr>
        <p:spPr>
          <a:xfrm>
            <a:off x="4561000" y="2550000"/>
            <a:ext cx="420000" cy="360000"/>
          </a:xfrm>
          <a:prstGeom prst="rect">
            <a:avLst/>
          </a:prstGeom>
          <a:noFill/>
          <a:ln/>
        </p:spPr>
        <p:txBody>
          <a:bodyPr wrap="square" lIns="0" tIns="0" rIns="0" bIns="0" rtlCol="0" anchor="ctr"/>
          <a:lstStyle/>
          <a:p>
            <a:pPr marL="0" indent="0" algn="l">
              <a:buNone/>
            </a:pPr>
            <a:r>
              <a:rPr lang="en-US" sz="1500" b="1" dirty="0">
                <a:solidFill>
                  <a:srgbClr val="059669"/>
                </a:solidFill>
              </a:rPr>
              <a:t>19</a:t>
            </a:r>
          </a:p>
        </p:txBody>
      </p:sp>
      <p:sp>
        <p:nvSpPr>
          <p:cNvPr id="121" name="Text"/>
          <p:cNvSpPr/>
          <p:nvPr/>
        </p:nvSpPr>
        <p:spPr>
          <a:xfrm>
            <a:off x="5011000" y="2490000"/>
            <a:ext cx="1376700" cy="480000"/>
          </a:xfrm>
          <a:prstGeom prst="rect">
            <a:avLst/>
          </a:prstGeom>
          <a:noFill/>
          <a:ln/>
        </p:spPr>
        <p:txBody>
          <a:bodyPr wrap="square" lIns="0" tIns="0" rIns="0" bIns="0" rtlCol="0" anchor="ctr"/>
          <a:lstStyle/>
          <a:p>
            <a:pPr marL="0" indent="0" algn="l">
              <a:buNone/>
            </a:pPr>
            <a:r>
              <a:rPr lang="en-US" sz="800" b="0" dirty="0">
                <a:solidFill>
                  <a:srgbClr val="E2E8F0"/>
                </a:solidFill>
              </a:rPr>
              <a:t>test_entity_aware_fixes.py</a:t>
            </a:r>
          </a:p>
        </p:txBody>
      </p:sp>
      <p:sp>
        <p:nvSpPr>
          <p:cNvPr id="122" name="Card"/>
          <p:cNvSpPr/>
          <p:nvPr/>
        </p:nvSpPr>
        <p:spPr>
          <a:xfrm>
            <a:off x="6447900" y="2490000"/>
            <a:ext cx="1976700" cy="480000"/>
          </a:xfrm>
          <a:prstGeom prst="roundRect">
            <a:avLst>
              <a:gd name="adj" fmla="val 9000"/>
            </a:avLst>
          </a:prstGeom>
          <a:solidFill>
            <a:srgbClr val="162032"/>
          </a:solidFill>
          <a:ln/>
          <a:effectLst>
            <a:outerShdw blurRad="101600" dist="38100" dir="2700000" algn="bl" rotWithShape="0">
              <a:srgbClr val="000000">
                <a:alpha val="18000"/>
              </a:srgbClr>
            </a:outerShdw>
          </a:effectLst>
        </p:spPr>
      </p:sp>
      <p:sp>
        <p:nvSpPr>
          <p:cNvPr id="123" name="Text"/>
          <p:cNvSpPr/>
          <p:nvPr/>
        </p:nvSpPr>
        <p:spPr>
          <a:xfrm>
            <a:off x="6557900" y="2550000"/>
            <a:ext cx="420000" cy="360000"/>
          </a:xfrm>
          <a:prstGeom prst="rect">
            <a:avLst/>
          </a:prstGeom>
          <a:noFill/>
          <a:ln/>
        </p:spPr>
        <p:txBody>
          <a:bodyPr wrap="square" lIns="0" tIns="0" rIns="0" bIns="0" rtlCol="0" anchor="ctr"/>
          <a:lstStyle/>
          <a:p>
            <a:pPr marL="0" indent="0" algn="l">
              <a:buNone/>
            </a:pPr>
            <a:r>
              <a:rPr lang="en-US" sz="1500" b="1" dirty="0">
                <a:solidFill>
                  <a:srgbClr val="059669"/>
                </a:solidFill>
              </a:rPr>
              <a:t>14</a:t>
            </a:r>
          </a:p>
        </p:txBody>
      </p:sp>
      <p:sp>
        <p:nvSpPr>
          <p:cNvPr id="124" name="Text"/>
          <p:cNvSpPr/>
          <p:nvPr/>
        </p:nvSpPr>
        <p:spPr>
          <a:xfrm>
            <a:off x="7007900" y="2490000"/>
            <a:ext cx="1376700" cy="480000"/>
          </a:xfrm>
          <a:prstGeom prst="rect">
            <a:avLst/>
          </a:prstGeom>
          <a:noFill/>
          <a:ln/>
        </p:spPr>
        <p:txBody>
          <a:bodyPr wrap="square" lIns="0" tIns="0" rIns="0" bIns="0" rtlCol="0" anchor="ctr"/>
          <a:lstStyle/>
          <a:p>
            <a:pPr marL="0" indent="0" algn="l">
              <a:buNone/>
            </a:pPr>
            <a:r>
              <a:rPr lang="en-US" sz="800" b="0" dirty="0">
                <a:solidFill>
                  <a:srgbClr val="E2E8F0"/>
                </a:solidFill>
              </a:rPr>
              <a:t>test_reranker.py</a:t>
            </a:r>
          </a:p>
        </p:txBody>
      </p:sp>
      <p:sp>
        <p:nvSpPr>
          <p:cNvPr id="125" name="Card"/>
          <p:cNvSpPr/>
          <p:nvPr/>
        </p:nvSpPr>
        <p:spPr>
          <a:xfrm>
            <a:off x="457200" y="3010200"/>
            <a:ext cx="1976700" cy="480000"/>
          </a:xfrm>
          <a:prstGeom prst="roundRect">
            <a:avLst>
              <a:gd name="adj" fmla="val 9000"/>
            </a:avLst>
          </a:prstGeom>
          <a:solidFill>
            <a:srgbClr val="162032"/>
          </a:solidFill>
          <a:ln/>
          <a:effectLst>
            <a:outerShdw blurRad="101600" dist="38100" dir="2700000" algn="bl" rotWithShape="0">
              <a:srgbClr val="000000">
                <a:alpha val="18000"/>
              </a:srgbClr>
            </a:outerShdw>
          </a:effectLst>
        </p:spPr>
      </p:sp>
      <p:sp>
        <p:nvSpPr>
          <p:cNvPr id="126" name="Text"/>
          <p:cNvSpPr/>
          <p:nvPr/>
        </p:nvSpPr>
        <p:spPr>
          <a:xfrm>
            <a:off x="567200" y="3070200"/>
            <a:ext cx="420000" cy="360000"/>
          </a:xfrm>
          <a:prstGeom prst="rect">
            <a:avLst/>
          </a:prstGeom>
          <a:noFill/>
          <a:ln/>
        </p:spPr>
        <p:txBody>
          <a:bodyPr wrap="square" lIns="0" tIns="0" rIns="0" bIns="0" rtlCol="0" anchor="ctr"/>
          <a:lstStyle/>
          <a:p>
            <a:pPr marL="0" indent="0" algn="l">
              <a:buNone/>
            </a:pPr>
            <a:r>
              <a:rPr lang="en-US" sz="1500" b="1" dirty="0">
                <a:solidFill>
                  <a:srgbClr val="059669"/>
                </a:solidFill>
              </a:rPr>
              <a:t>13</a:t>
            </a:r>
          </a:p>
        </p:txBody>
      </p:sp>
      <p:sp>
        <p:nvSpPr>
          <p:cNvPr id="127" name="Text"/>
          <p:cNvSpPr/>
          <p:nvPr/>
        </p:nvSpPr>
        <p:spPr>
          <a:xfrm>
            <a:off x="1017200" y="3010200"/>
            <a:ext cx="1376700" cy="480000"/>
          </a:xfrm>
          <a:prstGeom prst="rect">
            <a:avLst/>
          </a:prstGeom>
          <a:noFill/>
          <a:ln/>
        </p:spPr>
        <p:txBody>
          <a:bodyPr wrap="square" lIns="0" tIns="0" rIns="0" bIns="0" rtlCol="0" anchor="ctr"/>
          <a:lstStyle/>
          <a:p>
            <a:pPr marL="0" indent="0" algn="l">
              <a:buNone/>
            </a:pPr>
            <a:r>
              <a:rPr lang="en-US" sz="800" b="0" dirty="0">
                <a:solidFill>
                  <a:srgbClr val="E2E8F0"/>
                </a:solidFill>
              </a:rPr>
              <a:t>test_city_and_validator.py</a:t>
            </a:r>
          </a:p>
        </p:txBody>
      </p:sp>
      <p:sp>
        <p:nvSpPr>
          <p:cNvPr id="128" name="Card"/>
          <p:cNvSpPr/>
          <p:nvPr/>
        </p:nvSpPr>
        <p:spPr>
          <a:xfrm>
            <a:off x="2454100" y="3010200"/>
            <a:ext cx="1976700" cy="480000"/>
          </a:xfrm>
          <a:prstGeom prst="roundRect">
            <a:avLst>
              <a:gd name="adj" fmla="val 9000"/>
            </a:avLst>
          </a:prstGeom>
          <a:solidFill>
            <a:srgbClr val="162032"/>
          </a:solidFill>
          <a:ln/>
          <a:effectLst>
            <a:outerShdw blurRad="101600" dist="38100" dir="2700000" algn="bl" rotWithShape="0">
              <a:srgbClr val="000000">
                <a:alpha val="18000"/>
              </a:srgbClr>
            </a:outerShdw>
          </a:effectLst>
        </p:spPr>
      </p:sp>
      <p:sp>
        <p:nvSpPr>
          <p:cNvPr id="129" name="Text"/>
          <p:cNvSpPr/>
          <p:nvPr/>
        </p:nvSpPr>
        <p:spPr>
          <a:xfrm>
            <a:off x="2564100" y="3070200"/>
            <a:ext cx="420000" cy="360000"/>
          </a:xfrm>
          <a:prstGeom prst="rect">
            <a:avLst/>
          </a:prstGeom>
          <a:noFill/>
          <a:ln/>
        </p:spPr>
        <p:txBody>
          <a:bodyPr wrap="square" lIns="0" tIns="0" rIns="0" bIns="0" rtlCol="0" anchor="ctr"/>
          <a:lstStyle/>
          <a:p>
            <a:pPr marL="0" indent="0" algn="l">
              <a:buNone/>
            </a:pPr>
            <a:r>
              <a:rPr lang="en-US" sz="1500" b="1" dirty="0">
                <a:solidFill>
                  <a:srgbClr val="059669"/>
                </a:solidFill>
              </a:rPr>
              <a:t>4</a:t>
            </a:r>
          </a:p>
        </p:txBody>
      </p:sp>
      <p:sp>
        <p:nvSpPr>
          <p:cNvPr id="130" name="Text"/>
          <p:cNvSpPr/>
          <p:nvPr/>
        </p:nvSpPr>
        <p:spPr>
          <a:xfrm>
            <a:off x="3014100" y="3010200"/>
            <a:ext cx="1376700" cy="480000"/>
          </a:xfrm>
          <a:prstGeom prst="rect">
            <a:avLst/>
          </a:prstGeom>
          <a:noFill/>
          <a:ln/>
        </p:spPr>
        <p:txBody>
          <a:bodyPr wrap="square" lIns="0" tIns="0" rIns="0" bIns="0" rtlCol="0" anchor="ctr"/>
          <a:lstStyle/>
          <a:p>
            <a:pPr marL="0" indent="0" algn="l">
              <a:buNone/>
            </a:pPr>
            <a:r>
              <a:rPr lang="en-US" sz="800" b="0" dirty="0">
                <a:solidFill>
                  <a:srgbClr val="E2E8F0"/>
                </a:solidFill>
              </a:rPr>
              <a:t>test_retirement_calc.py</a:t>
            </a:r>
          </a:p>
        </p:txBody>
      </p:sp>
      <p:sp>
        <p:nvSpPr>
          <p:cNvPr id="131" name="Card"/>
          <p:cNvSpPr/>
          <p:nvPr/>
        </p:nvSpPr>
        <p:spPr>
          <a:xfrm>
            <a:off x="4451000" y="3010200"/>
            <a:ext cx="1976700" cy="480000"/>
          </a:xfrm>
          <a:prstGeom prst="roundRect">
            <a:avLst>
              <a:gd name="adj" fmla="val 9000"/>
            </a:avLst>
          </a:prstGeom>
          <a:solidFill>
            <a:srgbClr val="162032"/>
          </a:solidFill>
          <a:ln/>
          <a:effectLst>
            <a:outerShdw blurRad="101600" dist="38100" dir="2700000" algn="bl" rotWithShape="0">
              <a:srgbClr val="000000">
                <a:alpha val="18000"/>
              </a:srgbClr>
            </a:outerShdw>
          </a:effectLst>
        </p:spPr>
      </p:sp>
      <p:sp>
        <p:nvSpPr>
          <p:cNvPr id="132" name="Text"/>
          <p:cNvSpPr/>
          <p:nvPr/>
        </p:nvSpPr>
        <p:spPr>
          <a:xfrm>
            <a:off x="4561000" y="3070200"/>
            <a:ext cx="420000" cy="360000"/>
          </a:xfrm>
          <a:prstGeom prst="rect">
            <a:avLst/>
          </a:prstGeom>
          <a:noFill/>
          <a:ln/>
        </p:spPr>
        <p:txBody>
          <a:bodyPr wrap="square" lIns="0" tIns="0" rIns="0" bIns="0" rtlCol="0" anchor="ctr"/>
          <a:lstStyle/>
          <a:p>
            <a:pPr marL="0" indent="0" algn="l">
              <a:buNone/>
            </a:pPr>
            <a:r>
              <a:rPr lang="en-US" sz="1500" b="1" dirty="0">
                <a:solidFill>
                  <a:srgbClr val="059669"/>
                </a:solidFill>
              </a:rPr>
              <a:t>5</a:t>
            </a:r>
          </a:p>
        </p:txBody>
      </p:sp>
      <p:sp>
        <p:nvSpPr>
          <p:cNvPr id="133" name="Text"/>
          <p:cNvSpPr/>
          <p:nvPr/>
        </p:nvSpPr>
        <p:spPr>
          <a:xfrm>
            <a:off x="5011000" y="3010200"/>
            <a:ext cx="1376700" cy="480000"/>
          </a:xfrm>
          <a:prstGeom prst="rect">
            <a:avLst/>
          </a:prstGeom>
          <a:noFill/>
          <a:ln/>
        </p:spPr>
        <p:txBody>
          <a:bodyPr wrap="square" lIns="0" tIns="0" rIns="0" bIns="0" rtlCol="0" anchor="ctr"/>
          <a:lstStyle/>
          <a:p>
            <a:pPr marL="0" indent="0" algn="l">
              <a:buNone/>
            </a:pPr>
            <a:r>
              <a:rPr lang="en-US" sz="800" b="0" dirty="0">
                <a:solidFill>
                  <a:srgbClr val="E2E8F0"/>
                </a:solidFill>
              </a:rPr>
              <a:t>test_sampling.py</a:t>
            </a:r>
          </a:p>
        </p:txBody>
      </p:sp>
      <p:sp>
        <p:nvSpPr>
          <p:cNvPr id="134" name="Card"/>
          <p:cNvSpPr/>
          <p:nvPr/>
        </p:nvSpPr>
        <p:spPr>
          <a:xfrm>
            <a:off x="6447900" y="3010200"/>
            <a:ext cx="1976700" cy="480000"/>
          </a:xfrm>
          <a:prstGeom prst="roundRect">
            <a:avLst>
              <a:gd name="adj" fmla="val 9000"/>
            </a:avLst>
          </a:prstGeom>
          <a:solidFill>
            <a:srgbClr val="162032"/>
          </a:solidFill>
          <a:ln/>
          <a:effectLst>
            <a:outerShdw blurRad="101600" dist="38100" dir="2700000" algn="bl" rotWithShape="0">
              <a:srgbClr val="000000">
                <a:alpha val="18000"/>
              </a:srgbClr>
            </a:outerShdw>
          </a:effectLst>
        </p:spPr>
      </p:sp>
      <p:sp>
        <p:nvSpPr>
          <p:cNvPr id="135" name="Text"/>
          <p:cNvSpPr/>
          <p:nvPr/>
        </p:nvSpPr>
        <p:spPr>
          <a:xfrm>
            <a:off x="6557900" y="3070200"/>
            <a:ext cx="420000" cy="360000"/>
          </a:xfrm>
          <a:prstGeom prst="rect">
            <a:avLst/>
          </a:prstGeom>
          <a:noFill/>
          <a:ln/>
        </p:spPr>
        <p:txBody>
          <a:bodyPr wrap="square" lIns="0" tIns="0" rIns="0" bIns="0" rtlCol="0" anchor="ctr"/>
          <a:lstStyle/>
          <a:p>
            <a:pPr marL="0" indent="0" algn="l">
              <a:buNone/>
            </a:pPr>
            <a:r>
              <a:rPr lang="en-US" sz="1500" b="1" dirty="0">
                <a:solidFill>
                  <a:srgbClr val="059669"/>
                </a:solidFill>
              </a:rPr>
              <a:t>6</a:t>
            </a:r>
          </a:p>
        </p:txBody>
      </p:sp>
      <p:sp>
        <p:nvSpPr>
          <p:cNvPr id="136" name="Text"/>
          <p:cNvSpPr/>
          <p:nvPr/>
        </p:nvSpPr>
        <p:spPr>
          <a:xfrm>
            <a:off x="7007900" y="3010200"/>
            <a:ext cx="1376700" cy="480000"/>
          </a:xfrm>
          <a:prstGeom prst="rect">
            <a:avLst/>
          </a:prstGeom>
          <a:noFill/>
          <a:ln/>
        </p:spPr>
        <p:txBody>
          <a:bodyPr wrap="square" lIns="0" tIns="0" rIns="0" bIns="0" rtlCol="0" anchor="ctr"/>
          <a:lstStyle/>
          <a:p>
            <a:pPr marL="0" indent="0" algn="l">
              <a:buNone/>
            </a:pPr>
            <a:r>
              <a:rPr lang="en-US" sz="800" b="0" dirty="0">
                <a:solidFill>
                  <a:srgbClr val="E2E8F0"/>
                </a:solidFill>
              </a:rPr>
              <a:t>test_schemas.py</a:t>
            </a:r>
          </a:p>
        </p:txBody>
      </p:sp>
      <p:sp>
        <p:nvSpPr>
          <p:cNvPr id="137" name="Text"/>
          <p:cNvSpPr/>
          <p:nvPr/>
        </p:nvSpPr>
        <p:spPr>
          <a:xfrm>
            <a:off x="457200" y="3620400"/>
            <a:ext cx="8229600" cy="220000"/>
          </a:xfrm>
          <a:prstGeom prst="rect">
            <a:avLst/>
          </a:prstGeom>
          <a:noFill/>
          <a:ln/>
        </p:spPr>
        <p:txBody>
          <a:bodyPr wrap="square" lIns="0" tIns="0" rIns="0" bIns="0" rtlCol="0" anchor="t"/>
          <a:lstStyle/>
          <a:p>
            <a:pPr marL="0" indent="0" algn="ctr">
              <a:buNone/>
            </a:pPr>
            <a:r>
              <a:rPr lang="en-US" sz="850" b="0" i="1" dirty="0">
                <a:solidFill>
                  <a:srgbClr val="94A3B8"/>
                </a:solidFill>
              </a:rPr>
              <a:t>All 96 tests run automatically in GitHub Actions on every push — in 6 seconds, no API keys required.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DevOps">
    <p:bg>
      <p:bgPr>
        <a:solidFill>
          <a:srgbClr val="0F1B2D"/>
        </a:solidFill>
        <a:effectLst/>
      </p:bgPr>
    </p:bg>
    <p:spTree>
      <p:nvGrpSpPr>
        <p:cNvPr id="1" name=""/>
        <p:cNvGrpSpPr/>
        <p:nvPr/>
      </p:nvGrpSpPr>
      <p:grpSpPr>
        <a:xfrm>
          <a:off x="0" y="0"/>
          <a:ext cx="0" cy="0"/>
          <a:chOff x="0" y="0"/>
          <a:chExt cx="0" cy="0"/>
        </a:xfrm>
      </p:grpSpPr>
      <p:sp>
        <p:nvSpPr>
          <p:cNvPr id="101" name="Badge"/>
          <p:cNvSpPr/>
          <p:nvPr/>
        </p:nvSpPr>
        <p:spPr>
          <a:xfrm>
            <a:off x="457200" y="274320"/>
            <a:ext cx="1250000" cy="256032"/>
          </a:xfrm>
          <a:prstGeom prst="roundRect">
            <a:avLst>
              <a:gd name="adj" fmla="val 50000"/>
            </a:avLst>
          </a:prstGeom>
          <a:solidFill>
            <a:srgbClr val="D97706">
              <a:alpha val="25000"/>
            </a:srgbClr>
          </a:solidFill>
          <a:ln/>
        </p:spPr>
      </p:sp>
      <p:sp>
        <p:nvSpPr>
          <p:cNvPr id="102" name="BadgeText"/>
          <p:cNvSpPr/>
          <p:nvPr/>
        </p:nvSpPr>
        <p:spPr>
          <a:xfrm>
            <a:off x="457200" y="274320"/>
            <a:ext cx="1250000" cy="256032"/>
          </a:xfrm>
          <a:prstGeom prst="rect">
            <a:avLst/>
          </a:prstGeom>
          <a:noFill/>
          <a:ln/>
        </p:spPr>
        <p:txBody>
          <a:bodyPr wrap="square" lIns="0" tIns="0" rIns="0" bIns="0" rtlCol="0" anchor="ctr"/>
          <a:lstStyle/>
          <a:p>
            <a:pPr marL="0" indent="0" algn="ctr">
              <a:buNone/>
            </a:pPr>
            <a:r>
              <a:rPr lang="en-US" sz="900" b="1" kern="0" spc="150" dirty="0">
                <a:solidFill>
                  <a:srgbClr val="D97706"/>
                </a:solidFill>
              </a:rPr>
              <a:t>DEVOPS</a:t>
            </a:r>
          </a:p>
        </p:txBody>
      </p:sp>
      <p:sp>
        <p:nvSpPr>
          <p:cNvPr id="103" name="Title"/>
          <p:cNvSpPr/>
          <p:nvPr/>
        </p:nvSpPr>
        <p:spPr>
          <a:xfrm>
            <a:off x="457200" y="590000"/>
            <a:ext cx="8229600" cy="4600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rPr>
              <a:t>CI/CD, Observability &amp; Cloud Deployment</a:t>
            </a:r>
          </a:p>
        </p:txBody>
      </p:sp>
      <p:sp>
        <p:nvSpPr>
          <p:cNvPr id="104" name="Text"/>
          <p:cNvSpPr/>
          <p:nvPr/>
        </p:nvSpPr>
        <p:spPr>
          <a:xfrm>
            <a:off x="457200" y="1180000"/>
            <a:ext cx="4000000" cy="200000"/>
          </a:xfrm>
          <a:prstGeom prst="rect">
            <a:avLst/>
          </a:prstGeom>
          <a:noFill/>
          <a:ln/>
        </p:spPr>
        <p:txBody>
          <a:bodyPr wrap="square" lIns="0" tIns="0" rIns="0" bIns="0" rtlCol="0" anchor="t"/>
          <a:lstStyle/>
          <a:p>
            <a:pPr marL="0" indent="0" algn="l">
              <a:buNone/>
            </a:pPr>
            <a:r>
              <a:rPr lang="en-US" sz="1000" b="1" dirty="0">
                <a:solidFill>
                  <a:srgbClr val="FFFFFF"/>
                </a:solidFill>
              </a:rPr>
              <a:t>Automated CI/CD Pipeline</a:t>
            </a:r>
          </a:p>
        </p:txBody>
      </p:sp>
      <p:sp>
        <p:nvSpPr>
          <p:cNvPr id="105" name="Pill"/>
          <p:cNvSpPr/>
          <p:nvPr/>
        </p:nvSpPr>
        <p:spPr>
          <a:xfrm>
            <a:off x="457200" y="1440000"/>
            <a:ext cx="1281600" cy="300000"/>
          </a:xfrm>
          <a:prstGeom prst="roundRect">
            <a:avLst>
              <a:gd name="adj" fmla="val 50000"/>
            </a:avLst>
          </a:prstGeom>
          <a:solidFill>
            <a:srgbClr val="D97706">
              <a:alpha val="20000"/>
            </a:srgbClr>
          </a:solidFill>
          <a:ln/>
        </p:spPr>
        <p:txBody>
          <a:bodyPr wrap="square" lIns="0" tIns="0" rIns="0" bIns="0" rtlCol="0" anchor="ctr"/>
          <a:lstStyle/>
          <a:p>
            <a:pPr marL="0" indent="0" algn="ctr">
              <a:buNone/>
            </a:pPr>
            <a:r>
              <a:rPr lang="en-US" sz="750" b="1" dirty="0">
                <a:solidFill>
                  <a:srgbClr val="FFFFFF"/>
                </a:solidFill>
              </a:rPr>
              <a:t>git push</a:t>
            </a:r>
          </a:p>
        </p:txBody>
      </p:sp>
      <p:sp>
        <p:nvSpPr>
          <p:cNvPr id="106" name="Pill"/>
          <p:cNvSpPr/>
          <p:nvPr/>
        </p:nvSpPr>
        <p:spPr>
          <a:xfrm>
            <a:off x="1798800" y="1440000"/>
            <a:ext cx="1281600" cy="300000"/>
          </a:xfrm>
          <a:prstGeom prst="roundRect">
            <a:avLst>
              <a:gd name="adj" fmla="val 50000"/>
            </a:avLst>
          </a:prstGeom>
          <a:solidFill>
            <a:srgbClr val="D97706">
              <a:alpha val="20000"/>
            </a:srgbClr>
          </a:solidFill>
          <a:ln/>
        </p:spPr>
        <p:txBody>
          <a:bodyPr wrap="square" lIns="0" tIns="0" rIns="0" bIns="0" rtlCol="0" anchor="ctr"/>
          <a:lstStyle/>
          <a:p>
            <a:pPr marL="0" indent="0" algn="ctr">
              <a:buNone/>
            </a:pPr>
            <a:r>
              <a:rPr lang="en-US" sz="750" b="1" dirty="0">
                <a:solidFill>
                  <a:srgbClr val="FFFFFF"/>
                </a:solidFill>
              </a:rPr>
              <a:t>96 tests</a:t>
            </a:r>
          </a:p>
        </p:txBody>
      </p:sp>
      <p:sp>
        <p:nvSpPr>
          <p:cNvPr id="107" name="Pill"/>
          <p:cNvSpPr/>
          <p:nvPr/>
        </p:nvSpPr>
        <p:spPr>
          <a:xfrm>
            <a:off x="3140400" y="1440000"/>
            <a:ext cx="1281600" cy="300000"/>
          </a:xfrm>
          <a:prstGeom prst="roundRect">
            <a:avLst>
              <a:gd name="adj" fmla="val 50000"/>
            </a:avLst>
          </a:prstGeom>
          <a:solidFill>
            <a:srgbClr val="D97706">
              <a:alpha val="20000"/>
            </a:srgbClr>
          </a:solidFill>
          <a:ln/>
        </p:spPr>
        <p:txBody>
          <a:bodyPr wrap="square" lIns="0" tIns="0" rIns="0" bIns="0" rtlCol="0" anchor="ctr"/>
          <a:lstStyle/>
          <a:p>
            <a:pPr marL="0" indent="0" algn="ctr">
              <a:buNone/>
            </a:pPr>
            <a:r>
              <a:rPr lang="en-US" sz="750" b="1" dirty="0">
                <a:solidFill>
                  <a:srgbClr val="FFFFFF"/>
                </a:solidFill>
              </a:rPr>
              <a:t>Docker build</a:t>
            </a:r>
          </a:p>
        </p:txBody>
      </p:sp>
      <p:sp>
        <p:nvSpPr>
          <p:cNvPr id="108" name="Pill"/>
          <p:cNvSpPr/>
          <p:nvPr/>
        </p:nvSpPr>
        <p:spPr>
          <a:xfrm>
            <a:off x="4482000" y="1440000"/>
            <a:ext cx="1281600" cy="300000"/>
          </a:xfrm>
          <a:prstGeom prst="roundRect">
            <a:avLst>
              <a:gd name="adj" fmla="val 50000"/>
            </a:avLst>
          </a:prstGeom>
          <a:solidFill>
            <a:srgbClr val="D97706">
              <a:alpha val="20000"/>
            </a:srgbClr>
          </a:solidFill>
          <a:ln/>
        </p:spPr>
        <p:txBody>
          <a:bodyPr wrap="square" lIns="0" tIns="0" rIns="0" bIns="0" rtlCol="0" anchor="ctr"/>
          <a:lstStyle/>
          <a:p>
            <a:pPr marL="0" indent="0" algn="ctr">
              <a:buNone/>
            </a:pPr>
            <a:r>
              <a:rPr lang="en-US" sz="750" b="1" dirty="0">
                <a:solidFill>
                  <a:srgbClr val="FFFFFF"/>
                </a:solidFill>
              </a:rPr>
              <a:t>Push to ACR</a:t>
            </a:r>
          </a:p>
        </p:txBody>
      </p:sp>
      <p:sp>
        <p:nvSpPr>
          <p:cNvPr id="109" name="Pill"/>
          <p:cNvSpPr/>
          <p:nvPr/>
        </p:nvSpPr>
        <p:spPr>
          <a:xfrm>
            <a:off x="5823600" y="1440000"/>
            <a:ext cx="1281600" cy="300000"/>
          </a:xfrm>
          <a:prstGeom prst="roundRect">
            <a:avLst>
              <a:gd name="adj" fmla="val 50000"/>
            </a:avLst>
          </a:prstGeom>
          <a:solidFill>
            <a:srgbClr val="D97706">
              <a:alpha val="20000"/>
            </a:srgbClr>
          </a:solidFill>
          <a:ln/>
        </p:spPr>
        <p:txBody>
          <a:bodyPr wrap="square" lIns="0" tIns="0" rIns="0" bIns="0" rtlCol="0" anchor="ctr"/>
          <a:lstStyle/>
          <a:p>
            <a:pPr marL="0" indent="0" algn="ctr">
              <a:buNone/>
            </a:pPr>
            <a:r>
              <a:rPr lang="en-US" sz="750" b="1" dirty="0">
                <a:solidFill>
                  <a:srgbClr val="FFFFFF"/>
                </a:solidFill>
              </a:rPr>
              <a:t>Deploy</a:t>
            </a:r>
          </a:p>
        </p:txBody>
      </p:sp>
      <p:sp>
        <p:nvSpPr>
          <p:cNvPr id="110" name="Pill"/>
          <p:cNvSpPr/>
          <p:nvPr/>
        </p:nvSpPr>
        <p:spPr>
          <a:xfrm>
            <a:off x="7165200" y="1440000"/>
            <a:ext cx="1281600" cy="300000"/>
          </a:xfrm>
          <a:prstGeom prst="roundRect">
            <a:avLst>
              <a:gd name="adj" fmla="val 50000"/>
            </a:avLst>
          </a:prstGeom>
          <a:solidFill>
            <a:srgbClr val="D97706">
              <a:alpha val="20000"/>
            </a:srgbClr>
          </a:solidFill>
          <a:ln/>
        </p:spPr>
        <p:txBody>
          <a:bodyPr wrap="square" lIns="0" tIns="0" rIns="0" bIns="0" rtlCol="0" anchor="ctr"/>
          <a:lstStyle/>
          <a:p>
            <a:pPr marL="0" indent="0" algn="ctr">
              <a:buNone/>
            </a:pPr>
            <a:r>
              <a:rPr lang="en-US" sz="750" b="1" dirty="0">
                <a:solidFill>
                  <a:srgbClr val="FFFFFF"/>
                </a:solidFill>
              </a:rPr>
              <a:t>Live on Azure</a:t>
            </a:r>
          </a:p>
        </p:txBody>
      </p:sp>
      <p:sp>
        <p:nvSpPr>
          <p:cNvPr id="111" name="Text"/>
          <p:cNvSpPr/>
          <p:nvPr/>
        </p:nvSpPr>
        <p:spPr>
          <a:xfrm>
            <a:off x="457200" y="1880000"/>
            <a:ext cx="4000000" cy="200000"/>
          </a:xfrm>
          <a:prstGeom prst="rect">
            <a:avLst/>
          </a:prstGeom>
          <a:noFill/>
          <a:ln/>
        </p:spPr>
        <p:txBody>
          <a:bodyPr wrap="square" lIns="0" tIns="0" rIns="0" bIns="0" rtlCol="0" anchor="t"/>
          <a:lstStyle/>
          <a:p>
            <a:pPr marL="0" indent="0" algn="l">
              <a:buNone/>
            </a:pPr>
            <a:r>
              <a:rPr lang="en-US" sz="1000" b="1" dirty="0">
                <a:solidFill>
                  <a:srgbClr val="FFFFFF"/>
                </a:solidFill>
              </a:rPr>
              <a:t>LangSmith — Full Request Tracing</a:t>
            </a:r>
          </a:p>
        </p:txBody>
      </p:sp>
      <p:sp>
        <p:nvSpPr>
          <p:cNvPr id="112" name="Pill"/>
          <p:cNvSpPr/>
          <p:nvPr/>
        </p:nvSpPr>
        <p:spPr>
          <a:xfrm>
            <a:off x="457200" y="2140000"/>
            <a:ext cx="1376000" cy="260000"/>
          </a:xfrm>
          <a:prstGeom prst="roundRect">
            <a:avLst>
              <a:gd name="adj" fmla="val 50000"/>
            </a:avLst>
          </a:prstGeom>
          <a:solidFill>
            <a:srgbClr val="0891B2">
              <a:alpha val="20000"/>
            </a:srgbClr>
          </a:solidFill>
          <a:ln/>
        </p:spPr>
        <p:txBody>
          <a:bodyPr wrap="square" lIns="0" tIns="0" rIns="0" bIns="0" rtlCol="0" anchor="ctr"/>
          <a:lstStyle/>
          <a:p>
            <a:pPr marL="0" indent="0" algn="ctr">
              <a:buNone/>
            </a:pPr>
            <a:r>
              <a:rPr lang="en-US" sz="700" b="1" dirty="0">
                <a:solidFill>
                  <a:srgbClr val="FFFFFF"/>
                </a:solidFill>
              </a:rPr>
              <a:t>auth.login_attempt</a:t>
            </a:r>
          </a:p>
        </p:txBody>
      </p:sp>
      <p:sp>
        <p:nvSpPr>
          <p:cNvPr id="113" name="Pill"/>
          <p:cNvSpPr/>
          <p:nvPr/>
        </p:nvSpPr>
        <p:spPr>
          <a:xfrm>
            <a:off x="1893200" y="2140000"/>
            <a:ext cx="1438000" cy="260000"/>
          </a:xfrm>
          <a:prstGeom prst="roundRect">
            <a:avLst>
              <a:gd name="adj" fmla="val 50000"/>
            </a:avLst>
          </a:prstGeom>
          <a:solidFill>
            <a:srgbClr val="0891B2">
              <a:alpha val="20000"/>
            </a:srgbClr>
          </a:solidFill>
          <a:ln/>
        </p:spPr>
        <p:txBody>
          <a:bodyPr wrap="square" lIns="0" tIns="0" rIns="0" bIns="0" rtlCol="0" anchor="ctr"/>
          <a:lstStyle/>
          <a:p>
            <a:pPr marL="0" indent="0" algn="ctr">
              <a:buNone/>
            </a:pPr>
            <a:r>
              <a:rPr lang="en-US" sz="700" b="1" dirty="0">
                <a:solidFill>
                  <a:srgbClr val="FFFFFF"/>
                </a:solidFill>
              </a:rPr>
              <a:t>document_processing</a:t>
            </a:r>
          </a:p>
        </p:txBody>
      </p:sp>
      <p:sp>
        <p:nvSpPr>
          <p:cNvPr id="114" name="Pill"/>
          <p:cNvSpPr/>
          <p:nvPr/>
        </p:nvSpPr>
        <p:spPr>
          <a:xfrm>
            <a:off x="3391200" y="2140000"/>
            <a:ext cx="1314000" cy="260000"/>
          </a:xfrm>
          <a:prstGeom prst="roundRect">
            <a:avLst>
              <a:gd name="adj" fmla="val 50000"/>
            </a:avLst>
          </a:prstGeom>
          <a:solidFill>
            <a:srgbClr val="0891B2">
              <a:alpha val="20000"/>
            </a:srgbClr>
          </a:solidFill>
          <a:ln/>
        </p:spPr>
        <p:txBody>
          <a:bodyPr wrap="square" lIns="0" tIns="0" rIns="0" bIns="0" rtlCol="0" anchor="ctr"/>
          <a:lstStyle/>
          <a:p>
            <a:pPr marL="0" indent="0" algn="ctr">
              <a:buNone/>
            </a:pPr>
            <a:r>
              <a:rPr lang="en-US" sz="700" b="1" dirty="0">
                <a:solidFill>
                  <a:srgbClr val="FFFFFF"/>
                </a:solidFill>
              </a:rPr>
              <a:t>run_risk_analysis</a:t>
            </a:r>
          </a:p>
        </p:txBody>
      </p:sp>
      <p:sp>
        <p:nvSpPr>
          <p:cNvPr id="115" name="Pill"/>
          <p:cNvSpPr/>
          <p:nvPr/>
        </p:nvSpPr>
        <p:spPr>
          <a:xfrm>
            <a:off x="4765200" y="2140000"/>
            <a:ext cx="1748000" cy="260000"/>
          </a:xfrm>
          <a:prstGeom prst="roundRect">
            <a:avLst>
              <a:gd name="adj" fmla="val 50000"/>
            </a:avLst>
          </a:prstGeom>
          <a:solidFill>
            <a:srgbClr val="0891B2">
              <a:alpha val="20000"/>
            </a:srgbClr>
          </a:solidFill>
          <a:ln/>
        </p:spPr>
        <p:txBody>
          <a:bodyPr wrap="square" lIns="0" tIns="0" rIns="0" bIns="0" rtlCol="0" anchor="ctr"/>
          <a:lstStyle/>
          <a:p>
            <a:pPr marL="0" indent="0" algn="ctr">
              <a:buNone/>
            </a:pPr>
            <a:r>
              <a:rPr lang="en-US" sz="700" b="1" dirty="0">
                <a:solidFill>
                  <a:srgbClr val="FFFFFF"/>
                </a:solidFill>
              </a:rPr>
              <a:t>retrieval_agent.retrieve</a:t>
            </a:r>
          </a:p>
        </p:txBody>
      </p:sp>
      <p:sp>
        <p:nvSpPr>
          <p:cNvPr id="116" name="Pill"/>
          <p:cNvSpPr/>
          <p:nvPr/>
        </p:nvSpPr>
        <p:spPr>
          <a:xfrm>
            <a:off x="6573200" y="2140000"/>
            <a:ext cx="1872000" cy="260000"/>
          </a:xfrm>
          <a:prstGeom prst="roundRect">
            <a:avLst>
              <a:gd name="adj" fmla="val 50000"/>
            </a:avLst>
          </a:prstGeom>
          <a:solidFill>
            <a:srgbClr val="0891B2">
              <a:alpha val="20000"/>
            </a:srgbClr>
          </a:solidFill>
          <a:ln/>
        </p:spPr>
        <p:txBody>
          <a:bodyPr wrap="square" lIns="0" tIns="0" rIns="0" bIns="0" rtlCol="0" anchor="ctr"/>
          <a:lstStyle/>
          <a:p>
            <a:pPr marL="0" indent="0" algn="ctr">
              <a:buNone/>
            </a:pPr>
            <a:r>
              <a:rPr lang="en-US" sz="700" b="1" dirty="0">
                <a:solidFill>
                  <a:srgbClr val="FFFFFF"/>
                </a:solidFill>
              </a:rPr>
              <a:t>chat_agent.answer_question</a:t>
            </a:r>
          </a:p>
        </p:txBody>
      </p:sp>
      <p:sp>
        <p:nvSpPr>
          <p:cNvPr id="117" name="Text"/>
          <p:cNvSpPr/>
          <p:nvPr/>
        </p:nvSpPr>
        <p:spPr>
          <a:xfrm>
            <a:off x="457200" y="2780000"/>
            <a:ext cx="4000000" cy="200000"/>
          </a:xfrm>
          <a:prstGeom prst="rect">
            <a:avLst/>
          </a:prstGeom>
          <a:noFill/>
          <a:ln/>
        </p:spPr>
        <p:txBody>
          <a:bodyPr wrap="square" lIns="0" tIns="0" rIns="0" bIns="0" rtlCol="0" anchor="t"/>
          <a:lstStyle/>
          <a:p>
            <a:pPr marL="0" indent="0" algn="l">
              <a:buNone/>
            </a:pPr>
            <a:r>
              <a:rPr lang="en-US" sz="1000" b="1" dirty="0">
                <a:solidFill>
                  <a:srgbClr val="FFFFFF"/>
                </a:solidFill>
              </a:rPr>
              <a:t>Live on Azure App Service</a:t>
            </a:r>
          </a:p>
        </p:txBody>
      </p:sp>
      <p:sp>
        <p:nvSpPr>
          <p:cNvPr id="118" name="Card"/>
          <p:cNvSpPr/>
          <p:nvPr/>
        </p:nvSpPr>
        <p:spPr>
          <a:xfrm>
            <a:off x="457200" y="3040000"/>
            <a:ext cx="1976700" cy="760000"/>
          </a:xfrm>
          <a:prstGeom prst="roundRect">
            <a:avLst>
              <a:gd name="adj" fmla="val 8000"/>
            </a:avLst>
          </a:prstGeom>
          <a:solidFill>
            <a:srgbClr val="162032"/>
          </a:solidFill>
          <a:ln/>
          <a:effectLst>
            <a:outerShdw blurRad="101600" dist="38100" dir="2700000" algn="bl" rotWithShape="0">
              <a:srgbClr val="000000">
                <a:alpha val="18000"/>
              </a:srgbClr>
            </a:outerShdw>
          </a:effectLst>
        </p:spPr>
      </p:sp>
      <p:sp>
        <p:nvSpPr>
          <p:cNvPr id="119" name="Text"/>
          <p:cNvSpPr/>
          <p:nvPr/>
        </p:nvSpPr>
        <p:spPr>
          <a:xfrm>
            <a:off x="587200" y="3120000"/>
            <a:ext cx="400000" cy="300000"/>
          </a:xfrm>
          <a:prstGeom prst="rect">
            <a:avLst/>
          </a:prstGeom>
          <a:noFill/>
          <a:ln/>
        </p:spPr>
        <p:txBody>
          <a:bodyPr wrap="square" lIns="0" tIns="0" rIns="0" bIns="0" rtlCol="0" anchor="t"/>
          <a:lstStyle/>
          <a:p>
            <a:pPr marL="0" indent="0" algn="l">
              <a:buNone/>
            </a:pPr>
            <a:r>
              <a:rPr lang="en-US" sz="1400" b="0" dirty="0">
                <a:solidFill>
                  <a:srgbClr val="FFFFFF"/>
                </a:solidFill>
              </a:rPr>
              <a:t>📦</a:t>
            </a:r>
          </a:p>
        </p:txBody>
      </p:sp>
      <p:sp>
        <p:nvSpPr>
          <p:cNvPr id="120" name="Text"/>
          <p:cNvSpPr/>
          <p:nvPr/>
        </p:nvSpPr>
        <p:spPr>
          <a:xfrm>
            <a:off x="587200" y="3420000"/>
            <a:ext cx="1716700" cy="200000"/>
          </a:xfrm>
          <a:prstGeom prst="rect">
            <a:avLst/>
          </a:prstGeom>
          <a:noFill/>
          <a:ln/>
        </p:spPr>
        <p:txBody>
          <a:bodyPr wrap="square" lIns="0" tIns="0" rIns="0" bIns="0" rtlCol="0" anchor="t"/>
          <a:lstStyle/>
          <a:p>
            <a:pPr marL="0" indent="0" algn="l">
              <a:buNone/>
            </a:pPr>
            <a:r>
              <a:rPr lang="en-US" sz="850" b="1" dirty="0">
                <a:solidFill>
                  <a:srgbClr val="FFFFFF"/>
                </a:solidFill>
              </a:rPr>
              <a:t>Container Registry</a:t>
            </a:r>
          </a:p>
        </p:txBody>
      </p:sp>
      <p:sp>
        <p:nvSpPr>
          <p:cNvPr id="121" name="Text"/>
          <p:cNvSpPr/>
          <p:nvPr/>
        </p:nvSpPr>
        <p:spPr>
          <a:xfrm>
            <a:off x="587200" y="3610000"/>
            <a:ext cx="1716700" cy="300000"/>
          </a:xfrm>
          <a:prstGeom prst="rect">
            <a:avLst/>
          </a:prstGeom>
          <a:noFill/>
          <a:ln/>
        </p:spPr>
        <p:txBody>
          <a:bodyPr wrap="square" lIns="0" tIns="0" rIns="0" bIns="0" rtlCol="0" anchor="t"/>
          <a:lstStyle/>
          <a:p>
            <a:pPr marL="0" indent="0" algn="l">
              <a:lnSpc>
                <a:spcPct val="110000"/>
              </a:lnSpc>
              <a:buNone/>
            </a:pPr>
            <a:r>
              <a:rPr lang="en-US" sz="700" b="0" dirty="0">
                <a:solidFill>
                  <a:srgbClr val="94A3B8"/>
                </a:solidFill>
              </a:rPr>
              <a:t>creditriskakash7272.azurecr.io</a:t>
            </a:r>
          </a:p>
        </p:txBody>
      </p:sp>
      <p:sp>
        <p:nvSpPr>
          <p:cNvPr id="122" name="Card"/>
          <p:cNvSpPr/>
          <p:nvPr/>
        </p:nvSpPr>
        <p:spPr>
          <a:xfrm>
            <a:off x="2454100" y="3040000"/>
            <a:ext cx="1976700" cy="760000"/>
          </a:xfrm>
          <a:prstGeom prst="roundRect">
            <a:avLst>
              <a:gd name="adj" fmla="val 8000"/>
            </a:avLst>
          </a:prstGeom>
          <a:solidFill>
            <a:srgbClr val="162032"/>
          </a:solidFill>
          <a:ln/>
          <a:effectLst>
            <a:outerShdw blurRad="101600" dist="38100" dir="2700000" algn="bl" rotWithShape="0">
              <a:srgbClr val="000000">
                <a:alpha val="18000"/>
              </a:srgbClr>
            </a:outerShdw>
          </a:effectLst>
        </p:spPr>
      </p:sp>
      <p:sp>
        <p:nvSpPr>
          <p:cNvPr id="123" name="Text"/>
          <p:cNvSpPr/>
          <p:nvPr/>
        </p:nvSpPr>
        <p:spPr>
          <a:xfrm>
            <a:off x="2584100" y="3120000"/>
            <a:ext cx="400000" cy="300000"/>
          </a:xfrm>
          <a:prstGeom prst="rect">
            <a:avLst/>
          </a:prstGeom>
          <a:noFill/>
          <a:ln/>
        </p:spPr>
        <p:txBody>
          <a:bodyPr wrap="square" lIns="0" tIns="0" rIns="0" bIns="0" rtlCol="0" anchor="t"/>
          <a:lstStyle/>
          <a:p>
            <a:pPr marL="0" indent="0" algn="l">
              <a:buNone/>
            </a:pPr>
            <a:r>
              <a:rPr lang="en-US" sz="1400" b="0" dirty="0">
                <a:solidFill>
                  <a:srgbClr val="FFFFFF"/>
                </a:solidFill>
              </a:rPr>
              <a:t>⚙️</a:t>
            </a:r>
          </a:p>
        </p:txBody>
      </p:sp>
      <p:sp>
        <p:nvSpPr>
          <p:cNvPr id="124" name="Text"/>
          <p:cNvSpPr/>
          <p:nvPr/>
        </p:nvSpPr>
        <p:spPr>
          <a:xfrm>
            <a:off x="2584100" y="3420000"/>
            <a:ext cx="1716700" cy="200000"/>
          </a:xfrm>
          <a:prstGeom prst="rect">
            <a:avLst/>
          </a:prstGeom>
          <a:noFill/>
          <a:ln/>
        </p:spPr>
        <p:txBody>
          <a:bodyPr wrap="square" lIns="0" tIns="0" rIns="0" bIns="0" rtlCol="0" anchor="t"/>
          <a:lstStyle/>
          <a:p>
            <a:pPr marL="0" indent="0" algn="l">
              <a:buNone/>
            </a:pPr>
            <a:r>
              <a:rPr lang="en-US" sz="850" b="1" dirty="0">
                <a:solidFill>
                  <a:srgbClr val="FFFFFF"/>
                </a:solidFill>
              </a:rPr>
              <a:t>App Service Plan</a:t>
            </a:r>
          </a:p>
        </p:txBody>
      </p:sp>
      <p:sp>
        <p:nvSpPr>
          <p:cNvPr id="125" name="Text"/>
          <p:cNvSpPr/>
          <p:nvPr/>
        </p:nvSpPr>
        <p:spPr>
          <a:xfrm>
            <a:off x="2584100" y="3610000"/>
            <a:ext cx="1716700" cy="300000"/>
          </a:xfrm>
          <a:prstGeom prst="rect">
            <a:avLst/>
          </a:prstGeom>
          <a:noFill/>
          <a:ln/>
        </p:spPr>
        <p:txBody>
          <a:bodyPr wrap="square" lIns="0" tIns="0" rIns="0" bIns="0" rtlCol="0" anchor="t"/>
          <a:lstStyle/>
          <a:p>
            <a:pPr marL="0" indent="0" algn="l">
              <a:lnSpc>
                <a:spcPct val="110000"/>
              </a:lnSpc>
              <a:buNone/>
            </a:pPr>
            <a:r>
              <a:rPr lang="en-US" sz="700" b="0" dirty="0">
                <a:solidFill>
                  <a:srgbClr val="94A3B8"/>
                </a:solidFill>
              </a:rPr>
              <a:t>B2 — 2 CPU, 3.5GB RAM</a:t>
            </a:r>
          </a:p>
        </p:txBody>
      </p:sp>
      <p:sp>
        <p:nvSpPr>
          <p:cNvPr id="126" name="Card"/>
          <p:cNvSpPr/>
          <p:nvPr/>
        </p:nvSpPr>
        <p:spPr>
          <a:xfrm>
            <a:off x="4451000" y="3040000"/>
            <a:ext cx="1976700" cy="760000"/>
          </a:xfrm>
          <a:prstGeom prst="roundRect">
            <a:avLst>
              <a:gd name="adj" fmla="val 8000"/>
            </a:avLst>
          </a:prstGeom>
          <a:solidFill>
            <a:srgbClr val="162032"/>
          </a:solidFill>
          <a:ln/>
          <a:effectLst>
            <a:outerShdw blurRad="101600" dist="38100" dir="2700000" algn="bl" rotWithShape="0">
              <a:srgbClr val="000000">
                <a:alpha val="18000"/>
              </a:srgbClr>
            </a:outerShdw>
          </a:effectLst>
        </p:spPr>
      </p:sp>
      <p:sp>
        <p:nvSpPr>
          <p:cNvPr id="127" name="Text"/>
          <p:cNvSpPr/>
          <p:nvPr/>
        </p:nvSpPr>
        <p:spPr>
          <a:xfrm>
            <a:off x="4581000" y="3120000"/>
            <a:ext cx="400000" cy="300000"/>
          </a:xfrm>
          <a:prstGeom prst="rect">
            <a:avLst/>
          </a:prstGeom>
          <a:noFill/>
          <a:ln/>
        </p:spPr>
        <p:txBody>
          <a:bodyPr wrap="square" lIns="0" tIns="0" rIns="0" bIns="0" rtlCol="0" anchor="t"/>
          <a:lstStyle/>
          <a:p>
            <a:pPr marL="0" indent="0" algn="l">
              <a:buNone/>
            </a:pPr>
            <a:r>
              <a:rPr lang="en-US" sz="1400" b="0" dirty="0">
                <a:solidFill>
                  <a:srgbClr val="FFFFFF"/>
                </a:solidFill>
              </a:rPr>
              <a:t>🌐</a:t>
            </a:r>
          </a:p>
        </p:txBody>
      </p:sp>
      <p:sp>
        <p:nvSpPr>
          <p:cNvPr id="128" name="Text"/>
          <p:cNvSpPr/>
          <p:nvPr/>
        </p:nvSpPr>
        <p:spPr>
          <a:xfrm>
            <a:off x="4581000" y="3420000"/>
            <a:ext cx="1716700" cy="200000"/>
          </a:xfrm>
          <a:prstGeom prst="rect">
            <a:avLst/>
          </a:prstGeom>
          <a:noFill/>
          <a:ln/>
        </p:spPr>
        <p:txBody>
          <a:bodyPr wrap="square" lIns="0" tIns="0" rIns="0" bIns="0" rtlCol="0" anchor="t"/>
          <a:lstStyle/>
          <a:p>
            <a:pPr marL="0" indent="0" algn="l">
              <a:buNone/>
            </a:pPr>
            <a:r>
              <a:rPr lang="en-US" sz="850" b="1" dirty="0">
                <a:solidFill>
                  <a:srgbClr val="FFFFFF"/>
                </a:solidFill>
              </a:rPr>
              <a:t>Web App</a:t>
            </a:r>
          </a:p>
        </p:txBody>
      </p:sp>
      <p:sp>
        <p:nvSpPr>
          <p:cNvPr id="129" name="Text"/>
          <p:cNvSpPr/>
          <p:nvPr/>
        </p:nvSpPr>
        <p:spPr>
          <a:xfrm>
            <a:off x="4581000" y="3610000"/>
            <a:ext cx="1716700" cy="300000"/>
          </a:xfrm>
          <a:prstGeom prst="rect">
            <a:avLst/>
          </a:prstGeom>
          <a:noFill/>
          <a:ln/>
        </p:spPr>
        <p:txBody>
          <a:bodyPr wrap="square" lIns="0" tIns="0" rIns="0" bIns="0" rtlCol="0" anchor="t"/>
          <a:lstStyle/>
          <a:p>
            <a:pPr marL="0" indent="0" algn="l">
              <a:lnSpc>
                <a:spcPct val="110000"/>
              </a:lnSpc>
              <a:buNone/>
            </a:pPr>
            <a:r>
              <a:rPr lang="en-US" sz="700" b="0" dirty="0">
                <a:solidFill>
                  <a:srgbClr val="94A3B8"/>
                </a:solidFill>
              </a:rPr>
              <a:t>creditriskplatform.azurewebsites.net</a:t>
            </a:r>
          </a:p>
        </p:txBody>
      </p:sp>
      <p:sp>
        <p:nvSpPr>
          <p:cNvPr id="130" name="Card"/>
          <p:cNvSpPr/>
          <p:nvPr/>
        </p:nvSpPr>
        <p:spPr>
          <a:xfrm>
            <a:off x="6447900" y="3040000"/>
            <a:ext cx="1976700" cy="760000"/>
          </a:xfrm>
          <a:prstGeom prst="roundRect">
            <a:avLst>
              <a:gd name="adj" fmla="val 8000"/>
            </a:avLst>
          </a:prstGeom>
          <a:solidFill>
            <a:srgbClr val="162032"/>
          </a:solidFill>
          <a:ln/>
          <a:effectLst>
            <a:outerShdw blurRad="101600" dist="38100" dir="2700000" algn="bl" rotWithShape="0">
              <a:srgbClr val="000000">
                <a:alpha val="18000"/>
              </a:srgbClr>
            </a:outerShdw>
          </a:effectLst>
        </p:spPr>
      </p:sp>
      <p:sp>
        <p:nvSpPr>
          <p:cNvPr id="131" name="Text"/>
          <p:cNvSpPr/>
          <p:nvPr/>
        </p:nvSpPr>
        <p:spPr>
          <a:xfrm>
            <a:off x="6577900" y="3120000"/>
            <a:ext cx="400000" cy="300000"/>
          </a:xfrm>
          <a:prstGeom prst="rect">
            <a:avLst/>
          </a:prstGeom>
          <a:noFill/>
          <a:ln/>
        </p:spPr>
        <p:txBody>
          <a:bodyPr wrap="square" lIns="0" tIns="0" rIns="0" bIns="0" rtlCol="0" anchor="t"/>
          <a:lstStyle/>
          <a:p>
            <a:pPr marL="0" indent="0" algn="l">
              <a:buNone/>
            </a:pPr>
            <a:r>
              <a:rPr lang="en-US" sz="1400" b="0" dirty="0">
                <a:solidFill>
                  <a:srgbClr val="FFFFFF"/>
                </a:solidFill>
              </a:rPr>
              <a:t>🔑</a:t>
            </a:r>
          </a:p>
        </p:txBody>
      </p:sp>
      <p:sp>
        <p:nvSpPr>
          <p:cNvPr id="132" name="Text"/>
          <p:cNvSpPr/>
          <p:nvPr/>
        </p:nvSpPr>
        <p:spPr>
          <a:xfrm>
            <a:off x="6577900" y="3420000"/>
            <a:ext cx="1716700" cy="200000"/>
          </a:xfrm>
          <a:prstGeom prst="rect">
            <a:avLst/>
          </a:prstGeom>
          <a:noFill/>
          <a:ln/>
        </p:spPr>
        <p:txBody>
          <a:bodyPr wrap="square" lIns="0" tIns="0" rIns="0" bIns="0" rtlCol="0" anchor="t"/>
          <a:lstStyle/>
          <a:p>
            <a:pPr marL="0" indent="0" algn="l">
              <a:buNone/>
            </a:pPr>
            <a:r>
              <a:rPr lang="en-US" sz="850" b="1" dirty="0">
                <a:solidFill>
                  <a:srgbClr val="FFFFFF"/>
                </a:solidFill>
              </a:rPr>
              <a:t>Environment Vars</a:t>
            </a:r>
          </a:p>
        </p:txBody>
      </p:sp>
      <p:sp>
        <p:nvSpPr>
          <p:cNvPr id="133" name="Text"/>
          <p:cNvSpPr/>
          <p:nvPr/>
        </p:nvSpPr>
        <p:spPr>
          <a:xfrm>
            <a:off x="6577900" y="3610000"/>
            <a:ext cx="1716700" cy="300000"/>
          </a:xfrm>
          <a:prstGeom prst="rect">
            <a:avLst/>
          </a:prstGeom>
          <a:noFill/>
          <a:ln/>
        </p:spPr>
        <p:txBody>
          <a:bodyPr wrap="square" lIns="0" tIns="0" rIns="0" bIns="0" rtlCol="0" anchor="t"/>
          <a:lstStyle/>
          <a:p>
            <a:pPr marL="0" indent="0" algn="l">
              <a:lnSpc>
                <a:spcPct val="110000"/>
              </a:lnSpc>
              <a:buNone/>
            </a:pPr>
            <a:r>
              <a:rPr lang="en-US" sz="700" b="0" dirty="0">
                <a:solidFill>
                  <a:srgbClr val="94A3B8"/>
                </a:solidFill>
              </a:rPr>
              <a:t>13 secure settings, never baked into image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Challenges and Lessons">
    <p:bg>
      <p:bgPr>
        <a:solidFill>
          <a:srgbClr val="0F1B2D"/>
        </a:solidFill>
        <a:effectLst/>
      </p:bgPr>
    </p:bg>
    <p:spTree>
      <p:nvGrpSpPr>
        <p:cNvPr id="1" name=""/>
        <p:cNvGrpSpPr/>
        <p:nvPr/>
      </p:nvGrpSpPr>
      <p:grpSpPr>
        <a:xfrm>
          <a:off x="0" y="0"/>
          <a:ext cx="0" cy="0"/>
          <a:chOff x="0" y="0"/>
          <a:chExt cx="0" cy="0"/>
        </a:xfrm>
      </p:grpSpPr>
      <p:sp>
        <p:nvSpPr>
          <p:cNvPr id="101" name="Badge"/>
          <p:cNvSpPr/>
          <p:nvPr/>
        </p:nvSpPr>
        <p:spPr>
          <a:xfrm>
            <a:off x="457200" y="274320"/>
            <a:ext cx="1250000" cy="256032"/>
          </a:xfrm>
          <a:prstGeom prst="roundRect">
            <a:avLst>
              <a:gd name="adj" fmla="val 50000"/>
            </a:avLst>
          </a:prstGeom>
          <a:solidFill>
            <a:srgbClr val="DC2626">
              <a:alpha val="25000"/>
            </a:srgbClr>
          </a:solidFill>
          <a:ln/>
        </p:spPr>
      </p:sp>
      <p:sp>
        <p:nvSpPr>
          <p:cNvPr id="102" name="BadgeText"/>
          <p:cNvSpPr/>
          <p:nvPr/>
        </p:nvSpPr>
        <p:spPr>
          <a:xfrm>
            <a:off x="457200" y="274320"/>
            <a:ext cx="1250000" cy="256032"/>
          </a:xfrm>
          <a:prstGeom prst="rect">
            <a:avLst/>
          </a:prstGeom>
          <a:noFill/>
          <a:ln/>
        </p:spPr>
        <p:txBody>
          <a:bodyPr wrap="square" lIns="0" tIns="0" rIns="0" bIns="0" rtlCol="0" anchor="ctr"/>
          <a:lstStyle/>
          <a:p>
            <a:pPr marL="0" indent="0" algn="ctr">
              <a:buNone/>
            </a:pPr>
            <a:r>
              <a:rPr lang="en-US" sz="900" b="1" kern="0" spc="150" dirty="0">
                <a:solidFill>
                  <a:srgbClr val="DC2626"/>
                </a:solidFill>
              </a:rPr>
              <a:t>LESSONS</a:t>
            </a:r>
          </a:p>
        </p:txBody>
      </p:sp>
      <p:sp>
        <p:nvSpPr>
          <p:cNvPr id="103" name="Title"/>
          <p:cNvSpPr/>
          <p:nvPr/>
        </p:nvSpPr>
        <p:spPr>
          <a:xfrm>
            <a:off x="457200" y="590000"/>
            <a:ext cx="8229600" cy="4600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rPr>
              <a:t>Challenges We Solved &amp; What We Learned</a:t>
            </a:r>
          </a:p>
        </p:txBody>
      </p:sp>
      <p:sp>
        <p:nvSpPr>
          <p:cNvPr id="104" name="Badge"/>
          <p:cNvSpPr/>
          <p:nvPr/>
        </p:nvSpPr>
        <p:spPr>
          <a:xfrm>
            <a:off x="457200" y="1180000"/>
            <a:ext cx="2100000" cy="230000"/>
          </a:xfrm>
          <a:prstGeom prst="roundRect">
            <a:avLst>
              <a:gd name="adj" fmla="val 50000"/>
            </a:avLst>
          </a:prstGeom>
          <a:solidFill>
            <a:srgbClr val="DC2626">
              <a:alpha val="25000"/>
            </a:srgbClr>
          </a:solidFill>
          <a:ln/>
        </p:spPr>
      </p:sp>
      <p:sp>
        <p:nvSpPr>
          <p:cNvPr id="105" name="BadgeText"/>
          <p:cNvSpPr/>
          <p:nvPr/>
        </p:nvSpPr>
        <p:spPr>
          <a:xfrm>
            <a:off x="457200" y="1180000"/>
            <a:ext cx="2100000" cy="230000"/>
          </a:xfrm>
          <a:prstGeom prst="rect">
            <a:avLst/>
          </a:prstGeom>
          <a:noFill/>
          <a:ln/>
        </p:spPr>
        <p:txBody>
          <a:bodyPr wrap="square" lIns="0" tIns="0" rIns="0" bIns="0" rtlCol="0" anchor="ctr"/>
          <a:lstStyle/>
          <a:p>
            <a:pPr marL="0" indent="0" algn="ctr">
              <a:buNone/>
            </a:pPr>
            <a:r>
              <a:rPr lang="en-US" sz="900" b="1" kern="0" spc="150" dirty="0">
                <a:solidFill>
                  <a:srgbClr val="DC2626"/>
                </a:solidFill>
              </a:rPr>
              <a:t>HARDEST PROBLEMS</a:t>
            </a:r>
          </a:p>
        </p:txBody>
      </p:sp>
      <p:sp>
        <p:nvSpPr>
          <p:cNvPr id="106" name="Text"/>
          <p:cNvSpPr/>
          <p:nvPr/>
        </p:nvSpPr>
        <p:spPr>
          <a:xfrm>
            <a:off x="457200" y="1480000"/>
            <a:ext cx="4000500" cy="190000"/>
          </a:xfrm>
          <a:prstGeom prst="rect">
            <a:avLst/>
          </a:prstGeom>
          <a:noFill/>
          <a:ln/>
        </p:spPr>
        <p:txBody>
          <a:bodyPr wrap="square" lIns="0" tIns="0" rIns="0" bIns="0" rtlCol="0" anchor="t"/>
          <a:lstStyle/>
          <a:p>
            <a:pPr marL="0" indent="0" algn="l">
              <a:buNone/>
            </a:pPr>
            <a:r>
              <a:rPr lang="en-US" sz="950" b="1" dirty="0">
                <a:solidFill>
                  <a:srgbClr val="FFFFFF"/>
                </a:solidFill>
              </a:rPr>
              <a:t>Hallucination in RAG</a:t>
            </a:r>
          </a:p>
        </p:txBody>
      </p:sp>
      <p:sp>
        <p:nvSpPr>
          <p:cNvPr id="107" name="Text"/>
          <p:cNvSpPr/>
          <p:nvPr/>
        </p:nvSpPr>
        <p:spPr>
          <a:xfrm>
            <a:off x="457200" y="1680000"/>
            <a:ext cx="4000500" cy="340000"/>
          </a:xfrm>
          <a:prstGeom prst="rect">
            <a:avLst/>
          </a:prstGeom>
          <a:noFill/>
          <a:ln/>
        </p:spPr>
        <p:txBody>
          <a:bodyPr wrap="square" lIns="0" tIns="0" rIns="0" bIns="0" rtlCol="0" anchor="t"/>
          <a:lstStyle/>
          <a:p>
            <a:pPr marL="0" indent="0" algn="l">
              <a:lnSpc>
                <a:spcPct val="115000"/>
              </a:lnSpc>
              <a:buNone/>
            </a:pPr>
            <a:r>
              <a:rPr lang="en-US" sz="800" b="0" dirty="0">
                <a:solidFill>
                  <a:srgbClr val="94A3B8"/>
                </a:solidFill>
              </a:rPr>
              <a:t>✅  Hybrid BM25 + vector search with year-aware re-ranking. 0.58 → 0.22.</a:t>
            </a:r>
          </a:p>
        </p:txBody>
      </p:sp>
      <p:sp>
        <p:nvSpPr>
          <p:cNvPr id="108" name="Text"/>
          <p:cNvSpPr/>
          <p:nvPr/>
        </p:nvSpPr>
        <p:spPr>
          <a:xfrm>
            <a:off x="457200" y="2060000"/>
            <a:ext cx="4000500" cy="190000"/>
          </a:xfrm>
          <a:prstGeom prst="rect">
            <a:avLst/>
          </a:prstGeom>
          <a:noFill/>
          <a:ln/>
        </p:spPr>
        <p:txBody>
          <a:bodyPr wrap="square" lIns="0" tIns="0" rIns="0" bIns="0" rtlCol="0" anchor="t"/>
          <a:lstStyle/>
          <a:p>
            <a:pPr marL="0" indent="0" algn="l">
              <a:buNone/>
            </a:pPr>
            <a:r>
              <a:rPr lang="en-US" sz="950" b="1" dirty="0">
                <a:solidFill>
                  <a:srgbClr val="FFFFFF"/>
                </a:solidFill>
              </a:rPr>
              <a:t>Python 3.11 vs Docker</a:t>
            </a:r>
          </a:p>
        </p:txBody>
      </p:sp>
      <p:sp>
        <p:nvSpPr>
          <p:cNvPr id="109" name="Text"/>
          <p:cNvSpPr/>
          <p:nvPr/>
        </p:nvSpPr>
        <p:spPr>
          <a:xfrm>
            <a:off x="457200" y="2260000"/>
            <a:ext cx="4000500" cy="340000"/>
          </a:xfrm>
          <a:prstGeom prst="rect">
            <a:avLst/>
          </a:prstGeom>
          <a:noFill/>
          <a:ln/>
        </p:spPr>
        <p:txBody>
          <a:bodyPr wrap="square" lIns="0" tIns="0" rIns="0" bIns="0" rtlCol="0" anchor="t"/>
          <a:lstStyle/>
          <a:p>
            <a:pPr marL="0" indent="0" algn="l">
              <a:lnSpc>
                <a:spcPct val="115000"/>
              </a:lnSpc>
              <a:buNone/>
            </a:pPr>
            <a:r>
              <a:rPr lang="en-US" sz="800" b="0" dirty="0">
                <a:solidFill>
                  <a:srgbClr val="94A3B8"/>
                </a:solidFill>
              </a:rPr>
              <a:t>✅  SyntaxError only in Docker's Python 3.11 — fixed, now tested inside Docker pre-deploy.</a:t>
            </a:r>
          </a:p>
        </p:txBody>
      </p:sp>
      <p:sp>
        <p:nvSpPr>
          <p:cNvPr id="110" name="Text"/>
          <p:cNvSpPr/>
          <p:nvPr/>
        </p:nvSpPr>
        <p:spPr>
          <a:xfrm>
            <a:off x="457200" y="2640000"/>
            <a:ext cx="4000500" cy="190000"/>
          </a:xfrm>
          <a:prstGeom prst="rect">
            <a:avLst/>
          </a:prstGeom>
          <a:noFill/>
          <a:ln/>
        </p:spPr>
        <p:txBody>
          <a:bodyPr wrap="square" lIns="0" tIns="0" rIns="0" bIns="0" rtlCol="0" anchor="t"/>
          <a:lstStyle/>
          <a:p>
            <a:pPr marL="0" indent="0" algn="l">
              <a:buNone/>
            </a:pPr>
            <a:r>
              <a:rPr lang="en-US" sz="950" b="1" dirty="0">
                <a:solidFill>
                  <a:srgbClr val="FFFFFF"/>
                </a:solidFill>
              </a:rPr>
              <a:t>Azure CI/CD permissions</a:t>
            </a:r>
          </a:p>
        </p:txBody>
      </p:sp>
      <p:sp>
        <p:nvSpPr>
          <p:cNvPr id="111" name="Text"/>
          <p:cNvSpPr/>
          <p:nvPr/>
        </p:nvSpPr>
        <p:spPr>
          <a:xfrm>
            <a:off x="457200" y="2840000"/>
            <a:ext cx="4000500" cy="340000"/>
          </a:xfrm>
          <a:prstGeom prst="rect">
            <a:avLst/>
          </a:prstGeom>
          <a:noFill/>
          <a:ln/>
        </p:spPr>
        <p:txBody>
          <a:bodyPr wrap="square" lIns="0" tIns="0" rIns="0" bIns="0" rtlCol="0" anchor="t"/>
          <a:lstStyle/>
          <a:p>
            <a:pPr marL="0" indent="0" algn="l">
              <a:lnSpc>
                <a:spcPct val="115000"/>
              </a:lnSpc>
              <a:buNone/>
            </a:pPr>
            <a:r>
              <a:rPr lang="en-US" sz="800" b="0" dirty="0">
                <a:solidFill>
                  <a:srgbClr val="94A3B8"/>
                </a:solidFill>
              </a:rPr>
              <a:t>✅  No Owner role for a service principal — used Deployment Center + system identity instead.</a:t>
            </a:r>
          </a:p>
        </p:txBody>
      </p:sp>
      <p:sp>
        <p:nvSpPr>
          <p:cNvPr id="112" name="Text"/>
          <p:cNvSpPr/>
          <p:nvPr/>
        </p:nvSpPr>
        <p:spPr>
          <a:xfrm>
            <a:off x="457200" y="3220000"/>
            <a:ext cx="4000500" cy="190000"/>
          </a:xfrm>
          <a:prstGeom prst="rect">
            <a:avLst/>
          </a:prstGeom>
          <a:noFill/>
          <a:ln/>
        </p:spPr>
        <p:txBody>
          <a:bodyPr wrap="square" lIns="0" tIns="0" rIns="0" bIns="0" rtlCol="0" anchor="t"/>
          <a:lstStyle/>
          <a:p>
            <a:pPr marL="0" indent="0" algn="l">
              <a:buNone/>
            </a:pPr>
            <a:r>
              <a:rPr lang="en-US" sz="950" b="1" dirty="0">
                <a:solidFill>
                  <a:srgbClr val="FFFFFF"/>
                </a:solidFill>
              </a:rPr>
              <a:t>LLM provider reliability</a:t>
            </a:r>
          </a:p>
        </p:txBody>
      </p:sp>
      <p:sp>
        <p:nvSpPr>
          <p:cNvPr id="113" name="Text"/>
          <p:cNvSpPr/>
          <p:nvPr/>
        </p:nvSpPr>
        <p:spPr>
          <a:xfrm>
            <a:off x="457200" y="3420000"/>
            <a:ext cx="4000500" cy="340000"/>
          </a:xfrm>
          <a:prstGeom prst="rect">
            <a:avLst/>
          </a:prstGeom>
          <a:noFill/>
          <a:ln/>
        </p:spPr>
        <p:txBody>
          <a:bodyPr wrap="square" lIns="0" tIns="0" rIns="0" bIns="0" rtlCol="0" anchor="t"/>
          <a:lstStyle/>
          <a:p>
            <a:pPr marL="0" indent="0" algn="l">
              <a:lnSpc>
                <a:spcPct val="115000"/>
              </a:lnSpc>
              <a:buNone/>
            </a:pPr>
            <a:r>
              <a:rPr lang="en-US" sz="800" b="0" dirty="0">
                <a:solidFill>
                  <a:srgbClr val="94A3B8"/>
                </a:solidFill>
              </a:rPr>
              <a:t>✅  Gemini deprecations, OpenAI 401s, Groq limits — solved with a 3-tier fallback chain.</a:t>
            </a:r>
          </a:p>
        </p:txBody>
      </p:sp>
      <p:sp>
        <p:nvSpPr>
          <p:cNvPr id="114" name="Badge"/>
          <p:cNvSpPr/>
          <p:nvPr/>
        </p:nvSpPr>
        <p:spPr>
          <a:xfrm>
            <a:off x="4686300" y="1180000"/>
            <a:ext cx="1500000" cy="230000"/>
          </a:xfrm>
          <a:prstGeom prst="roundRect">
            <a:avLst>
              <a:gd name="adj" fmla="val 50000"/>
            </a:avLst>
          </a:prstGeom>
          <a:solidFill>
            <a:srgbClr val="059669">
              <a:alpha val="25000"/>
            </a:srgbClr>
          </a:solidFill>
          <a:ln/>
        </p:spPr>
      </p:sp>
      <p:sp>
        <p:nvSpPr>
          <p:cNvPr id="115" name="BadgeText"/>
          <p:cNvSpPr/>
          <p:nvPr/>
        </p:nvSpPr>
        <p:spPr>
          <a:xfrm>
            <a:off x="4686300" y="1180000"/>
            <a:ext cx="1500000" cy="230000"/>
          </a:xfrm>
          <a:prstGeom prst="rect">
            <a:avLst/>
          </a:prstGeom>
          <a:noFill/>
          <a:ln/>
        </p:spPr>
        <p:txBody>
          <a:bodyPr wrap="square" lIns="0" tIns="0" rIns="0" bIns="0" rtlCol="0" anchor="ctr"/>
          <a:lstStyle/>
          <a:p>
            <a:pPr marL="0" indent="0" algn="ctr">
              <a:buNone/>
            </a:pPr>
            <a:r>
              <a:rPr lang="en-US" sz="900" b="1" kern="0" spc="150" dirty="0">
                <a:solidFill>
                  <a:srgbClr val="059669"/>
                </a:solidFill>
              </a:rPr>
              <a:t>WHAT WORKED</a:t>
            </a:r>
          </a:p>
        </p:txBody>
      </p:sp>
      <p:sp>
        <p:nvSpPr>
          <p:cNvPr id="116" name="Text"/>
          <p:cNvSpPr/>
          <p:nvPr/>
        </p:nvSpPr>
        <p:spPr>
          <a:xfrm>
            <a:off x="4686300" y="1480000"/>
            <a:ext cx="30000" cy="190000"/>
          </a:xfrm>
          <a:prstGeom prst="rect">
            <a:avLst/>
          </a:prstGeom>
          <a:noFill/>
          <a:ln/>
        </p:spPr>
        <p:txBody>
          <a:bodyPr wrap="square" lIns="0" tIns="0" rIns="0" bIns="0" rtlCol="0" anchor="t"/>
          <a:lstStyle/>
          <a:p>
            <a:pPr marL="0" indent="0" algn="l">
              <a:buNone/>
            </a:pPr>
            <a:r>
              <a:rPr lang="en-US" sz="900" b="1" dirty="0">
                <a:solidFill>
                  <a:srgbClr val="059669"/>
                </a:solidFill>
              </a:rPr>
              <a:t>•</a:t>
            </a:r>
          </a:p>
        </p:txBody>
      </p:sp>
      <p:sp>
        <p:nvSpPr>
          <p:cNvPr id="117" name="Text"/>
          <p:cNvSpPr/>
          <p:nvPr/>
        </p:nvSpPr>
        <p:spPr>
          <a:xfrm>
            <a:off x="4886300" y="1480000"/>
            <a:ext cx="3800500" cy="190000"/>
          </a:xfrm>
          <a:prstGeom prst="rect">
            <a:avLst/>
          </a:prstGeom>
          <a:noFill/>
          <a:ln/>
        </p:spPr>
        <p:txBody>
          <a:bodyPr wrap="square" lIns="0" tIns="0" rIns="0" bIns="0" rtlCol="0" anchor="t"/>
          <a:lstStyle/>
          <a:p>
            <a:pPr marL="0" indent="0" algn="l">
              <a:buNone/>
            </a:pPr>
            <a:r>
              <a:rPr lang="en-US" sz="800" b="0" dirty="0">
                <a:solidFill>
                  <a:srgbClr val="CBD5E1"/>
                </a:solidFill>
              </a:rPr>
              <a:t>Hybrid search dramatically cut hallucination</a:t>
            </a:r>
          </a:p>
        </p:txBody>
      </p:sp>
      <p:sp>
        <p:nvSpPr>
          <p:cNvPr id="118" name="Text"/>
          <p:cNvSpPr/>
          <p:nvPr/>
        </p:nvSpPr>
        <p:spPr>
          <a:xfrm>
            <a:off x="4686300" y="1740000"/>
            <a:ext cx="30000" cy="190000"/>
          </a:xfrm>
          <a:prstGeom prst="rect">
            <a:avLst/>
          </a:prstGeom>
          <a:noFill/>
          <a:ln/>
        </p:spPr>
        <p:txBody>
          <a:bodyPr wrap="square" lIns="0" tIns="0" rIns="0" bIns="0" rtlCol="0" anchor="t"/>
          <a:lstStyle/>
          <a:p>
            <a:pPr marL="0" indent="0" algn="l">
              <a:buNone/>
            </a:pPr>
            <a:r>
              <a:rPr lang="en-US" sz="900" b="1" dirty="0">
                <a:solidFill>
                  <a:srgbClr val="059669"/>
                </a:solidFill>
              </a:rPr>
              <a:t>•</a:t>
            </a:r>
          </a:p>
        </p:txBody>
      </p:sp>
      <p:sp>
        <p:nvSpPr>
          <p:cNvPr id="119" name="Text"/>
          <p:cNvSpPr/>
          <p:nvPr/>
        </p:nvSpPr>
        <p:spPr>
          <a:xfrm>
            <a:off x="4886300" y="1740000"/>
            <a:ext cx="3800500" cy="190000"/>
          </a:xfrm>
          <a:prstGeom prst="rect">
            <a:avLst/>
          </a:prstGeom>
          <a:noFill/>
          <a:ln/>
        </p:spPr>
        <p:txBody>
          <a:bodyPr wrap="square" lIns="0" tIns="0" rIns="0" bIns="0" rtlCol="0" anchor="t"/>
          <a:lstStyle/>
          <a:p>
            <a:pPr marL="0" indent="0" algn="l">
              <a:buNone/>
            </a:pPr>
            <a:r>
              <a:rPr lang="en-US" sz="800" b="0" dirty="0">
                <a:solidFill>
                  <a:srgbClr val="CBD5E1"/>
                </a:solidFill>
              </a:rPr>
              <a:t>LangSmith tracing made debugging fast</a:t>
            </a:r>
          </a:p>
        </p:txBody>
      </p:sp>
      <p:sp>
        <p:nvSpPr>
          <p:cNvPr id="120" name="Text"/>
          <p:cNvSpPr/>
          <p:nvPr/>
        </p:nvSpPr>
        <p:spPr>
          <a:xfrm>
            <a:off x="4686300" y="2000000"/>
            <a:ext cx="30000" cy="190000"/>
          </a:xfrm>
          <a:prstGeom prst="rect">
            <a:avLst/>
          </a:prstGeom>
          <a:noFill/>
          <a:ln/>
        </p:spPr>
        <p:txBody>
          <a:bodyPr wrap="square" lIns="0" tIns="0" rIns="0" bIns="0" rtlCol="0" anchor="t"/>
          <a:lstStyle/>
          <a:p>
            <a:pPr marL="0" indent="0" algn="l">
              <a:buNone/>
            </a:pPr>
            <a:r>
              <a:rPr lang="en-US" sz="900" b="1" dirty="0">
                <a:solidFill>
                  <a:srgbClr val="059669"/>
                </a:solidFill>
              </a:rPr>
              <a:t>•</a:t>
            </a:r>
          </a:p>
        </p:txBody>
      </p:sp>
      <p:sp>
        <p:nvSpPr>
          <p:cNvPr id="121" name="Text"/>
          <p:cNvSpPr/>
          <p:nvPr/>
        </p:nvSpPr>
        <p:spPr>
          <a:xfrm>
            <a:off x="4886300" y="2000000"/>
            <a:ext cx="3800500" cy="190000"/>
          </a:xfrm>
          <a:prstGeom prst="rect">
            <a:avLst/>
          </a:prstGeom>
          <a:noFill/>
          <a:ln/>
        </p:spPr>
        <p:txBody>
          <a:bodyPr wrap="square" lIns="0" tIns="0" rIns="0" bIns="0" rtlCol="0" anchor="t"/>
          <a:lstStyle/>
          <a:p>
            <a:pPr marL="0" indent="0" algn="l">
              <a:buNone/>
            </a:pPr>
            <a:r>
              <a:rPr lang="en-US" sz="800" b="0" dirty="0">
                <a:solidFill>
                  <a:srgbClr val="CBD5E1"/>
                </a:solidFill>
              </a:rPr>
              <a:t>Pydantic settings caught config errors early</a:t>
            </a:r>
          </a:p>
        </p:txBody>
      </p:sp>
      <p:sp>
        <p:nvSpPr>
          <p:cNvPr id="122" name="Text"/>
          <p:cNvSpPr/>
          <p:nvPr/>
        </p:nvSpPr>
        <p:spPr>
          <a:xfrm>
            <a:off x="4686300" y="2260000"/>
            <a:ext cx="30000" cy="190000"/>
          </a:xfrm>
          <a:prstGeom prst="rect">
            <a:avLst/>
          </a:prstGeom>
          <a:noFill/>
          <a:ln/>
        </p:spPr>
        <p:txBody>
          <a:bodyPr wrap="square" lIns="0" tIns="0" rIns="0" bIns="0" rtlCol="0" anchor="t"/>
          <a:lstStyle/>
          <a:p>
            <a:pPr marL="0" indent="0" algn="l">
              <a:buNone/>
            </a:pPr>
            <a:r>
              <a:rPr lang="en-US" sz="900" b="1" dirty="0">
                <a:solidFill>
                  <a:srgbClr val="059669"/>
                </a:solidFill>
              </a:rPr>
              <a:t>•</a:t>
            </a:r>
          </a:p>
        </p:txBody>
      </p:sp>
      <p:sp>
        <p:nvSpPr>
          <p:cNvPr id="123" name="Text"/>
          <p:cNvSpPr/>
          <p:nvPr/>
        </p:nvSpPr>
        <p:spPr>
          <a:xfrm>
            <a:off x="4886300" y="2260000"/>
            <a:ext cx="3800500" cy="190000"/>
          </a:xfrm>
          <a:prstGeom prst="rect">
            <a:avLst/>
          </a:prstGeom>
          <a:noFill/>
          <a:ln/>
        </p:spPr>
        <p:txBody>
          <a:bodyPr wrap="square" lIns="0" tIns="0" rIns="0" bIns="0" rtlCol="0" anchor="t"/>
          <a:lstStyle/>
          <a:p>
            <a:pPr marL="0" indent="0" algn="l">
              <a:buNone/>
            </a:pPr>
            <a:r>
              <a:rPr lang="en-US" sz="800" b="0" dirty="0">
                <a:solidFill>
                  <a:srgbClr val="CBD5E1"/>
                </a:solidFill>
              </a:rPr>
              <a:t>96 tests caught Docker/Python issues pre-deploy</a:t>
            </a:r>
          </a:p>
        </p:txBody>
      </p:sp>
      <p:sp>
        <p:nvSpPr>
          <p:cNvPr id="124" name="Badge"/>
          <p:cNvSpPr/>
          <p:nvPr/>
        </p:nvSpPr>
        <p:spPr>
          <a:xfrm>
            <a:off x="4686300" y="2660000"/>
            <a:ext cx="1900000" cy="230000"/>
          </a:xfrm>
          <a:prstGeom prst="roundRect">
            <a:avLst>
              <a:gd name="adj" fmla="val 50000"/>
            </a:avLst>
          </a:prstGeom>
          <a:solidFill>
            <a:srgbClr val="D97706">
              <a:alpha val="25000"/>
            </a:srgbClr>
          </a:solidFill>
          <a:ln/>
        </p:spPr>
      </p:sp>
      <p:sp>
        <p:nvSpPr>
          <p:cNvPr id="125" name="BadgeText"/>
          <p:cNvSpPr/>
          <p:nvPr/>
        </p:nvSpPr>
        <p:spPr>
          <a:xfrm>
            <a:off x="4686300" y="2660000"/>
            <a:ext cx="1900000" cy="230000"/>
          </a:xfrm>
          <a:prstGeom prst="rect">
            <a:avLst/>
          </a:prstGeom>
          <a:noFill/>
          <a:ln/>
        </p:spPr>
        <p:txBody>
          <a:bodyPr wrap="square" lIns="0" tIns="0" rIns="0" bIns="0" rtlCol="0" anchor="ctr"/>
          <a:lstStyle/>
          <a:p>
            <a:pPr marL="0" indent="0" algn="ctr">
              <a:buNone/>
            </a:pPr>
            <a:r>
              <a:rPr lang="en-US" sz="900" b="1" kern="0" spc="150" dirty="0">
                <a:solidFill>
                  <a:srgbClr val="D97706"/>
                </a:solidFill>
              </a:rPr>
              <a:t>WHAT WE'D DO DIFFERENTLY</a:t>
            </a:r>
          </a:p>
        </p:txBody>
      </p:sp>
      <p:sp>
        <p:nvSpPr>
          <p:cNvPr id="126" name="Text"/>
          <p:cNvSpPr/>
          <p:nvPr/>
        </p:nvSpPr>
        <p:spPr>
          <a:xfrm>
            <a:off x="4686300" y="2960000"/>
            <a:ext cx="30000" cy="190000"/>
          </a:xfrm>
          <a:prstGeom prst="rect">
            <a:avLst/>
          </a:prstGeom>
          <a:noFill/>
          <a:ln/>
        </p:spPr>
        <p:txBody>
          <a:bodyPr wrap="square" lIns="0" tIns="0" rIns="0" bIns="0" rtlCol="0" anchor="t"/>
          <a:lstStyle/>
          <a:p>
            <a:pPr marL="0" indent="0" algn="l">
              <a:buNone/>
            </a:pPr>
            <a:r>
              <a:rPr lang="en-US" sz="900" b="1" dirty="0">
                <a:solidFill>
                  <a:srgbClr val="D97706"/>
                </a:solidFill>
              </a:rPr>
              <a:t>•</a:t>
            </a:r>
          </a:p>
        </p:txBody>
      </p:sp>
      <p:sp>
        <p:nvSpPr>
          <p:cNvPr id="127" name="Text"/>
          <p:cNvSpPr/>
          <p:nvPr/>
        </p:nvSpPr>
        <p:spPr>
          <a:xfrm>
            <a:off x="4886300" y="2960000"/>
            <a:ext cx="3800500" cy="190000"/>
          </a:xfrm>
          <a:prstGeom prst="rect">
            <a:avLst/>
          </a:prstGeom>
          <a:noFill/>
          <a:ln/>
        </p:spPr>
        <p:txBody>
          <a:bodyPr wrap="square" lIns="0" tIns="0" rIns="0" bIns="0" rtlCol="0" anchor="t"/>
          <a:lstStyle/>
          <a:p>
            <a:pPr marL="0" indent="0" algn="l">
              <a:buNone/>
            </a:pPr>
            <a:r>
              <a:rPr lang="en-US" sz="800" b="0" dirty="0">
                <a:solidFill>
                  <a:srgbClr val="CBD5E1"/>
                </a:solidFill>
              </a:rPr>
              <a:t>Use managed auth (Supabase/Auth0) from day one</a:t>
            </a:r>
          </a:p>
        </p:txBody>
      </p:sp>
      <p:sp>
        <p:nvSpPr>
          <p:cNvPr id="128" name="Text"/>
          <p:cNvSpPr/>
          <p:nvPr/>
        </p:nvSpPr>
        <p:spPr>
          <a:xfrm>
            <a:off x="4686300" y="3220000"/>
            <a:ext cx="30000" cy="190000"/>
          </a:xfrm>
          <a:prstGeom prst="rect">
            <a:avLst/>
          </a:prstGeom>
          <a:noFill/>
          <a:ln/>
        </p:spPr>
        <p:txBody>
          <a:bodyPr wrap="square" lIns="0" tIns="0" rIns="0" bIns="0" rtlCol="0" anchor="t"/>
          <a:lstStyle/>
          <a:p>
            <a:pPr marL="0" indent="0" algn="l">
              <a:buNone/>
            </a:pPr>
            <a:r>
              <a:rPr lang="en-US" sz="900" b="1" dirty="0">
                <a:solidFill>
                  <a:srgbClr val="D97706"/>
                </a:solidFill>
              </a:rPr>
              <a:t>•</a:t>
            </a:r>
          </a:p>
        </p:txBody>
      </p:sp>
      <p:sp>
        <p:nvSpPr>
          <p:cNvPr id="129" name="Text"/>
          <p:cNvSpPr/>
          <p:nvPr/>
        </p:nvSpPr>
        <p:spPr>
          <a:xfrm>
            <a:off x="4886300" y="3220000"/>
            <a:ext cx="3800500" cy="190000"/>
          </a:xfrm>
          <a:prstGeom prst="rect">
            <a:avLst/>
          </a:prstGeom>
          <a:noFill/>
          <a:ln/>
        </p:spPr>
        <p:txBody>
          <a:bodyPr wrap="square" lIns="0" tIns="0" rIns="0" bIns="0" rtlCol="0" anchor="t"/>
          <a:lstStyle/>
          <a:p>
            <a:pPr marL="0" indent="0" algn="l">
              <a:buNone/>
            </a:pPr>
            <a:r>
              <a:rPr lang="en-US" sz="800" b="0" dirty="0">
                <a:solidFill>
                  <a:srgbClr val="CBD5E1"/>
                </a:solidFill>
              </a:rPr>
              <a:t>Pin all package versions from the start</a:t>
            </a:r>
          </a:p>
        </p:txBody>
      </p:sp>
      <p:sp>
        <p:nvSpPr>
          <p:cNvPr id="130" name="Text"/>
          <p:cNvSpPr/>
          <p:nvPr/>
        </p:nvSpPr>
        <p:spPr>
          <a:xfrm>
            <a:off x="4686300" y="3480000"/>
            <a:ext cx="30000" cy="190000"/>
          </a:xfrm>
          <a:prstGeom prst="rect">
            <a:avLst/>
          </a:prstGeom>
          <a:noFill/>
          <a:ln/>
        </p:spPr>
        <p:txBody>
          <a:bodyPr wrap="square" lIns="0" tIns="0" rIns="0" bIns="0" rtlCol="0" anchor="t"/>
          <a:lstStyle/>
          <a:p>
            <a:pPr marL="0" indent="0" algn="l">
              <a:buNone/>
            </a:pPr>
            <a:r>
              <a:rPr lang="en-US" sz="900" b="1" dirty="0">
                <a:solidFill>
                  <a:srgbClr val="D97706"/>
                </a:solidFill>
              </a:rPr>
              <a:t>•</a:t>
            </a:r>
          </a:p>
        </p:txBody>
      </p:sp>
      <p:sp>
        <p:nvSpPr>
          <p:cNvPr id="131" name="Text"/>
          <p:cNvSpPr/>
          <p:nvPr/>
        </p:nvSpPr>
        <p:spPr>
          <a:xfrm>
            <a:off x="4886300" y="3480000"/>
            <a:ext cx="3800500" cy="190000"/>
          </a:xfrm>
          <a:prstGeom prst="rect">
            <a:avLst/>
          </a:prstGeom>
          <a:noFill/>
          <a:ln/>
        </p:spPr>
        <p:txBody>
          <a:bodyPr wrap="square" lIns="0" tIns="0" rIns="0" bIns="0" rtlCol="0" anchor="t"/>
          <a:lstStyle/>
          <a:p>
            <a:pPr marL="0" indent="0" algn="l">
              <a:buNone/>
            </a:pPr>
            <a:r>
              <a:rPr lang="en-US" sz="800" b="0" dirty="0">
                <a:solidFill>
                  <a:srgbClr val="CBD5E1"/>
                </a:solidFill>
              </a:rPr>
              <a:t>Set up LangSmith tracing from day one</a:t>
            </a:r>
          </a:p>
        </p:txBody>
      </p:sp>
      <p:sp>
        <p:nvSpPr>
          <p:cNvPr id="132" name="Text"/>
          <p:cNvSpPr/>
          <p:nvPr/>
        </p:nvSpPr>
        <p:spPr>
          <a:xfrm>
            <a:off x="4686300" y="3740000"/>
            <a:ext cx="30000" cy="190000"/>
          </a:xfrm>
          <a:prstGeom prst="rect">
            <a:avLst/>
          </a:prstGeom>
          <a:noFill/>
          <a:ln/>
        </p:spPr>
        <p:txBody>
          <a:bodyPr wrap="square" lIns="0" tIns="0" rIns="0" bIns="0" rtlCol="0" anchor="t"/>
          <a:lstStyle/>
          <a:p>
            <a:pPr marL="0" indent="0" algn="l">
              <a:buNone/>
            </a:pPr>
            <a:r>
              <a:rPr lang="en-US" sz="900" b="1" dirty="0">
                <a:solidFill>
                  <a:srgbClr val="D97706"/>
                </a:solidFill>
              </a:rPr>
              <a:t>•</a:t>
            </a:r>
          </a:p>
        </p:txBody>
      </p:sp>
      <p:sp>
        <p:nvSpPr>
          <p:cNvPr id="133" name="Text"/>
          <p:cNvSpPr/>
          <p:nvPr/>
        </p:nvSpPr>
        <p:spPr>
          <a:xfrm>
            <a:off x="4886300" y="3740000"/>
            <a:ext cx="3800500" cy="190000"/>
          </a:xfrm>
          <a:prstGeom prst="rect">
            <a:avLst/>
          </a:prstGeom>
          <a:noFill/>
          <a:ln/>
        </p:spPr>
        <p:txBody>
          <a:bodyPr wrap="square" lIns="0" tIns="0" rIns="0" bIns="0" rtlCol="0" anchor="t"/>
          <a:lstStyle/>
          <a:p>
            <a:pPr marL="0" indent="0" algn="l">
              <a:buNone/>
            </a:pPr>
            <a:r>
              <a:rPr lang="en-US" sz="800" b="0" dirty="0">
                <a:solidFill>
                  <a:srgbClr val="CBD5E1"/>
                </a:solidFill>
              </a:rPr>
              <a:t>Add a background job queue for large PDFs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457200" y="274320"/>
            <a:ext cx="2286000" cy="256032"/>
          </a:xfrm>
          <a:prstGeom prst="roundRect">
            <a:avLst>
              <a:gd name="adj" fmla="val 21429"/>
            </a:avLst>
          </a:prstGeom>
          <a:solidFill>
            <a:srgbClr val="F5A623">
              <a:alpha val="22000"/>
            </a:srgbClr>
          </a:solidFill>
          <a:ln/>
        </p:spPr>
      </p:sp>
      <p:sp>
        <p:nvSpPr>
          <p:cNvPr id="3" name="Text 1"/>
          <p:cNvSpPr/>
          <p:nvPr/>
        </p:nvSpPr>
        <p:spPr>
          <a:xfrm>
            <a:off x="457200" y="274320"/>
            <a:ext cx="22860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20" normalizeH="0" baseline="0" noProof="0" dirty="0">
                <a:ln>
                  <a:noFill/>
                </a:ln>
                <a:solidFill>
                  <a:srgbClr val="F5A623"/>
                </a:solidFill>
                <a:effectLst/>
                <a:uLnTx/>
                <a:uFillTx/>
                <a:latin typeface="Calibri" pitchFamily="34" charset="0"/>
                <a:ea typeface="Calibri" pitchFamily="34" charset="-122"/>
                <a:cs typeface="Calibri" pitchFamily="34" charset="-120"/>
              </a:rPr>
              <a:t>EY GUIDELINES · IN PRACTICE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566928"/>
            <a:ext cx="82296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How Our Project Followed EY Coding Guidelines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457200" y="969264"/>
            <a:ext cx="8229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AAB4C4"/>
                </a:solidFill>
                <a:effectLst/>
                <a:uLnTx/>
                <a:uFillTx/>
                <a:latin typeface="Calibri" pitchFamily="34" charset="0"/>
                <a:ea typeface="Calibri" pitchFamily="34" charset="-122"/>
                <a:cs typeface="Calibri" pitchFamily="34" charset="-120"/>
              </a:rPr>
              <a:t>Every EY coding principle mapped to what we actually built and shipped on the Credit Risk Intelligence Platform.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417320"/>
            <a:ext cx="3977640" cy="841248"/>
          </a:xfrm>
          <a:prstGeom prst="roundRect">
            <a:avLst>
              <a:gd name="adj" fmla="val 6522"/>
            </a:avLst>
          </a:prstGeom>
          <a:solidFill>
            <a:srgbClr val="162032"/>
          </a:solidFill>
          <a:ln w="9525">
            <a:solidFill>
              <a:srgbClr val="233047"/>
            </a:solidFill>
            <a:prstDash val="solid"/>
          </a:ln>
          <a:effectLst>
            <a:outerShdw blurRad="76200" dist="25400" dir="5400000" algn="bl" rotWithShape="0">
              <a:srgbClr val="000000">
                <a:alpha val="16000"/>
              </a:srgbClr>
            </a:outerShdw>
          </a:effectLst>
        </p:spPr>
      </p:sp>
      <p:sp>
        <p:nvSpPr>
          <p:cNvPr id="7" name="Shape 5"/>
          <p:cNvSpPr/>
          <p:nvPr/>
        </p:nvSpPr>
        <p:spPr>
          <a:xfrm>
            <a:off x="603504" y="1545336"/>
            <a:ext cx="402336" cy="402336"/>
          </a:xfrm>
          <a:prstGeom prst="ellipse">
            <a:avLst/>
          </a:prstGeom>
          <a:solidFill>
            <a:srgbClr val="E8544E">
              <a:alpha val="20000"/>
            </a:srgbClr>
          </a:solidFill>
          <a:ln/>
        </p:spPr>
      </p:sp>
      <p:sp>
        <p:nvSpPr>
          <p:cNvPr id="8" name="Text 6"/>
          <p:cNvSpPr/>
          <p:nvPr/>
        </p:nvSpPr>
        <p:spPr>
          <a:xfrm>
            <a:off x="603504" y="1545336"/>
            <a:ext cx="402336"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8544E"/>
                </a:solidFill>
                <a:effectLst/>
                <a:uLnTx/>
                <a:uFillTx/>
                <a:latin typeface="Calibri" panose="020F050202020403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115568" y="1508760"/>
            <a:ext cx="317296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Naming Conventions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115568" y="1728216"/>
            <a:ext cx="3172968" cy="457200"/>
          </a:xfrm>
          <a:prstGeom prst="rect">
            <a:avLst/>
          </a:prstGeom>
          <a:noFill/>
          <a:ln/>
        </p:spPr>
        <p:txBody>
          <a:bodyPr wrap="square" lIns="0" tIns="0" rIns="0" bIns="0" rtlCol="0" anchor="t"/>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870" b="0" i="0" u="none" strike="noStrike" kern="1200" cap="none" spc="0" normalizeH="0" baseline="0" noProof="0" dirty="0">
                <a:ln>
                  <a:noFill/>
                </a:ln>
                <a:solidFill>
                  <a:srgbClr val="AAB4C4"/>
                </a:solidFill>
                <a:effectLst/>
                <a:uLnTx/>
                <a:uFillTx/>
                <a:latin typeface="Calibri" pitchFamily="34" charset="0"/>
                <a:ea typeface="Calibri" pitchFamily="34" charset="-122"/>
                <a:cs typeface="Calibri" pitchFamily="34" charset="-120"/>
              </a:rPr>
              <a:t>Modules named by responsibility — test_auth.py, test_loan_workflow.py, test_reranker.py, retrieval_agent, chat_agent — consistent across the codebase.</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709160" y="1417320"/>
            <a:ext cx="3977640" cy="841248"/>
          </a:xfrm>
          <a:prstGeom prst="roundRect">
            <a:avLst>
              <a:gd name="adj" fmla="val 6522"/>
            </a:avLst>
          </a:prstGeom>
          <a:solidFill>
            <a:srgbClr val="162032"/>
          </a:solidFill>
          <a:ln w="9525">
            <a:solidFill>
              <a:srgbClr val="233047"/>
            </a:solidFill>
            <a:prstDash val="solid"/>
          </a:ln>
          <a:effectLst>
            <a:outerShdw blurRad="76200" dist="25400" dir="5400000" algn="bl" rotWithShape="0">
              <a:srgbClr val="000000">
                <a:alpha val="16000"/>
              </a:srgbClr>
            </a:outerShdw>
          </a:effectLst>
        </p:spPr>
      </p:sp>
      <p:sp>
        <p:nvSpPr>
          <p:cNvPr id="12" name="Shape 10"/>
          <p:cNvSpPr/>
          <p:nvPr/>
        </p:nvSpPr>
        <p:spPr>
          <a:xfrm>
            <a:off x="4855464" y="1545336"/>
            <a:ext cx="402336" cy="402336"/>
          </a:xfrm>
          <a:prstGeom prst="ellipse">
            <a:avLst/>
          </a:prstGeom>
          <a:solidFill>
            <a:srgbClr val="3B82F6">
              <a:alpha val="20000"/>
            </a:srgbClr>
          </a:solidFill>
          <a:ln/>
        </p:spPr>
      </p:sp>
      <p:sp>
        <p:nvSpPr>
          <p:cNvPr id="13" name="Text 11"/>
          <p:cNvSpPr/>
          <p:nvPr/>
        </p:nvSpPr>
        <p:spPr>
          <a:xfrm>
            <a:off x="4855464" y="1545336"/>
            <a:ext cx="402336"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B82F6"/>
                </a:solidFill>
                <a:effectLst/>
                <a:uLnTx/>
                <a:uFillTx/>
                <a:latin typeface="Calibri" panose="020F050202020403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367528" y="1508760"/>
            <a:ext cx="317296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Code Reviews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5367528" y="1728216"/>
            <a:ext cx="3172968" cy="457200"/>
          </a:xfrm>
          <a:prstGeom prst="rect">
            <a:avLst/>
          </a:prstGeom>
          <a:noFill/>
          <a:ln/>
        </p:spPr>
        <p:txBody>
          <a:bodyPr wrap="square" lIns="0" tIns="0" rIns="0" bIns="0" rtlCol="0" anchor="t"/>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870" b="0" i="0" u="none" strike="noStrike" kern="1200" cap="none" spc="0" normalizeH="0" baseline="0" noProof="0" dirty="0">
                <a:ln>
                  <a:noFill/>
                </a:ln>
                <a:solidFill>
                  <a:srgbClr val="AAB4C4"/>
                </a:solidFill>
                <a:effectLst/>
                <a:uLnTx/>
                <a:uFillTx/>
                <a:latin typeface="Calibri" pitchFamily="34" charset="0"/>
                <a:ea typeface="Calibri" pitchFamily="34" charset="-122"/>
                <a:cs typeface="Calibri" pitchFamily="34" charset="-120"/>
              </a:rPr>
              <a:t>Every push is gated: GitHub Actions runs all 96 tests automatically before code can move forward — no merge without a passing check.</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457200" y="2331720"/>
            <a:ext cx="3977640" cy="841248"/>
          </a:xfrm>
          <a:prstGeom prst="roundRect">
            <a:avLst>
              <a:gd name="adj" fmla="val 6522"/>
            </a:avLst>
          </a:prstGeom>
          <a:solidFill>
            <a:srgbClr val="162032"/>
          </a:solidFill>
          <a:ln w="9525">
            <a:solidFill>
              <a:srgbClr val="233047"/>
            </a:solidFill>
            <a:prstDash val="solid"/>
          </a:ln>
          <a:effectLst>
            <a:outerShdw blurRad="76200" dist="25400" dir="5400000" algn="bl" rotWithShape="0">
              <a:srgbClr val="000000">
                <a:alpha val="16000"/>
              </a:srgbClr>
            </a:outerShdw>
          </a:effectLst>
        </p:spPr>
      </p:sp>
      <p:sp>
        <p:nvSpPr>
          <p:cNvPr id="17" name="Shape 15"/>
          <p:cNvSpPr/>
          <p:nvPr/>
        </p:nvSpPr>
        <p:spPr>
          <a:xfrm>
            <a:off x="603504" y="2459736"/>
            <a:ext cx="402336" cy="402336"/>
          </a:xfrm>
          <a:prstGeom prst="ellipse">
            <a:avLst/>
          </a:prstGeom>
          <a:solidFill>
            <a:srgbClr val="059669">
              <a:alpha val="20000"/>
            </a:srgbClr>
          </a:solidFill>
          <a:ln/>
        </p:spPr>
      </p:sp>
      <p:sp>
        <p:nvSpPr>
          <p:cNvPr id="18" name="Text 16"/>
          <p:cNvSpPr/>
          <p:nvPr/>
        </p:nvSpPr>
        <p:spPr>
          <a:xfrm>
            <a:off x="603504" y="2459736"/>
            <a:ext cx="402336"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59669"/>
                </a:solidFill>
                <a:effectLst/>
                <a:uLnTx/>
                <a:uFillTx/>
                <a:latin typeface="Calibri" panose="020F050202020403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115568" y="2423160"/>
            <a:ext cx="317296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Documentation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115568" y="2642616"/>
            <a:ext cx="3172968" cy="457200"/>
          </a:xfrm>
          <a:prstGeom prst="rect">
            <a:avLst/>
          </a:prstGeom>
          <a:noFill/>
          <a:ln/>
        </p:spPr>
        <p:txBody>
          <a:bodyPr wrap="square" lIns="0" tIns="0" rIns="0" bIns="0" rtlCol="0" anchor="t"/>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870" b="0" i="0" u="none" strike="noStrike" kern="1200" cap="none" spc="0" normalizeH="0" baseline="0" noProof="0" dirty="0">
                <a:ln>
                  <a:noFill/>
                </a:ln>
                <a:solidFill>
                  <a:srgbClr val="AAB4C4"/>
                </a:solidFill>
                <a:effectLst/>
                <a:uLnTx/>
                <a:uFillTx/>
                <a:latin typeface="Calibri" pitchFamily="34" charset="0"/>
                <a:ea typeface="Calibri" pitchFamily="34" charset="-122"/>
                <a:cs typeface="Calibri" pitchFamily="34" charset="-120"/>
              </a:rPr>
              <a:t>LangSmith traces every step by name (auth.login_attempt, document_processing, run_risk_analysis) — intent is visible, not just code.</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4709160" y="2331720"/>
            <a:ext cx="3977640" cy="841248"/>
          </a:xfrm>
          <a:prstGeom prst="roundRect">
            <a:avLst>
              <a:gd name="adj" fmla="val 6522"/>
            </a:avLst>
          </a:prstGeom>
          <a:solidFill>
            <a:srgbClr val="162032"/>
          </a:solidFill>
          <a:ln w="9525">
            <a:solidFill>
              <a:srgbClr val="233047"/>
            </a:solidFill>
            <a:prstDash val="solid"/>
          </a:ln>
          <a:effectLst>
            <a:outerShdw blurRad="76200" dist="25400" dir="5400000" algn="bl" rotWithShape="0">
              <a:srgbClr val="000000">
                <a:alpha val="16000"/>
              </a:srgbClr>
            </a:outerShdw>
          </a:effectLst>
        </p:spPr>
      </p:sp>
      <p:sp>
        <p:nvSpPr>
          <p:cNvPr id="22" name="Shape 20"/>
          <p:cNvSpPr/>
          <p:nvPr/>
        </p:nvSpPr>
        <p:spPr>
          <a:xfrm>
            <a:off x="4855464" y="2459736"/>
            <a:ext cx="402336" cy="402336"/>
          </a:xfrm>
          <a:prstGeom prst="ellipse">
            <a:avLst/>
          </a:prstGeom>
          <a:solidFill>
            <a:srgbClr val="F5A623">
              <a:alpha val="20000"/>
            </a:srgbClr>
          </a:solidFill>
          <a:ln/>
        </p:spPr>
      </p:sp>
      <p:sp>
        <p:nvSpPr>
          <p:cNvPr id="23" name="Text 21"/>
          <p:cNvSpPr/>
          <p:nvPr/>
        </p:nvSpPr>
        <p:spPr>
          <a:xfrm>
            <a:off x="4855464" y="2459736"/>
            <a:ext cx="402336"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5A623"/>
                </a:solidFill>
                <a:effectLst/>
                <a:uLnTx/>
                <a:uFillTx/>
                <a:latin typeface="Calibri" panose="020F050202020403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5367528" y="2423160"/>
            <a:ext cx="317296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Security &amp; Compliance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367528" y="2642616"/>
            <a:ext cx="3172968" cy="457200"/>
          </a:xfrm>
          <a:prstGeom prst="rect">
            <a:avLst/>
          </a:prstGeom>
          <a:noFill/>
          <a:ln/>
        </p:spPr>
        <p:txBody>
          <a:bodyPr wrap="square" lIns="0" tIns="0" rIns="0" bIns="0" rtlCol="0" anchor="t"/>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870" b="0" i="0" u="none" strike="noStrike" kern="1200" cap="none" spc="0" normalizeH="0" baseline="0" noProof="0" dirty="0">
                <a:ln>
                  <a:noFill/>
                </a:ln>
                <a:solidFill>
                  <a:srgbClr val="AAB4C4"/>
                </a:solidFill>
                <a:effectLst/>
                <a:uLnTx/>
                <a:uFillTx/>
                <a:latin typeface="Calibri" pitchFamily="34" charset="0"/>
                <a:ea typeface="Calibri" pitchFamily="34" charset="-122"/>
                <a:cs typeface="Calibri" pitchFamily="34" charset="-120"/>
              </a:rPr>
              <a:t>JWT + bcrypt authentication; 13 secure environment settings kept out of the Docker image, never baked into the build.</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457200" y="3246120"/>
            <a:ext cx="3977640" cy="841248"/>
          </a:xfrm>
          <a:prstGeom prst="roundRect">
            <a:avLst>
              <a:gd name="adj" fmla="val 6522"/>
            </a:avLst>
          </a:prstGeom>
          <a:solidFill>
            <a:srgbClr val="162032"/>
          </a:solidFill>
          <a:ln w="9525">
            <a:solidFill>
              <a:srgbClr val="233047"/>
            </a:solidFill>
            <a:prstDash val="solid"/>
          </a:ln>
          <a:effectLst>
            <a:outerShdw blurRad="76200" dist="25400" dir="5400000" algn="bl" rotWithShape="0">
              <a:srgbClr val="000000">
                <a:alpha val="16000"/>
              </a:srgbClr>
            </a:outerShdw>
          </a:effectLst>
        </p:spPr>
      </p:sp>
      <p:sp>
        <p:nvSpPr>
          <p:cNvPr id="27" name="Shape 25"/>
          <p:cNvSpPr/>
          <p:nvPr/>
        </p:nvSpPr>
        <p:spPr>
          <a:xfrm>
            <a:off x="603504" y="3374136"/>
            <a:ext cx="402336" cy="402336"/>
          </a:xfrm>
          <a:prstGeom prst="ellipse">
            <a:avLst/>
          </a:prstGeom>
          <a:solidFill>
            <a:srgbClr val="E8544E">
              <a:alpha val="20000"/>
            </a:srgbClr>
          </a:solidFill>
          <a:ln/>
        </p:spPr>
      </p:sp>
      <p:sp>
        <p:nvSpPr>
          <p:cNvPr id="28" name="Text 26"/>
          <p:cNvSpPr/>
          <p:nvPr/>
        </p:nvSpPr>
        <p:spPr>
          <a:xfrm>
            <a:off x="603504" y="3374136"/>
            <a:ext cx="402336"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8544E"/>
                </a:solidFill>
                <a:effectLst/>
                <a:uLnTx/>
                <a:uFillTx/>
                <a:latin typeface="Calibri" panose="020F050202020403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1115568" y="3337560"/>
            <a:ext cx="317296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Testing Standards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1115568" y="3557016"/>
            <a:ext cx="3172968" cy="457200"/>
          </a:xfrm>
          <a:prstGeom prst="rect">
            <a:avLst/>
          </a:prstGeom>
          <a:noFill/>
          <a:ln/>
        </p:spPr>
        <p:txBody>
          <a:bodyPr wrap="square" lIns="0" tIns="0" rIns="0" bIns="0" rtlCol="0" anchor="t"/>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870" b="0" i="0" u="none" strike="noStrike" kern="1200" cap="none" spc="0" normalizeH="0" baseline="0" noProof="0" dirty="0">
                <a:ln>
                  <a:noFill/>
                </a:ln>
                <a:solidFill>
                  <a:srgbClr val="AAB4C4"/>
                </a:solidFill>
                <a:effectLst/>
                <a:uLnTx/>
                <a:uFillTx/>
                <a:latin typeface="Calibri" pitchFamily="34" charset="0"/>
                <a:ea typeface="Calibri" pitchFamily="34" charset="-122"/>
                <a:cs typeface="Calibri" pitchFamily="34" charset="-120"/>
              </a:rPr>
              <a:t>96 unit tests across every module, plus DeepEval (0.22 hallucination score) and RAGAS (0.88 faithfulness) — all run in CI in 6 seconds.</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4709160" y="3246120"/>
            <a:ext cx="3977640" cy="841248"/>
          </a:xfrm>
          <a:prstGeom prst="roundRect">
            <a:avLst>
              <a:gd name="adj" fmla="val 6522"/>
            </a:avLst>
          </a:prstGeom>
          <a:solidFill>
            <a:srgbClr val="162032"/>
          </a:solidFill>
          <a:ln w="9525">
            <a:solidFill>
              <a:srgbClr val="233047"/>
            </a:solidFill>
            <a:prstDash val="solid"/>
          </a:ln>
          <a:effectLst>
            <a:outerShdw blurRad="76200" dist="25400" dir="5400000" algn="bl" rotWithShape="0">
              <a:srgbClr val="000000">
                <a:alpha val="16000"/>
              </a:srgbClr>
            </a:outerShdw>
          </a:effectLst>
        </p:spPr>
      </p:sp>
      <p:sp>
        <p:nvSpPr>
          <p:cNvPr id="32" name="Shape 30"/>
          <p:cNvSpPr/>
          <p:nvPr/>
        </p:nvSpPr>
        <p:spPr>
          <a:xfrm>
            <a:off x="4855464" y="3374136"/>
            <a:ext cx="402336" cy="402336"/>
          </a:xfrm>
          <a:prstGeom prst="ellipse">
            <a:avLst/>
          </a:prstGeom>
          <a:solidFill>
            <a:srgbClr val="3B82F6">
              <a:alpha val="20000"/>
            </a:srgbClr>
          </a:solidFill>
          <a:ln/>
        </p:spPr>
      </p:sp>
      <p:sp>
        <p:nvSpPr>
          <p:cNvPr id="33" name="Text 31"/>
          <p:cNvSpPr/>
          <p:nvPr/>
        </p:nvSpPr>
        <p:spPr>
          <a:xfrm>
            <a:off x="4855464" y="3374136"/>
            <a:ext cx="402336"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B82F6"/>
                </a:solidFill>
                <a:effectLst/>
                <a:uLnTx/>
                <a:uFillTx/>
                <a:latin typeface="Calibri" panose="020F050202020403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5367528" y="3337560"/>
            <a:ext cx="3172968"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Version Control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5367528" y="3557016"/>
            <a:ext cx="3172968" cy="457200"/>
          </a:xfrm>
          <a:prstGeom prst="rect">
            <a:avLst/>
          </a:prstGeom>
          <a:noFill/>
          <a:ln/>
        </p:spPr>
        <p:txBody>
          <a:bodyPr wrap="square" lIns="0" tIns="0" rIns="0" bIns="0" rtlCol="0" anchor="t"/>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870" b="0" i="0" u="none" strike="noStrike" kern="1200" cap="none" spc="0" normalizeH="0" baseline="0" noProof="0" dirty="0">
                <a:ln>
                  <a:noFill/>
                </a:ln>
                <a:solidFill>
                  <a:srgbClr val="AAB4C4"/>
                </a:solidFill>
                <a:effectLst/>
                <a:uLnTx/>
                <a:uFillTx/>
                <a:latin typeface="Calibri" pitchFamily="34" charset="0"/>
                <a:ea typeface="Calibri" pitchFamily="34" charset="-122"/>
                <a:cs typeface="Calibri" pitchFamily="34" charset="-120"/>
              </a:rPr>
              <a:t>Trunk-based flow: git push → tests → Docker build → push to ACR → deploy — a clean, atomic, automated pipeline to Azure.</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3381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2563EB">
              <a:alpha val="12000"/>
            </a:srgbClr>
          </a:solidFill>
          <a:ln/>
        </p:spPr>
      </p:sp>
      <p:sp>
        <p:nvSpPr>
          <p:cNvPr id="3" name="Shape 1"/>
          <p:cNvSpPr/>
          <p:nvPr/>
        </p:nvSpPr>
        <p:spPr>
          <a:xfrm>
            <a:off x="-699967" y="2616086"/>
            <a:ext cx="3200400" cy="3200400"/>
          </a:xfrm>
          <a:prstGeom prst="ellipse">
            <a:avLst/>
          </a:prstGeom>
          <a:solidFill>
            <a:srgbClr val="0891B2">
              <a:alpha val="12000"/>
            </a:srgbClr>
          </a:solidFill>
          <a:ln/>
        </p:spPr>
      </p:sp>
      <p:sp>
        <p:nvSpPr>
          <p:cNvPr id="4" name="Shape 2"/>
          <p:cNvSpPr/>
          <p:nvPr/>
        </p:nvSpPr>
        <p:spPr>
          <a:xfrm>
            <a:off x="3474720" y="365760"/>
            <a:ext cx="1280160" cy="256032"/>
          </a:xfrm>
          <a:prstGeom prst="roundRect">
            <a:avLst>
              <a:gd name="adj" fmla="val 50000"/>
            </a:avLst>
          </a:prstGeom>
          <a:solidFill>
            <a:srgbClr val="059669">
              <a:alpha val="25000"/>
            </a:srgbClr>
          </a:solidFill>
          <a:ln/>
        </p:spPr>
      </p:sp>
      <p:sp>
        <p:nvSpPr>
          <p:cNvPr id="5" name="Text 3"/>
          <p:cNvSpPr/>
          <p:nvPr/>
        </p:nvSpPr>
        <p:spPr>
          <a:xfrm>
            <a:off x="3474720" y="365760"/>
            <a:ext cx="1280160" cy="256032"/>
          </a:xfrm>
          <a:prstGeom prst="rect">
            <a:avLst/>
          </a:prstGeom>
          <a:noFill/>
          <a:ln/>
        </p:spPr>
        <p:txBody>
          <a:bodyPr wrap="square" lIns="0" tIns="0" rIns="0" bIns="0" rtlCol="0" anchor="ctr"/>
          <a:lstStyle/>
          <a:p>
            <a:pPr marL="0" indent="0" algn="ctr">
              <a:buNone/>
            </a:pPr>
            <a:r>
              <a:rPr lang="en-US" sz="900" b="1" kern="0" spc="150" dirty="0">
                <a:solidFill>
                  <a:srgbClr val="059669"/>
                </a:solidFill>
              </a:rPr>
              <a:t>SUBMITTED</a:t>
            </a:r>
            <a:endParaRPr lang="en-US" sz="900" dirty="0"/>
          </a:p>
        </p:txBody>
      </p:sp>
      <p:sp>
        <p:nvSpPr>
          <p:cNvPr id="6" name="Text 4"/>
          <p:cNvSpPr/>
          <p:nvPr/>
        </p:nvSpPr>
        <p:spPr>
          <a:xfrm>
            <a:off x="91440" y="1275588"/>
            <a:ext cx="8229600" cy="731520"/>
          </a:xfrm>
          <a:prstGeom prst="rect">
            <a:avLst/>
          </a:prstGeom>
          <a:noFill/>
          <a:ln/>
        </p:spPr>
        <p:txBody>
          <a:bodyPr wrap="square" lIns="0" tIns="0" rIns="0" bIns="0"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8" name="Shape 6"/>
          <p:cNvSpPr/>
          <p:nvPr/>
        </p:nvSpPr>
        <p:spPr>
          <a:xfrm>
            <a:off x="822960" y="2423160"/>
            <a:ext cx="3520440" cy="566928"/>
          </a:xfrm>
          <a:prstGeom prst="roundRect">
            <a:avLst>
              <a:gd name="adj" fmla="val 12903"/>
            </a:avLst>
          </a:prstGeom>
          <a:solidFill>
            <a:srgbClr val="162032"/>
          </a:solidFill>
          <a:ln/>
          <a:effectLst>
            <a:outerShdw blurRad="50800" dist="25400" dir="2700000" algn="bl" rotWithShape="0">
              <a:srgbClr val="000000">
                <a:alpha val="12000"/>
              </a:srgbClr>
            </a:outerShdw>
          </a:effectLst>
        </p:spPr>
      </p:sp>
      <p:sp>
        <p:nvSpPr>
          <p:cNvPr id="9" name="Text 7"/>
          <p:cNvSpPr/>
          <p:nvPr/>
        </p:nvSpPr>
        <p:spPr>
          <a:xfrm>
            <a:off x="1005840" y="2487168"/>
            <a:ext cx="1097280" cy="384048"/>
          </a:xfrm>
          <a:prstGeom prst="rect">
            <a:avLst/>
          </a:prstGeom>
          <a:noFill/>
          <a:ln/>
        </p:spPr>
        <p:txBody>
          <a:bodyPr wrap="square" lIns="0" tIns="0" rIns="0" bIns="0" rtlCol="0" anchor="ctr"/>
          <a:lstStyle/>
          <a:p>
            <a:pPr marL="0" indent="0">
              <a:buNone/>
            </a:pPr>
            <a:r>
              <a:rPr lang="en-US" sz="1000" b="1" dirty="0">
                <a:solidFill>
                  <a:srgbClr val="0891B2"/>
                </a:solidFill>
              </a:rPr>
              <a:t>🌐 Live App  </a:t>
            </a:r>
            <a:endParaRPr lang="en-US" sz="1000" dirty="0"/>
          </a:p>
        </p:txBody>
      </p:sp>
      <p:sp>
        <p:nvSpPr>
          <p:cNvPr id="10" name="Text 8"/>
          <p:cNvSpPr/>
          <p:nvPr/>
        </p:nvSpPr>
        <p:spPr>
          <a:xfrm>
            <a:off x="1920240" y="2487168"/>
            <a:ext cx="2286000" cy="384048"/>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creditriskplatform.azurewebsites.net</a:t>
            </a:r>
            <a:endParaRPr lang="en-US" sz="950" dirty="0"/>
          </a:p>
        </p:txBody>
      </p:sp>
      <p:sp>
        <p:nvSpPr>
          <p:cNvPr id="11" name="Shape 9"/>
          <p:cNvSpPr/>
          <p:nvPr/>
        </p:nvSpPr>
        <p:spPr>
          <a:xfrm>
            <a:off x="4663440" y="2423160"/>
            <a:ext cx="3520440" cy="566928"/>
          </a:xfrm>
          <a:prstGeom prst="roundRect">
            <a:avLst>
              <a:gd name="adj" fmla="val 12903"/>
            </a:avLst>
          </a:prstGeom>
          <a:solidFill>
            <a:srgbClr val="162032"/>
          </a:solidFill>
          <a:ln/>
          <a:effectLst>
            <a:outerShdw blurRad="50800" dist="25400" dir="2700000" algn="bl" rotWithShape="0">
              <a:srgbClr val="000000">
                <a:alpha val="12000"/>
              </a:srgbClr>
            </a:outerShdw>
          </a:effectLst>
        </p:spPr>
      </p:sp>
      <p:sp>
        <p:nvSpPr>
          <p:cNvPr id="12" name="Text 10"/>
          <p:cNvSpPr/>
          <p:nvPr/>
        </p:nvSpPr>
        <p:spPr>
          <a:xfrm>
            <a:off x="4846320" y="2487168"/>
            <a:ext cx="1097280" cy="384048"/>
          </a:xfrm>
          <a:prstGeom prst="rect">
            <a:avLst/>
          </a:prstGeom>
          <a:noFill/>
          <a:ln/>
        </p:spPr>
        <p:txBody>
          <a:bodyPr wrap="square" lIns="0" tIns="0" rIns="0" bIns="0" rtlCol="0" anchor="ctr"/>
          <a:lstStyle/>
          <a:p>
            <a:pPr marL="0" indent="0">
              <a:buNone/>
            </a:pPr>
            <a:r>
              <a:rPr lang="en-US" sz="1000" b="1" dirty="0">
                <a:solidFill>
                  <a:srgbClr val="2563EB"/>
                </a:solidFill>
              </a:rPr>
              <a:t>💻 GitHub  </a:t>
            </a:r>
            <a:endParaRPr lang="en-US" sz="1000" dirty="0"/>
          </a:p>
        </p:txBody>
      </p:sp>
      <p:sp>
        <p:nvSpPr>
          <p:cNvPr id="13" name="Text 11"/>
          <p:cNvSpPr/>
          <p:nvPr/>
        </p:nvSpPr>
        <p:spPr>
          <a:xfrm>
            <a:off x="5760720" y="2487168"/>
            <a:ext cx="2286000" cy="384048"/>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github.com/Chaurasiyakash0136/EY-Training-2026</a:t>
            </a:r>
            <a:endParaRPr lang="en-US" sz="950" dirty="0"/>
          </a:p>
        </p:txBody>
      </p:sp>
      <p:sp>
        <p:nvSpPr>
          <p:cNvPr id="14" name="Shape 12"/>
          <p:cNvSpPr/>
          <p:nvPr/>
        </p:nvSpPr>
        <p:spPr>
          <a:xfrm>
            <a:off x="822960" y="3136392"/>
            <a:ext cx="3520440" cy="566928"/>
          </a:xfrm>
          <a:prstGeom prst="roundRect">
            <a:avLst>
              <a:gd name="adj" fmla="val 12903"/>
            </a:avLst>
          </a:prstGeom>
          <a:solidFill>
            <a:srgbClr val="162032"/>
          </a:solidFill>
          <a:ln/>
          <a:effectLst>
            <a:outerShdw blurRad="50800" dist="25400" dir="2700000" algn="bl" rotWithShape="0">
              <a:srgbClr val="000000">
                <a:alpha val="12000"/>
              </a:srgbClr>
            </a:outerShdw>
          </a:effectLst>
        </p:spPr>
      </p:sp>
      <p:sp>
        <p:nvSpPr>
          <p:cNvPr id="15" name="Text 13"/>
          <p:cNvSpPr/>
          <p:nvPr/>
        </p:nvSpPr>
        <p:spPr>
          <a:xfrm>
            <a:off x="1005840" y="3200400"/>
            <a:ext cx="1097280" cy="384048"/>
          </a:xfrm>
          <a:prstGeom prst="rect">
            <a:avLst/>
          </a:prstGeom>
          <a:noFill/>
          <a:ln/>
        </p:spPr>
        <p:txBody>
          <a:bodyPr wrap="square" lIns="0" tIns="0" rIns="0" bIns="0" rtlCol="0" anchor="ctr"/>
          <a:lstStyle/>
          <a:p>
            <a:pPr marL="0" indent="0">
              <a:buNone/>
            </a:pPr>
            <a:r>
              <a:rPr lang="en-US" sz="1000" b="1" dirty="0">
                <a:solidFill>
                  <a:srgbClr val="D97706"/>
                </a:solidFill>
              </a:rPr>
              <a:t>🔍 LangSmith  </a:t>
            </a:r>
            <a:endParaRPr lang="en-US" sz="1000" dirty="0"/>
          </a:p>
        </p:txBody>
      </p:sp>
      <p:sp>
        <p:nvSpPr>
          <p:cNvPr id="16" name="Text 14"/>
          <p:cNvSpPr/>
          <p:nvPr/>
        </p:nvSpPr>
        <p:spPr>
          <a:xfrm>
            <a:off x="1920240" y="3200400"/>
            <a:ext cx="2286000" cy="384048"/>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smith.langchain.com → credit-risk-platform</a:t>
            </a:r>
            <a:endParaRPr lang="en-US" sz="950" dirty="0"/>
          </a:p>
        </p:txBody>
      </p:sp>
      <p:sp>
        <p:nvSpPr>
          <p:cNvPr id="17" name="Shape 15"/>
          <p:cNvSpPr/>
          <p:nvPr/>
        </p:nvSpPr>
        <p:spPr>
          <a:xfrm>
            <a:off x="4663440" y="3136392"/>
            <a:ext cx="3520440" cy="566928"/>
          </a:xfrm>
          <a:prstGeom prst="roundRect">
            <a:avLst>
              <a:gd name="adj" fmla="val 12903"/>
            </a:avLst>
          </a:prstGeom>
          <a:solidFill>
            <a:srgbClr val="162032"/>
          </a:solidFill>
          <a:ln/>
          <a:effectLst>
            <a:outerShdw blurRad="50800" dist="25400" dir="2700000" algn="bl" rotWithShape="0">
              <a:srgbClr val="000000">
                <a:alpha val="12000"/>
              </a:srgbClr>
            </a:outerShdw>
          </a:effectLst>
        </p:spPr>
      </p:sp>
      <p:sp>
        <p:nvSpPr>
          <p:cNvPr id="18" name="Text 16"/>
          <p:cNvSpPr/>
          <p:nvPr/>
        </p:nvSpPr>
        <p:spPr>
          <a:xfrm>
            <a:off x="4846320" y="3200400"/>
            <a:ext cx="1097280" cy="384048"/>
          </a:xfrm>
          <a:prstGeom prst="rect">
            <a:avLst/>
          </a:prstGeom>
          <a:noFill/>
          <a:ln/>
        </p:spPr>
        <p:txBody>
          <a:bodyPr wrap="square" lIns="0" tIns="0" rIns="0" bIns="0" rtlCol="0" anchor="ctr"/>
          <a:lstStyle/>
          <a:p>
            <a:pPr marL="0" indent="0">
              <a:buNone/>
            </a:pPr>
            <a:r>
              <a:rPr lang="en-US" sz="1000" b="1" dirty="0">
                <a:solidFill>
                  <a:srgbClr val="059669"/>
                </a:solidFill>
              </a:rPr>
              <a:t>🏷️ Version  </a:t>
            </a:r>
            <a:endParaRPr lang="en-US" sz="1000" dirty="0"/>
          </a:p>
        </p:txBody>
      </p:sp>
      <p:sp>
        <p:nvSpPr>
          <p:cNvPr id="19" name="Text 17"/>
          <p:cNvSpPr/>
          <p:nvPr/>
        </p:nvSpPr>
        <p:spPr>
          <a:xfrm>
            <a:off x="5760720" y="3200400"/>
            <a:ext cx="2286000" cy="384048"/>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git tag v1.0 — main branch</a:t>
            </a:r>
            <a:endParaRPr lang="en-US" sz="950" dirty="0"/>
          </a:p>
        </p:txBody>
      </p:sp>
      <p:sp>
        <p:nvSpPr>
          <p:cNvPr id="20" name="Text 18"/>
          <p:cNvSpPr/>
          <p:nvPr/>
        </p:nvSpPr>
        <p:spPr>
          <a:xfrm>
            <a:off x="457200" y="4378495"/>
            <a:ext cx="8229600" cy="475874"/>
          </a:xfrm>
          <a:prstGeom prst="rect">
            <a:avLst/>
          </a:prstGeom>
          <a:noFill/>
          <a:ln/>
        </p:spPr>
        <p:txBody>
          <a:bodyPr wrap="square" lIns="0" tIns="0" rIns="0" bIns="0" rtlCol="0" anchor="ctr"/>
          <a:lstStyle/>
          <a:p>
            <a:pPr marL="0" indent="0" algn="ctr">
              <a:buNone/>
            </a:pPr>
            <a:r>
              <a:rPr lang="en-US" sz="1100" dirty="0">
                <a:solidFill>
                  <a:srgbClr val="94A3B8"/>
                </a:solidFill>
              </a:rPr>
              <a:t>Akash Chaurasiya  ·  Ashu Sharma  ·  EY Training 2026  </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TotalTime>
  <Words>1968</Words>
  <Application>Microsoft Office PowerPoint</Application>
  <PresentationFormat>On-screen Show (16:9)</PresentationFormat>
  <Paragraphs>360</Paragraphs>
  <Slides>20</Slides>
  <Notes>11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Arial</vt:lpstr>
      <vt:lpstr>Calibri</vt:lpstr>
      <vt:lpstr>Cambria</vt:lpstr>
      <vt:lpstr>Courier New</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Risk Intelligence Platform</dc:title>
  <dc:subject>EY Training 2026 Capstone</dc:subject>
  <dc:creator>Akash Chaurasiya &amp; Ashu Sharma</dc:creator>
  <cp:lastModifiedBy>azuser7270_mml.local</cp:lastModifiedBy>
  <cp:revision>43</cp:revision>
  <dcterms:created xsi:type="dcterms:W3CDTF">2026-07-02T07:39:23Z</dcterms:created>
  <dcterms:modified xsi:type="dcterms:W3CDTF">2026-07-07T12:11:23Z</dcterms:modified>
</cp:coreProperties>
</file>