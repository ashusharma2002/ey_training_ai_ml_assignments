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not corporate. This is a working case study, not a pitch deck. The one thing to land here: fitness is not the story, Maya's relationship with herself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points quickly — don't dwell. The point is to show we understood the assignment before touching a single panel. Flag B and C out loud: those are the two things people usually get wrong — letting the app solve the problem, or only showing the mentor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wound out loud plainly: she's internalized two failed attempts as an identity claim, not a scheduling problem. That's what makes every later panel legible — it's either feeding or challenging that belief. The ten-beat strip is the map for the two panel slides that follow — point at it once here so the audience is oriented before the detail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1: hold the shot still, nothing moves — that stillness is the point. Panel 2: notification slides in with a soft chime, warm light as she reaches for the phone. Panel 3: slight handheld shake, just breathing and footsteps, no music yet. Panel 4 (first coach appearance): message appears gently, warm tone, notices effort not achievement. Panel 5: streak counter ticks up, first bit of music enters. Roughly the first 35 seconds of the animatic.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6 (the setback): the app does nothing here on purpose — no pep talk, no notification. That silence is what makes Panel 7 hers. Panel 7 (her choice): no app on screen at all — this is the most important panel in the whole deck; keep it simple, just her and one breath. Panel 8 (second coach appearance): quieter than the first one, no celebration, doesn't undo the setback. Panel 9: mirror shot, viewer reads the line with her. Panel 10: end quiet, not triumphant — a slow zoom out, nothing flashy. Roughly the last 45 seconds of the animatic.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line left to right rather than reading labels off — the shape is the argument. Pause at the dip: this is where people usually either skip the setback or make it too dramatic. Ours is balanced — one dip, and a believable recovery, not a straight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pairing carries the most weight in the rubric — resilience and mentor support together are worth 35 of the 100 points. Spend real time on the callout: a good test is whether deleting the coach's second message would change the outcome. Here it wouldn't, because the choice already happened in Panel 7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test for POV shots: does it make you feel a specific feeling Maya is having, or is it just a POV shot for its own sake? Both of ours pass that test. On the messages: read all three out loud in order — the notification lowers the bar, the coach message says a small effort is enough, and by panel 7 Maya is saying it to herself. That shift from someone else's words to her own is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reflection out loud rather than paraphrasing it — the last line is worth landing exactly as written. Use the checklist on the right to confirm everything is covered if time is short. One suggestion before final submission: record the actual 60–90 second animatic — the storyboard proves the idea works, but it will land even stronger with real motion, even a rough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F1A"/>
        </a:solidFill>
      </p:bgPr>
    </p:bg>
    <p:spTree>
      <p:nvGrpSpPr>
        <p:cNvPr id="1" name=""/>
        <p:cNvGrpSpPr/>
        <p:nvPr/>
      </p:nvGrpSpPr>
      <p:grpSpPr>
        <a:xfrm>
          <a:off x="0" y="0"/>
          <a:ext cx="0" cy="0"/>
          <a:chOff x="0" y="0"/>
          <a:chExt cx="0" cy="0"/>
        </a:xfrm>
      </p:grpSpPr>
      <p:pic>
        <p:nvPicPr>
          <p:cNvPr id="2" name="Image 0" descr="/home/claude/deck/assets/cover.png">    </p:cNvPr>
          <p:cNvPicPr>
            <a:picLocks noChangeAspect="1"/>
          </p:cNvPicPr>
          <p:nvPr/>
        </p:nvPicPr>
        <p:blipFill>
          <a:blip r:embed="rId1"/>
          <a:stretch>
            <a:fillRect/>
          </a:stretch>
        </p:blipFill>
        <p:spPr>
          <a:xfrm>
            <a:off x="7342632" y="0"/>
            <a:ext cx="4846320" cy="6858000"/>
          </a:xfrm>
          <a:prstGeom prst="rect">
            <a:avLst/>
          </a:prstGeom>
        </p:spPr>
      </p:pic>
      <p:sp>
        <p:nvSpPr>
          <p:cNvPr id="3" name="Shape 0"/>
          <p:cNvSpPr/>
          <p:nvPr/>
        </p:nvSpPr>
        <p:spPr>
          <a:xfrm>
            <a:off x="0" y="0"/>
            <a:ext cx="7982712" cy="6858000"/>
          </a:xfrm>
          <a:prstGeom prst="rect">
            <a:avLst/>
          </a:prstGeom>
          <a:solidFill>
            <a:srgbClr val="241F1A"/>
          </a:solidFill>
          <a:ln/>
        </p:spPr>
      </p:sp>
      <p:sp>
        <p:nvSpPr>
          <p:cNvPr id="4" name="Shape 1"/>
          <p:cNvSpPr/>
          <p:nvPr/>
        </p:nvSpPr>
        <p:spPr>
          <a:xfrm>
            <a:off x="640080" y="914400"/>
            <a:ext cx="4206240" cy="237744"/>
          </a:xfrm>
          <a:prstGeom prst="roundRect">
            <a:avLst>
              <a:gd name="adj" fmla="val 50000"/>
            </a:avLst>
          </a:prstGeom>
          <a:solidFill>
            <a:srgbClr val="332C25"/>
          </a:solidFill>
          <a:ln/>
        </p:spPr>
      </p:sp>
      <p:sp>
        <p:nvSpPr>
          <p:cNvPr id="5" name="Text 2"/>
          <p:cNvSpPr/>
          <p:nvPr/>
        </p:nvSpPr>
        <p:spPr>
          <a:xfrm>
            <a:off x="640080" y="914400"/>
            <a:ext cx="4206240" cy="237744"/>
          </a:xfrm>
          <a:prstGeom prst="rect">
            <a:avLst/>
          </a:prstGeom>
          <a:noFill/>
          <a:ln/>
        </p:spPr>
        <p:txBody>
          <a:bodyPr wrap="square" lIns="0" tIns="0" rIns="0" bIns="0" rtlCol="0" anchor="ctr"/>
          <a:lstStyle/>
          <a:p>
            <a:pPr algn="ctr" indent="0" marL="0">
              <a:buNone/>
            </a:pPr>
            <a:r>
              <a:rPr lang="en-US" sz="1050" b="1" spc="50" kern="0" dirty="0">
                <a:solidFill>
                  <a:srgbClr val="D9A98B"/>
                </a:solidFill>
                <a:latin typeface="Calibri" pitchFamily="34" charset="0"/>
                <a:ea typeface="Calibri" pitchFamily="34" charset="-122"/>
                <a:cs typeface="Calibri" pitchFamily="34" charset="-120"/>
              </a:rPr>
              <a:t>NARRATIVE DESIGN · MOTION STORYBOARD</a:t>
            </a:r>
            <a:endParaRPr lang="en-US" sz="1050" dirty="0"/>
          </a:p>
        </p:txBody>
      </p:sp>
      <p:sp>
        <p:nvSpPr>
          <p:cNvPr id="6" name="Text 3"/>
          <p:cNvSpPr/>
          <p:nvPr/>
        </p:nvSpPr>
        <p:spPr>
          <a:xfrm>
            <a:off x="594360" y="1463040"/>
            <a:ext cx="6949440" cy="13716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The Turning Point</a:t>
            </a:r>
            <a:endParaRPr lang="en-US" sz="5400" dirty="0"/>
          </a:p>
        </p:txBody>
      </p:sp>
      <p:sp>
        <p:nvSpPr>
          <p:cNvPr id="7" name="Text 4"/>
          <p:cNvSpPr/>
          <p:nvPr/>
        </p:nvSpPr>
        <p:spPr>
          <a:xfrm>
            <a:off x="621792" y="2697480"/>
            <a:ext cx="6583680" cy="548640"/>
          </a:xfrm>
          <a:prstGeom prst="rect">
            <a:avLst/>
          </a:prstGeom>
          <a:noFill/>
          <a:ln/>
        </p:spPr>
        <p:txBody>
          <a:bodyPr wrap="square" lIns="0" tIns="0" rIns="0" bIns="0" rtlCol="0" anchor="ctr"/>
          <a:lstStyle/>
          <a:p>
            <a:pPr indent="0" marL="0">
              <a:buNone/>
            </a:pPr>
            <a:r>
              <a:rPr lang="en-US" sz="1900" i="1" dirty="0">
                <a:solidFill>
                  <a:srgbClr val="D9A98B"/>
                </a:solidFill>
                <a:latin typeface="Calibri" pitchFamily="34" charset="0"/>
                <a:ea typeface="Calibri" pitchFamily="34" charset="-122"/>
                <a:cs typeface="Calibri" pitchFamily="34" charset="-120"/>
              </a:rPr>
              <a:t>A Fitness App User Journey — Maya's Story</a:t>
            </a:r>
            <a:endParaRPr lang="en-US" sz="1900" dirty="0"/>
          </a:p>
        </p:txBody>
      </p:sp>
      <p:sp>
        <p:nvSpPr>
          <p:cNvPr id="8" name="Text 5"/>
          <p:cNvSpPr/>
          <p:nvPr/>
        </p:nvSpPr>
        <p:spPr>
          <a:xfrm>
            <a:off x="621792" y="3429000"/>
            <a:ext cx="6217920" cy="1005840"/>
          </a:xfrm>
          <a:prstGeom prst="rect">
            <a:avLst/>
          </a:prstGeom>
          <a:noFill/>
          <a:ln/>
        </p:spPr>
        <p:txBody>
          <a:bodyPr wrap="square" lIns="0" tIns="0" rIns="0" bIns="0" rtlCol="0" anchor="ctr"/>
          <a:lstStyle/>
          <a:p>
            <a:pPr indent="0" marL="0">
              <a:lnSpc>
                <a:spcPct val="125000"/>
              </a:lnSpc>
              <a:buNone/>
            </a:pPr>
            <a:r>
              <a:rPr lang="en-US" sz="1350" dirty="0">
                <a:solidFill>
                  <a:srgbClr val="C9C2B8"/>
                </a:solidFill>
                <a:latin typeface="Calibri" pitchFamily="34" charset="0"/>
                <a:ea typeface="Calibri" pitchFamily="34" charset="-122"/>
                <a:cs typeface="Calibri" pitchFamily="34" charset="-120"/>
              </a:rPr>
              <a:t>A 10-panel storyboard that follows one user from avoidance to real, lasting progress — built for onboarding, an ad, or an in-app ‘your journey’ moment.</a:t>
            </a:r>
            <a:endParaRPr lang="en-US" sz="1350" dirty="0"/>
          </a:p>
        </p:txBody>
      </p:sp>
      <p:sp>
        <p:nvSpPr>
          <p:cNvPr id="9" name="Shape 6"/>
          <p:cNvSpPr/>
          <p:nvPr/>
        </p:nvSpPr>
        <p:spPr>
          <a:xfrm>
            <a:off x="640080" y="4709160"/>
            <a:ext cx="2377440" cy="0"/>
          </a:xfrm>
          <a:prstGeom prst="line">
            <a:avLst/>
          </a:prstGeom>
          <a:noFill/>
          <a:ln w="12700">
            <a:solidFill>
              <a:srgbClr val="5C5347"/>
            </a:solidFill>
            <a:prstDash val="solid"/>
          </a:ln>
        </p:spPr>
      </p:sp>
      <p:sp>
        <p:nvSpPr>
          <p:cNvPr id="10" name="Text 7"/>
          <p:cNvSpPr/>
          <p:nvPr/>
        </p:nvSpPr>
        <p:spPr>
          <a:xfrm>
            <a:off x="621792" y="4892040"/>
            <a:ext cx="6400800" cy="822960"/>
          </a:xfrm>
          <a:prstGeom prst="rect">
            <a:avLst/>
          </a:prstGeom>
          <a:noFill/>
          <a:ln/>
        </p:spPr>
        <p:txBody>
          <a:bodyPr wrap="square" lIns="0" tIns="0" rIns="0" bIns="0" rtlCol="0" anchor="ctr"/>
          <a:lstStyle/>
          <a:p>
            <a:pPr indent="0" marL="0">
              <a:lnSpc>
                <a:spcPct val="140000"/>
              </a:lnSpc>
              <a:buNone/>
            </a:pPr>
            <a:r>
              <a:rPr lang="en-US" sz="1200" b="1" dirty="0">
                <a:solidFill>
                  <a:srgbClr val="8A8378"/>
                </a:solidFill>
                <a:latin typeface="Calibri" pitchFamily="34" charset="0"/>
                <a:ea typeface="Calibri" pitchFamily="34" charset="-122"/>
                <a:cs typeface="Calibri" pitchFamily="34" charset="-120"/>
              </a:rPr>
              <a:t>Format   </a:t>
            </a:r>
            <a:pPr indent="0" marL="0">
              <a:lnSpc>
                <a:spcPct val="140000"/>
              </a:lnSpc>
              <a:buNone/>
            </a:pPr>
            <a:r>
              <a:rPr lang="en-US" sz="1200" dirty="0">
                <a:solidFill>
                  <a:srgbClr val="C9C2B8"/>
                </a:solidFill>
                <a:latin typeface="Calibri" pitchFamily="34" charset="0"/>
                <a:ea typeface="Calibri" pitchFamily="34" charset="-122"/>
                <a:cs typeface="Calibri" pitchFamily="34" charset="-120"/>
              </a:rPr>
              <a:t>10 panels · 60–90 sec animatic
</a:t>
            </a:r>
            <a:pPr indent="0" marL="0">
              <a:lnSpc>
                <a:spcPct val="140000"/>
              </a:lnSpc>
              <a:buNone/>
            </a:pPr>
            <a:r>
              <a:rPr lang="en-US" sz="1200" b="1" dirty="0">
                <a:solidFill>
                  <a:srgbClr val="8A8378"/>
                </a:solidFill>
                <a:latin typeface="Calibri" pitchFamily="34" charset="0"/>
                <a:ea typeface="Calibri" pitchFamily="34" charset="-122"/>
                <a:cs typeface="Calibri" pitchFamily="34" charset="-120"/>
              </a:rPr>
              <a:t>Prepared for   </a:t>
            </a:r>
            <a:pPr indent="0" marL="0">
              <a:lnSpc>
                <a:spcPct val="140000"/>
              </a:lnSpc>
              <a:buNone/>
            </a:pPr>
            <a:r>
              <a:rPr lang="en-US" sz="1200" dirty="0">
                <a:solidFill>
                  <a:srgbClr val="C9C2B8"/>
                </a:solidFill>
                <a:latin typeface="Calibri" pitchFamily="34" charset="0"/>
                <a:ea typeface="Calibri" pitchFamily="34" charset="-122"/>
                <a:cs typeface="Calibri" pitchFamily="34" charset="-120"/>
              </a:rPr>
              <a:t>Portfolio Review · Narrative Design</a:t>
            </a:r>
            <a:endParaRPr lang="en-US" sz="1200" dirty="0"/>
          </a:p>
        </p:txBody>
      </p:sp>
      <p:sp>
        <p:nvSpPr>
          <p:cNvPr id="11" name="Text 8"/>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C9C2B8"/>
                </a:solidFill>
                <a:latin typeface="Calibri" pitchFamily="34" charset="0"/>
                <a:ea typeface="Calibri" pitchFamily="34" charset="-122"/>
                <a:cs typeface="Calibri" pitchFamily="34" charset="-120"/>
              </a:rPr>
              <a:t>Cover</a:t>
            </a:r>
            <a:endParaRPr lang="en-US" sz="950" dirty="0"/>
          </a:p>
        </p:txBody>
      </p:sp>
      <p:sp>
        <p:nvSpPr>
          <p:cNvPr id="12" name="Text 9"/>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C9C2B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D97757"/>
                </a:solidFill>
                <a:latin typeface="Calibri" pitchFamily="34" charset="0"/>
                <a:ea typeface="Calibri" pitchFamily="34" charset="-122"/>
                <a:cs typeface="Calibri" pitchFamily="34" charset="-120"/>
              </a:rPr>
              <a:t>OBJECTIVE</a:t>
            </a:r>
            <a:endParaRPr lang="en-US" sz="1150" dirty="0"/>
          </a:p>
        </p:txBody>
      </p:sp>
      <p:sp>
        <p:nvSpPr>
          <p:cNvPr id="3" name="Text 1"/>
          <p:cNvSpPr/>
          <p:nvPr/>
        </p:nvSpPr>
        <p:spPr>
          <a:xfrm>
            <a:off x="548640" y="658368"/>
            <a:ext cx="10789920" cy="502920"/>
          </a:xfrm>
          <a:prstGeom prst="rect">
            <a:avLst/>
          </a:prstGeom>
          <a:noFill/>
          <a:ln/>
        </p:spPr>
        <p:txBody>
          <a:bodyPr wrap="square" lIns="0" tIns="0" rIns="0" bIns="0" rtlCol="0" anchor="ctr"/>
          <a:lstStyle/>
          <a:p>
            <a:pPr indent="0" marL="0">
              <a:buNone/>
            </a:pPr>
            <a:r>
              <a:rPr lang="en-US" sz="2400" b="1" dirty="0">
                <a:solidFill>
                  <a:srgbClr val="1F1B17"/>
                </a:solidFill>
                <a:latin typeface="Cambria" pitchFamily="34" charset="0"/>
                <a:ea typeface="Cambria" pitchFamily="34" charset="-122"/>
                <a:cs typeface="Cambria" pitchFamily="34" charset="-120"/>
              </a:rPr>
              <a:t>A real story, not a workout montage</a:t>
            </a:r>
            <a:endParaRPr lang="en-US" sz="2400" dirty="0"/>
          </a:p>
        </p:txBody>
      </p:sp>
      <p:sp>
        <p:nvSpPr>
          <p:cNvPr id="4" name="Text 2"/>
          <p:cNvSpPr/>
          <p:nvPr/>
        </p:nvSpPr>
        <p:spPr>
          <a:xfrm>
            <a:off x="548640" y="1133856"/>
            <a:ext cx="10789920" cy="320040"/>
          </a:xfrm>
          <a:prstGeom prst="rect">
            <a:avLst/>
          </a:prstGeom>
          <a:noFill/>
          <a:ln/>
        </p:spPr>
        <p:txBody>
          <a:bodyPr wrap="square" lIns="0" tIns="0" rIns="0" bIns="0" rtlCol="0" anchor="ctr"/>
          <a:lstStyle/>
          <a:p>
            <a:pPr indent="0" marL="0">
              <a:buNone/>
            </a:pPr>
            <a:r>
              <a:rPr lang="en-US" sz="1200" i="1" dirty="0">
                <a:solidFill>
                  <a:srgbClr val="8A8378"/>
                </a:solidFill>
                <a:latin typeface="Calibri" pitchFamily="34" charset="0"/>
                <a:ea typeface="Calibri" pitchFamily="34" charset="-122"/>
                <a:cs typeface="Calibri" pitchFamily="34" charset="-120"/>
              </a:rPr>
              <a:t>This is about how Maya feels, step by step — not whether she finishes a run.</a:t>
            </a:r>
            <a:endParaRPr lang="en-US" sz="1200" dirty="0"/>
          </a:p>
        </p:txBody>
      </p:sp>
      <p:sp>
        <p:nvSpPr>
          <p:cNvPr id="5" name="Shape 3"/>
          <p:cNvSpPr/>
          <p:nvPr/>
        </p:nvSpPr>
        <p:spPr>
          <a:xfrm>
            <a:off x="548640" y="2103120"/>
            <a:ext cx="2084832" cy="2788920"/>
          </a:xfrm>
          <a:prstGeom prst="roundRect">
            <a:avLst>
              <a:gd name="adj" fmla="val 3947"/>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6" name="Shape 4"/>
          <p:cNvSpPr/>
          <p:nvPr/>
        </p:nvSpPr>
        <p:spPr>
          <a:xfrm>
            <a:off x="749808" y="2340864"/>
            <a:ext cx="438912" cy="438912"/>
          </a:xfrm>
          <a:prstGeom prst="ellipse">
            <a:avLst/>
          </a:prstGeom>
          <a:solidFill>
            <a:srgbClr val="D97757"/>
          </a:solidFill>
          <a:ln/>
        </p:spPr>
      </p:sp>
      <p:sp>
        <p:nvSpPr>
          <p:cNvPr id="7" name="Text 5"/>
          <p:cNvSpPr/>
          <p:nvPr/>
        </p:nvSpPr>
        <p:spPr>
          <a:xfrm>
            <a:off x="749808" y="2340864"/>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a:t>
            </a:r>
            <a:endParaRPr lang="en-US" sz="1900" dirty="0"/>
          </a:p>
        </p:txBody>
      </p:sp>
      <p:sp>
        <p:nvSpPr>
          <p:cNvPr id="8" name="Text 6"/>
          <p:cNvSpPr/>
          <p:nvPr/>
        </p:nvSpPr>
        <p:spPr>
          <a:xfrm>
            <a:off x="749808" y="2944368"/>
            <a:ext cx="1682496" cy="731520"/>
          </a:xfrm>
          <a:prstGeom prst="rect">
            <a:avLst/>
          </a:prstGeom>
          <a:noFill/>
          <a:ln/>
        </p:spPr>
        <p:txBody>
          <a:bodyPr wrap="square" lIns="0" tIns="0" rIns="0" bIns="0" rtlCol="0" anchor="ctr"/>
          <a:lstStyle/>
          <a:p>
            <a:pPr indent="0" marL="0">
              <a:lnSpc>
                <a:spcPct val="110000"/>
              </a:lnSpc>
              <a:buNone/>
            </a:pPr>
            <a:r>
              <a:rPr lang="en-US" sz="1350" b="1" dirty="0">
                <a:solidFill>
                  <a:srgbClr val="1F1B17"/>
                </a:solidFill>
                <a:latin typeface="Calibri" pitchFamily="34" charset="0"/>
                <a:ea typeface="Calibri" pitchFamily="34" charset="-122"/>
                <a:cs typeface="Calibri" pitchFamily="34" charset="-120"/>
              </a:rPr>
              <a:t>Show Her Emotions</a:t>
            </a:r>
            <a:endParaRPr lang="en-US" sz="1350" dirty="0"/>
          </a:p>
        </p:txBody>
      </p:sp>
      <p:sp>
        <p:nvSpPr>
          <p:cNvPr id="9" name="Text 7"/>
          <p:cNvSpPr/>
          <p:nvPr/>
        </p:nvSpPr>
        <p:spPr>
          <a:xfrm>
            <a:off x="749808" y="3639312"/>
            <a:ext cx="1682496" cy="1143000"/>
          </a:xfrm>
          <a:prstGeom prst="rect">
            <a:avLst/>
          </a:prstGeom>
          <a:noFill/>
          <a:ln/>
        </p:spPr>
        <p:txBody>
          <a:bodyPr wrap="square" lIns="0" tIns="0" rIns="0" bIns="0" rtlCol="0" anchor="ctr"/>
          <a:lstStyle/>
          <a:p>
            <a:pPr indent="0" marL="0">
              <a:lnSpc>
                <a:spcPct val="130000"/>
              </a:lnSpc>
              <a:buNone/>
            </a:pPr>
            <a:r>
              <a:rPr lang="en-US" sz="1150" dirty="0">
                <a:solidFill>
                  <a:srgbClr val="8A8378"/>
                </a:solidFill>
                <a:latin typeface="Calibri" pitchFamily="34" charset="0"/>
                <a:ea typeface="Calibri" pitchFamily="34" charset="-122"/>
                <a:cs typeface="Calibri" pitchFamily="34" charset="-120"/>
              </a:rPr>
              <a:t>Every panel shows a different feeling. The mood keeps changing.</a:t>
            </a:r>
            <a:endParaRPr lang="en-US" sz="1150" dirty="0"/>
          </a:p>
        </p:txBody>
      </p:sp>
      <p:sp>
        <p:nvSpPr>
          <p:cNvPr id="10" name="Shape 8"/>
          <p:cNvSpPr/>
          <p:nvPr/>
        </p:nvSpPr>
        <p:spPr>
          <a:xfrm>
            <a:off x="2798064" y="2103120"/>
            <a:ext cx="2084832" cy="2788920"/>
          </a:xfrm>
          <a:prstGeom prst="roundRect">
            <a:avLst>
              <a:gd name="adj" fmla="val 3947"/>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11" name="Shape 9"/>
          <p:cNvSpPr/>
          <p:nvPr/>
        </p:nvSpPr>
        <p:spPr>
          <a:xfrm>
            <a:off x="2999232" y="2340864"/>
            <a:ext cx="438912" cy="438912"/>
          </a:xfrm>
          <a:prstGeom prst="ellipse">
            <a:avLst/>
          </a:prstGeom>
          <a:solidFill>
            <a:srgbClr val="C1583B"/>
          </a:solidFill>
          <a:ln/>
        </p:spPr>
      </p:sp>
      <p:sp>
        <p:nvSpPr>
          <p:cNvPr id="12" name="Text 10"/>
          <p:cNvSpPr/>
          <p:nvPr/>
        </p:nvSpPr>
        <p:spPr>
          <a:xfrm>
            <a:off x="2999232" y="2340864"/>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B</a:t>
            </a:r>
            <a:endParaRPr lang="en-US" sz="1900" dirty="0"/>
          </a:p>
        </p:txBody>
      </p:sp>
      <p:sp>
        <p:nvSpPr>
          <p:cNvPr id="13" name="Text 11"/>
          <p:cNvSpPr/>
          <p:nvPr/>
        </p:nvSpPr>
        <p:spPr>
          <a:xfrm>
            <a:off x="2999232" y="2944368"/>
            <a:ext cx="1682496" cy="731520"/>
          </a:xfrm>
          <a:prstGeom prst="rect">
            <a:avLst/>
          </a:prstGeom>
          <a:noFill/>
          <a:ln/>
        </p:spPr>
        <p:txBody>
          <a:bodyPr wrap="square" lIns="0" tIns="0" rIns="0" bIns="0" rtlCol="0" anchor="ctr"/>
          <a:lstStyle/>
          <a:p>
            <a:pPr indent="0" marL="0">
              <a:lnSpc>
                <a:spcPct val="110000"/>
              </a:lnSpc>
              <a:buNone/>
            </a:pPr>
            <a:r>
              <a:rPr lang="en-US" sz="1350" b="1" dirty="0">
                <a:solidFill>
                  <a:srgbClr val="1F1B17"/>
                </a:solidFill>
                <a:latin typeface="Calibri" pitchFamily="34" charset="0"/>
                <a:ea typeface="Calibri" pitchFamily="34" charset="-122"/>
                <a:cs typeface="Calibri" pitchFamily="34" charset="-120"/>
              </a:rPr>
              <a:t>Show a Real Setback</a:t>
            </a:r>
            <a:endParaRPr lang="en-US" sz="1350" dirty="0"/>
          </a:p>
        </p:txBody>
      </p:sp>
      <p:sp>
        <p:nvSpPr>
          <p:cNvPr id="14" name="Text 12"/>
          <p:cNvSpPr/>
          <p:nvPr/>
        </p:nvSpPr>
        <p:spPr>
          <a:xfrm>
            <a:off x="2999232" y="3639312"/>
            <a:ext cx="1682496" cy="1143000"/>
          </a:xfrm>
          <a:prstGeom prst="rect">
            <a:avLst/>
          </a:prstGeom>
          <a:noFill/>
          <a:ln/>
        </p:spPr>
        <p:txBody>
          <a:bodyPr wrap="square" lIns="0" tIns="0" rIns="0" bIns="0" rtlCol="0" anchor="ctr"/>
          <a:lstStyle/>
          <a:p>
            <a:pPr indent="0" marL="0">
              <a:lnSpc>
                <a:spcPct val="130000"/>
              </a:lnSpc>
              <a:buNone/>
            </a:pPr>
            <a:r>
              <a:rPr lang="en-US" sz="1150" dirty="0">
                <a:solidFill>
                  <a:srgbClr val="8A8378"/>
                </a:solidFill>
                <a:latin typeface="Calibri" pitchFamily="34" charset="0"/>
                <a:ea typeface="Calibri" pitchFamily="34" charset="-122"/>
                <a:cs typeface="Calibri" pitchFamily="34" charset="-120"/>
              </a:rPr>
              <a:t>She hits a bad day, then chooses on her own to keep going.</a:t>
            </a:r>
            <a:endParaRPr lang="en-US" sz="1150" dirty="0"/>
          </a:p>
        </p:txBody>
      </p:sp>
      <p:sp>
        <p:nvSpPr>
          <p:cNvPr id="15" name="Shape 13"/>
          <p:cNvSpPr/>
          <p:nvPr/>
        </p:nvSpPr>
        <p:spPr>
          <a:xfrm>
            <a:off x="5047488" y="2103120"/>
            <a:ext cx="2084832" cy="2788920"/>
          </a:xfrm>
          <a:prstGeom prst="roundRect">
            <a:avLst>
              <a:gd name="adj" fmla="val 3947"/>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16" name="Shape 14"/>
          <p:cNvSpPr/>
          <p:nvPr/>
        </p:nvSpPr>
        <p:spPr>
          <a:xfrm>
            <a:off x="5248656" y="2340864"/>
            <a:ext cx="438912" cy="438912"/>
          </a:xfrm>
          <a:prstGeom prst="ellipse">
            <a:avLst/>
          </a:prstGeom>
          <a:solidFill>
            <a:srgbClr val="8B85C7"/>
          </a:solidFill>
          <a:ln/>
        </p:spPr>
      </p:sp>
      <p:sp>
        <p:nvSpPr>
          <p:cNvPr id="17" name="Text 15"/>
          <p:cNvSpPr/>
          <p:nvPr/>
        </p:nvSpPr>
        <p:spPr>
          <a:xfrm>
            <a:off x="5248656" y="2340864"/>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a:t>
            </a:r>
            <a:endParaRPr lang="en-US" sz="1900" dirty="0"/>
          </a:p>
        </p:txBody>
      </p:sp>
      <p:sp>
        <p:nvSpPr>
          <p:cNvPr id="18" name="Text 16"/>
          <p:cNvSpPr/>
          <p:nvPr/>
        </p:nvSpPr>
        <p:spPr>
          <a:xfrm>
            <a:off x="5248656" y="2944368"/>
            <a:ext cx="1682496" cy="731520"/>
          </a:xfrm>
          <a:prstGeom prst="rect">
            <a:avLst/>
          </a:prstGeom>
          <a:noFill/>
          <a:ln/>
        </p:spPr>
        <p:txBody>
          <a:bodyPr wrap="square" lIns="0" tIns="0" rIns="0" bIns="0" rtlCol="0" anchor="ctr"/>
          <a:lstStyle/>
          <a:p>
            <a:pPr indent="0" marL="0">
              <a:lnSpc>
                <a:spcPct val="110000"/>
              </a:lnSpc>
              <a:buNone/>
            </a:pPr>
            <a:r>
              <a:rPr lang="en-US" sz="1350" b="1" dirty="0">
                <a:solidFill>
                  <a:srgbClr val="1F1B17"/>
                </a:solidFill>
                <a:latin typeface="Calibri" pitchFamily="34" charset="0"/>
                <a:ea typeface="Calibri" pitchFamily="34" charset="-122"/>
                <a:cs typeface="Calibri" pitchFamily="34" charset="-120"/>
              </a:rPr>
              <a:t>Show Support, Twice</a:t>
            </a:r>
            <a:endParaRPr lang="en-US" sz="1350" dirty="0"/>
          </a:p>
        </p:txBody>
      </p:sp>
      <p:sp>
        <p:nvSpPr>
          <p:cNvPr id="19" name="Text 17"/>
          <p:cNvSpPr/>
          <p:nvPr/>
        </p:nvSpPr>
        <p:spPr>
          <a:xfrm>
            <a:off x="5248656" y="3639312"/>
            <a:ext cx="1682496" cy="1143000"/>
          </a:xfrm>
          <a:prstGeom prst="rect">
            <a:avLst/>
          </a:prstGeom>
          <a:noFill/>
          <a:ln/>
        </p:spPr>
        <p:txBody>
          <a:bodyPr wrap="square" lIns="0" tIns="0" rIns="0" bIns="0" rtlCol="0" anchor="ctr"/>
          <a:lstStyle/>
          <a:p>
            <a:pPr indent="0" marL="0">
              <a:lnSpc>
                <a:spcPct val="130000"/>
              </a:lnSpc>
              <a:buNone/>
            </a:pPr>
            <a:r>
              <a:rPr lang="en-US" sz="1150" dirty="0">
                <a:solidFill>
                  <a:srgbClr val="8A8378"/>
                </a:solidFill>
                <a:latin typeface="Calibri" pitchFamily="34" charset="0"/>
                <a:ea typeface="Calibri" pitchFamily="34" charset="-122"/>
                <a:cs typeface="Calibri" pitchFamily="34" charset="-120"/>
              </a:rPr>
              <a:t>A coach shows up before the setback, and again after — never fixing it for her.</a:t>
            </a:r>
            <a:endParaRPr lang="en-US" sz="1150" dirty="0"/>
          </a:p>
        </p:txBody>
      </p:sp>
      <p:sp>
        <p:nvSpPr>
          <p:cNvPr id="20" name="Shape 18"/>
          <p:cNvSpPr/>
          <p:nvPr/>
        </p:nvSpPr>
        <p:spPr>
          <a:xfrm>
            <a:off x="7296912" y="2103120"/>
            <a:ext cx="2084832" cy="2788920"/>
          </a:xfrm>
          <a:prstGeom prst="roundRect">
            <a:avLst>
              <a:gd name="adj" fmla="val 3947"/>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21" name="Shape 19"/>
          <p:cNvSpPr/>
          <p:nvPr/>
        </p:nvSpPr>
        <p:spPr>
          <a:xfrm>
            <a:off x="7498080" y="2340864"/>
            <a:ext cx="438912" cy="438912"/>
          </a:xfrm>
          <a:prstGeom prst="ellipse">
            <a:avLst/>
          </a:prstGeom>
          <a:solidFill>
            <a:srgbClr val="7C9473"/>
          </a:solidFill>
          <a:ln/>
        </p:spPr>
      </p:sp>
      <p:sp>
        <p:nvSpPr>
          <p:cNvPr id="22" name="Text 20"/>
          <p:cNvSpPr/>
          <p:nvPr/>
        </p:nvSpPr>
        <p:spPr>
          <a:xfrm>
            <a:off x="7498080" y="2340864"/>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a:t>
            </a:r>
            <a:endParaRPr lang="en-US" sz="1900" dirty="0"/>
          </a:p>
        </p:txBody>
      </p:sp>
      <p:sp>
        <p:nvSpPr>
          <p:cNvPr id="23" name="Text 21"/>
          <p:cNvSpPr/>
          <p:nvPr/>
        </p:nvSpPr>
        <p:spPr>
          <a:xfrm>
            <a:off x="7498080" y="2944368"/>
            <a:ext cx="1682496" cy="731520"/>
          </a:xfrm>
          <a:prstGeom prst="rect">
            <a:avLst/>
          </a:prstGeom>
          <a:noFill/>
          <a:ln/>
        </p:spPr>
        <p:txBody>
          <a:bodyPr wrap="square" lIns="0" tIns="0" rIns="0" bIns="0" rtlCol="0" anchor="ctr"/>
          <a:lstStyle/>
          <a:p>
            <a:pPr indent="0" marL="0">
              <a:lnSpc>
                <a:spcPct val="110000"/>
              </a:lnSpc>
              <a:buNone/>
            </a:pPr>
            <a:r>
              <a:rPr lang="en-US" sz="1350" b="1" dirty="0">
                <a:solidFill>
                  <a:srgbClr val="1F1B17"/>
                </a:solidFill>
                <a:latin typeface="Calibri" pitchFamily="34" charset="0"/>
                <a:ea typeface="Calibri" pitchFamily="34" charset="-122"/>
                <a:cs typeface="Calibri" pitchFamily="34" charset="-120"/>
              </a:rPr>
              <a:t>Write With Meaning</a:t>
            </a:r>
            <a:endParaRPr lang="en-US" sz="1350" dirty="0"/>
          </a:p>
        </p:txBody>
      </p:sp>
      <p:sp>
        <p:nvSpPr>
          <p:cNvPr id="24" name="Text 22"/>
          <p:cNvSpPr/>
          <p:nvPr/>
        </p:nvSpPr>
        <p:spPr>
          <a:xfrm>
            <a:off x="7498080" y="3639312"/>
            <a:ext cx="1682496" cy="1143000"/>
          </a:xfrm>
          <a:prstGeom prst="rect">
            <a:avLst/>
          </a:prstGeom>
          <a:noFill/>
          <a:ln/>
        </p:spPr>
        <p:txBody>
          <a:bodyPr wrap="square" lIns="0" tIns="0" rIns="0" bIns="0" rtlCol="0" anchor="ctr"/>
          <a:lstStyle/>
          <a:p>
            <a:pPr indent="0" marL="0">
              <a:lnSpc>
                <a:spcPct val="130000"/>
              </a:lnSpc>
              <a:buNone/>
            </a:pPr>
            <a:r>
              <a:rPr lang="en-US" sz="1150" dirty="0">
                <a:solidFill>
                  <a:srgbClr val="8A8378"/>
                </a:solidFill>
                <a:latin typeface="Calibri" pitchFamily="34" charset="0"/>
                <a:ea typeface="Calibri" pitchFamily="34" charset="-122"/>
                <a:cs typeface="Calibri" pitchFamily="34" charset="-120"/>
              </a:rPr>
              <a:t>Every message connects to who she is, not just what to do next.</a:t>
            </a:r>
            <a:endParaRPr lang="en-US" sz="1150" dirty="0"/>
          </a:p>
        </p:txBody>
      </p:sp>
      <p:sp>
        <p:nvSpPr>
          <p:cNvPr id="25" name="Shape 23"/>
          <p:cNvSpPr/>
          <p:nvPr/>
        </p:nvSpPr>
        <p:spPr>
          <a:xfrm>
            <a:off x="9546336" y="2103120"/>
            <a:ext cx="2084832" cy="2788920"/>
          </a:xfrm>
          <a:prstGeom prst="roundRect">
            <a:avLst>
              <a:gd name="adj" fmla="val 3947"/>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26" name="Shape 24"/>
          <p:cNvSpPr/>
          <p:nvPr/>
        </p:nvSpPr>
        <p:spPr>
          <a:xfrm>
            <a:off x="9747504" y="2340864"/>
            <a:ext cx="438912" cy="438912"/>
          </a:xfrm>
          <a:prstGeom prst="ellipse">
            <a:avLst/>
          </a:prstGeom>
          <a:solidFill>
            <a:srgbClr val="5C7A54"/>
          </a:solidFill>
          <a:ln/>
        </p:spPr>
      </p:sp>
      <p:sp>
        <p:nvSpPr>
          <p:cNvPr id="27" name="Text 25"/>
          <p:cNvSpPr/>
          <p:nvPr/>
        </p:nvSpPr>
        <p:spPr>
          <a:xfrm>
            <a:off x="9747504" y="2340864"/>
            <a:ext cx="438912" cy="43891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E</a:t>
            </a:r>
            <a:endParaRPr lang="en-US" sz="1900" dirty="0"/>
          </a:p>
        </p:txBody>
      </p:sp>
      <p:sp>
        <p:nvSpPr>
          <p:cNvPr id="28" name="Text 26"/>
          <p:cNvSpPr/>
          <p:nvPr/>
        </p:nvSpPr>
        <p:spPr>
          <a:xfrm>
            <a:off x="9747504" y="2944368"/>
            <a:ext cx="1682496" cy="731520"/>
          </a:xfrm>
          <a:prstGeom prst="rect">
            <a:avLst/>
          </a:prstGeom>
          <a:noFill/>
          <a:ln/>
        </p:spPr>
        <p:txBody>
          <a:bodyPr wrap="square" lIns="0" tIns="0" rIns="0" bIns="0" rtlCol="0" anchor="ctr"/>
          <a:lstStyle/>
          <a:p>
            <a:pPr indent="0" marL="0">
              <a:lnSpc>
                <a:spcPct val="110000"/>
              </a:lnSpc>
              <a:buNone/>
            </a:pPr>
            <a:r>
              <a:rPr lang="en-US" sz="1350" b="1" dirty="0">
                <a:solidFill>
                  <a:srgbClr val="1F1B17"/>
                </a:solidFill>
                <a:latin typeface="Calibri" pitchFamily="34" charset="0"/>
                <a:ea typeface="Calibri" pitchFamily="34" charset="-122"/>
                <a:cs typeface="Calibri" pitchFamily="34" charset="-120"/>
              </a:rPr>
              <a:t>See Through Her Eyes</a:t>
            </a:r>
            <a:endParaRPr lang="en-US" sz="1350" dirty="0"/>
          </a:p>
        </p:txBody>
      </p:sp>
      <p:sp>
        <p:nvSpPr>
          <p:cNvPr id="29" name="Text 27"/>
          <p:cNvSpPr/>
          <p:nvPr/>
        </p:nvSpPr>
        <p:spPr>
          <a:xfrm>
            <a:off x="9747504" y="3639312"/>
            <a:ext cx="1682496" cy="1143000"/>
          </a:xfrm>
          <a:prstGeom prst="rect">
            <a:avLst/>
          </a:prstGeom>
          <a:noFill/>
          <a:ln/>
        </p:spPr>
        <p:txBody>
          <a:bodyPr wrap="square" lIns="0" tIns="0" rIns="0" bIns="0" rtlCol="0" anchor="ctr"/>
          <a:lstStyle/>
          <a:p>
            <a:pPr indent="0" marL="0">
              <a:lnSpc>
                <a:spcPct val="130000"/>
              </a:lnSpc>
              <a:buNone/>
            </a:pPr>
            <a:r>
              <a:rPr lang="en-US" sz="1150" dirty="0">
                <a:solidFill>
                  <a:srgbClr val="8A8378"/>
                </a:solidFill>
                <a:latin typeface="Calibri" pitchFamily="34" charset="0"/>
                <a:ea typeface="Calibri" pitchFamily="34" charset="-122"/>
                <a:cs typeface="Calibri" pitchFamily="34" charset="-120"/>
              </a:rPr>
              <a:t>Two shots put the viewer directly in Maya's shoes.</a:t>
            </a:r>
            <a:endParaRPr lang="en-US" sz="1150" dirty="0"/>
          </a:p>
        </p:txBody>
      </p:sp>
      <p:sp>
        <p:nvSpPr>
          <p:cNvPr id="30" name="Text 28"/>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8A8378"/>
                </a:solidFill>
                <a:latin typeface="Calibri" pitchFamily="34" charset="0"/>
                <a:ea typeface="Calibri" pitchFamily="34" charset="-122"/>
                <a:cs typeface="Calibri" pitchFamily="34" charset="-120"/>
              </a:rPr>
              <a:t>Assignment Overview</a:t>
            </a:r>
            <a:endParaRPr lang="en-US" sz="950" dirty="0"/>
          </a:p>
        </p:txBody>
      </p:sp>
      <p:sp>
        <p:nvSpPr>
          <p:cNvPr id="31" name="Text 29"/>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8A837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D97757"/>
                </a:solidFill>
                <a:latin typeface="Calibri" pitchFamily="34" charset="0"/>
                <a:ea typeface="Calibri" pitchFamily="34" charset="-122"/>
                <a:cs typeface="Calibri" pitchFamily="34" charset="-120"/>
              </a:rPr>
              <a:t>CHARACTER &amp; STRUCTURE</a:t>
            </a:r>
            <a:endParaRPr lang="en-US" sz="1150" dirty="0"/>
          </a:p>
        </p:txBody>
      </p:sp>
      <p:sp>
        <p:nvSpPr>
          <p:cNvPr id="3" name="Text 1"/>
          <p:cNvSpPr/>
          <p:nvPr/>
        </p:nvSpPr>
        <p:spPr>
          <a:xfrm>
            <a:off x="548640" y="658368"/>
            <a:ext cx="10789920" cy="502920"/>
          </a:xfrm>
          <a:prstGeom prst="rect">
            <a:avLst/>
          </a:prstGeom>
          <a:noFill/>
          <a:ln/>
        </p:spPr>
        <p:txBody>
          <a:bodyPr wrap="square" lIns="0" tIns="0" rIns="0" bIns="0" rtlCol="0" anchor="ctr"/>
          <a:lstStyle/>
          <a:p>
            <a:pPr indent="0" marL="0">
              <a:buNone/>
            </a:pPr>
            <a:r>
              <a:rPr lang="en-US" sz="2400" b="1" dirty="0">
                <a:solidFill>
                  <a:srgbClr val="1F1B17"/>
                </a:solidFill>
                <a:latin typeface="Cambria" pitchFamily="34" charset="0"/>
                <a:ea typeface="Cambria" pitchFamily="34" charset="-122"/>
                <a:cs typeface="Cambria" pitchFamily="34" charset="-120"/>
              </a:rPr>
              <a:t>Meet Maya, and her 10-step journey</a:t>
            </a:r>
            <a:endParaRPr lang="en-US" sz="2400" dirty="0"/>
          </a:p>
        </p:txBody>
      </p:sp>
      <p:sp>
        <p:nvSpPr>
          <p:cNvPr id="4" name="Text 2"/>
          <p:cNvSpPr/>
          <p:nvPr/>
        </p:nvSpPr>
        <p:spPr>
          <a:xfrm>
            <a:off x="548640" y="1133856"/>
            <a:ext cx="10789920" cy="320040"/>
          </a:xfrm>
          <a:prstGeom prst="rect">
            <a:avLst/>
          </a:prstGeom>
          <a:noFill/>
          <a:ln/>
        </p:spPr>
        <p:txBody>
          <a:bodyPr wrap="square" lIns="0" tIns="0" rIns="0" bIns="0" rtlCol="0" anchor="ctr"/>
          <a:lstStyle/>
          <a:p>
            <a:pPr indent="0" marL="0">
              <a:buNone/>
            </a:pPr>
            <a:r>
              <a:rPr lang="en-US" sz="1200" i="1" dirty="0">
                <a:solidFill>
                  <a:srgbClr val="8A8378"/>
                </a:solidFill>
                <a:latin typeface="Calibri" pitchFamily="34" charset="0"/>
                <a:ea typeface="Calibri" pitchFamily="34" charset="-122"/>
                <a:cs typeface="Calibri" pitchFamily="34" charset="-120"/>
              </a:rPr>
              <a:t>This is not really about fitness. It's about Maya learning to trust herself again.</a:t>
            </a:r>
            <a:endParaRPr lang="en-US" sz="1200" dirty="0"/>
          </a:p>
        </p:txBody>
      </p:sp>
      <p:sp>
        <p:nvSpPr>
          <p:cNvPr id="5" name="Shape 3"/>
          <p:cNvSpPr/>
          <p:nvPr/>
        </p:nvSpPr>
        <p:spPr>
          <a:xfrm>
            <a:off x="548640" y="1600200"/>
            <a:ext cx="2331720" cy="2331720"/>
          </a:xfrm>
          <a:prstGeom prst="rect">
            <a:avLst/>
          </a:prstGeom>
          <a:solidFill>
            <a:srgbClr val="241F1A"/>
          </a:solidFill>
          <a:ln/>
        </p:spPr>
      </p:sp>
      <p:pic>
        <p:nvPicPr>
          <p:cNvPr id="6" name="Image 0" descr="/home/claude/deck/assets/p10_confidence.png">    </p:cNvPr>
          <p:cNvPicPr>
            <a:picLocks noChangeAspect="1"/>
          </p:cNvPicPr>
          <p:nvPr/>
        </p:nvPicPr>
        <p:blipFill>
          <a:blip r:embed="rId1"/>
          <a:stretch>
            <a:fillRect/>
          </a:stretch>
        </p:blipFill>
        <p:spPr>
          <a:xfrm>
            <a:off x="685800" y="1691640"/>
            <a:ext cx="2057400" cy="1783080"/>
          </a:xfrm>
          <a:prstGeom prst="rect">
            <a:avLst/>
          </a:prstGeom>
        </p:spPr>
      </p:pic>
      <p:sp>
        <p:nvSpPr>
          <p:cNvPr id="7" name="Text 4"/>
          <p:cNvSpPr/>
          <p:nvPr/>
        </p:nvSpPr>
        <p:spPr>
          <a:xfrm>
            <a:off x="548640" y="3520440"/>
            <a:ext cx="2331720" cy="320040"/>
          </a:xfrm>
          <a:prstGeom prst="rect">
            <a:avLst/>
          </a:prstGeom>
          <a:noFill/>
          <a:ln/>
        </p:spPr>
        <p:txBody>
          <a:bodyPr wrap="square" lIns="0" tIns="0" rIns="0" bIns="0"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MAYA, 29 · lapsed runner</a:t>
            </a:r>
            <a:endParaRPr lang="en-US" sz="1050" dirty="0"/>
          </a:p>
        </p:txBody>
      </p:sp>
      <p:sp>
        <p:nvSpPr>
          <p:cNvPr id="8" name="Text 5"/>
          <p:cNvSpPr/>
          <p:nvPr/>
        </p:nvSpPr>
        <p:spPr>
          <a:xfrm>
            <a:off x="3108960" y="1600200"/>
            <a:ext cx="4114800" cy="256032"/>
          </a:xfrm>
          <a:prstGeom prst="rect">
            <a:avLst/>
          </a:prstGeom>
          <a:noFill/>
          <a:ln/>
        </p:spPr>
        <p:txBody>
          <a:bodyPr wrap="square" lIns="0" tIns="0" rIns="0" bIns="0" rtlCol="0" anchor="ctr"/>
          <a:lstStyle/>
          <a:p>
            <a:pPr indent="0" marL="0">
              <a:buNone/>
            </a:pPr>
            <a:r>
              <a:rPr lang="en-US" sz="1000" b="1" spc="80" kern="0" dirty="0">
                <a:solidFill>
                  <a:srgbClr val="C1583B"/>
                </a:solidFill>
                <a:latin typeface="Calibri" pitchFamily="34" charset="0"/>
                <a:ea typeface="Calibri" pitchFamily="34" charset="-122"/>
                <a:cs typeface="Calibri" pitchFamily="34" charset="-120"/>
              </a:rPr>
              <a:t>HER GOAL</a:t>
            </a:r>
            <a:endParaRPr lang="en-US" sz="1000" dirty="0"/>
          </a:p>
        </p:txBody>
      </p:sp>
      <p:sp>
        <p:nvSpPr>
          <p:cNvPr id="9" name="Text 6"/>
          <p:cNvSpPr/>
          <p:nvPr/>
        </p:nvSpPr>
        <p:spPr>
          <a:xfrm>
            <a:off x="3108960" y="1874520"/>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1F1B17"/>
                </a:solidFill>
                <a:latin typeface="Calibri" pitchFamily="34" charset="0"/>
                <a:ea typeface="Calibri" pitchFamily="34" charset="-122"/>
                <a:cs typeface="Calibri" pitchFamily="34" charset="-120"/>
              </a:rPr>
              <a:t>Get back into a simple habit of moving her body — not win a race or hit a number.</a:t>
            </a:r>
            <a:endParaRPr lang="en-US" sz="1150" dirty="0"/>
          </a:p>
        </p:txBody>
      </p:sp>
      <p:sp>
        <p:nvSpPr>
          <p:cNvPr id="10" name="Text 7"/>
          <p:cNvSpPr/>
          <p:nvPr/>
        </p:nvSpPr>
        <p:spPr>
          <a:xfrm>
            <a:off x="7498080" y="1600200"/>
            <a:ext cx="4114800" cy="256032"/>
          </a:xfrm>
          <a:prstGeom prst="rect">
            <a:avLst/>
          </a:prstGeom>
          <a:noFill/>
          <a:ln/>
        </p:spPr>
        <p:txBody>
          <a:bodyPr wrap="square" lIns="0" tIns="0" rIns="0" bIns="0" rtlCol="0" anchor="ctr"/>
          <a:lstStyle/>
          <a:p>
            <a:pPr indent="0" marL="0">
              <a:buNone/>
            </a:pPr>
            <a:r>
              <a:rPr lang="en-US" sz="1000" b="1" spc="80" kern="0" dirty="0">
                <a:solidFill>
                  <a:srgbClr val="C1583B"/>
                </a:solidFill>
                <a:latin typeface="Calibri" pitchFamily="34" charset="0"/>
                <a:ea typeface="Calibri" pitchFamily="34" charset="-122"/>
                <a:cs typeface="Calibri" pitchFamily="34" charset="-120"/>
              </a:rPr>
              <a:t>HER FEAR</a:t>
            </a:r>
            <a:endParaRPr lang="en-US" sz="1000" dirty="0"/>
          </a:p>
        </p:txBody>
      </p:sp>
      <p:sp>
        <p:nvSpPr>
          <p:cNvPr id="11" name="Text 8"/>
          <p:cNvSpPr/>
          <p:nvPr/>
        </p:nvSpPr>
        <p:spPr>
          <a:xfrm>
            <a:off x="7498080" y="1874520"/>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1F1B17"/>
                </a:solidFill>
                <a:latin typeface="Calibri" pitchFamily="34" charset="0"/>
                <a:ea typeface="Calibri" pitchFamily="34" charset="-122"/>
                <a:cs typeface="Calibri" pitchFamily="34" charset="-120"/>
              </a:rPr>
              <a:t>She's tried twice before and quit both times. Now she worries that's just who she is.</a:t>
            </a:r>
            <a:endParaRPr lang="en-US" sz="1150" dirty="0"/>
          </a:p>
        </p:txBody>
      </p:sp>
      <p:sp>
        <p:nvSpPr>
          <p:cNvPr id="12" name="Text 9"/>
          <p:cNvSpPr/>
          <p:nvPr/>
        </p:nvSpPr>
        <p:spPr>
          <a:xfrm>
            <a:off x="3108960" y="2807208"/>
            <a:ext cx="4114800" cy="256032"/>
          </a:xfrm>
          <a:prstGeom prst="rect">
            <a:avLst/>
          </a:prstGeom>
          <a:noFill/>
          <a:ln/>
        </p:spPr>
        <p:txBody>
          <a:bodyPr wrap="square" lIns="0" tIns="0" rIns="0" bIns="0" rtlCol="0" anchor="ctr"/>
          <a:lstStyle/>
          <a:p>
            <a:pPr indent="0" marL="0">
              <a:buNone/>
            </a:pPr>
            <a:r>
              <a:rPr lang="en-US" sz="1000" b="1" spc="80" kern="0" dirty="0">
                <a:solidFill>
                  <a:srgbClr val="C1583B"/>
                </a:solidFill>
                <a:latin typeface="Calibri" pitchFamily="34" charset="0"/>
                <a:ea typeface="Calibri" pitchFamily="34" charset="-122"/>
                <a:cs typeface="Calibri" pitchFamily="34" charset="-120"/>
              </a:rPr>
              <a:t>WHAT SUCCESS FEELS LIKE</a:t>
            </a:r>
            <a:endParaRPr lang="en-US" sz="1000" dirty="0"/>
          </a:p>
        </p:txBody>
      </p:sp>
      <p:sp>
        <p:nvSpPr>
          <p:cNvPr id="13" name="Text 10"/>
          <p:cNvSpPr/>
          <p:nvPr/>
        </p:nvSpPr>
        <p:spPr>
          <a:xfrm>
            <a:off x="3108960" y="3081528"/>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1F1B17"/>
                </a:solidFill>
                <a:latin typeface="Calibri" pitchFamily="34" charset="0"/>
                <a:ea typeface="Calibri" pitchFamily="34" charset="-122"/>
                <a:cs typeface="Calibri" pitchFamily="34" charset="-120"/>
              </a:rPr>
              <a:t>Not a finish line — just proof, to herself, that she can follow through.</a:t>
            </a:r>
            <a:endParaRPr lang="en-US" sz="1150" dirty="0"/>
          </a:p>
        </p:txBody>
      </p:sp>
      <p:sp>
        <p:nvSpPr>
          <p:cNvPr id="14" name="Text 11"/>
          <p:cNvSpPr/>
          <p:nvPr/>
        </p:nvSpPr>
        <p:spPr>
          <a:xfrm>
            <a:off x="7498080" y="2807208"/>
            <a:ext cx="4114800" cy="256032"/>
          </a:xfrm>
          <a:prstGeom prst="rect">
            <a:avLst/>
          </a:prstGeom>
          <a:noFill/>
          <a:ln/>
        </p:spPr>
        <p:txBody>
          <a:bodyPr wrap="square" lIns="0" tIns="0" rIns="0" bIns="0" rtlCol="0" anchor="ctr"/>
          <a:lstStyle/>
          <a:p>
            <a:pPr indent="0" marL="0">
              <a:buNone/>
            </a:pPr>
            <a:r>
              <a:rPr lang="en-US" sz="1000" b="1" spc="80" kern="0" dirty="0">
                <a:solidFill>
                  <a:srgbClr val="C1583B"/>
                </a:solidFill>
                <a:latin typeface="Calibri" pitchFamily="34" charset="0"/>
                <a:ea typeface="Calibri" pitchFamily="34" charset="-122"/>
                <a:cs typeface="Calibri" pitchFamily="34" charset="-120"/>
              </a:rPr>
              <a:t>HER CONFLICT</a:t>
            </a:r>
            <a:endParaRPr lang="en-US" sz="1000" dirty="0"/>
          </a:p>
        </p:txBody>
      </p:sp>
      <p:sp>
        <p:nvSpPr>
          <p:cNvPr id="15" name="Text 12"/>
          <p:cNvSpPr/>
          <p:nvPr/>
        </p:nvSpPr>
        <p:spPr>
          <a:xfrm>
            <a:off x="7498080" y="3081528"/>
            <a:ext cx="4114800" cy="868680"/>
          </a:xfrm>
          <a:prstGeom prst="rect">
            <a:avLst/>
          </a:prstGeom>
          <a:noFill/>
          <a:ln/>
        </p:spPr>
        <p:txBody>
          <a:bodyPr wrap="square" lIns="0" tIns="0" rIns="0" bIns="0" rtlCol="0" anchor="ctr"/>
          <a:lstStyle/>
          <a:p>
            <a:pPr indent="0" marL="0">
              <a:lnSpc>
                <a:spcPct val="120000"/>
              </a:lnSpc>
              <a:buNone/>
            </a:pPr>
            <a:r>
              <a:rPr lang="en-US" sz="1150" dirty="0">
                <a:solidFill>
                  <a:srgbClr val="1F1B17"/>
                </a:solidFill>
                <a:latin typeface="Calibri" pitchFamily="34" charset="0"/>
                <a:ea typeface="Calibri" pitchFamily="34" charset="-122"/>
                <a:cs typeface="Calibri" pitchFamily="34" charset="-120"/>
              </a:rPr>
              <a:t>She wants help, but hates feeling watched or judged.</a:t>
            </a:r>
            <a:endParaRPr lang="en-US" sz="1150" dirty="0"/>
          </a:p>
        </p:txBody>
      </p:sp>
      <p:sp>
        <p:nvSpPr>
          <p:cNvPr id="16" name="Text 13"/>
          <p:cNvSpPr/>
          <p:nvPr/>
        </p:nvSpPr>
        <p:spPr>
          <a:xfrm>
            <a:off x="548640" y="4160520"/>
            <a:ext cx="5486400" cy="256032"/>
          </a:xfrm>
          <a:prstGeom prst="rect">
            <a:avLst/>
          </a:prstGeom>
          <a:noFill/>
          <a:ln/>
        </p:spPr>
        <p:txBody>
          <a:bodyPr wrap="square" lIns="0" tIns="0" rIns="0" bIns="0" rtlCol="0" anchor="ctr"/>
          <a:lstStyle/>
          <a:p>
            <a:pPr indent="0" marL="0">
              <a:buNone/>
            </a:pPr>
            <a:r>
              <a:rPr lang="en-US" sz="1050" b="1" spc="120" kern="0" dirty="0">
                <a:solidFill>
                  <a:srgbClr val="D97757"/>
                </a:solidFill>
                <a:latin typeface="Calibri" pitchFamily="34" charset="0"/>
                <a:ea typeface="Calibri" pitchFamily="34" charset="-122"/>
                <a:cs typeface="Calibri" pitchFamily="34" charset="-120"/>
              </a:rPr>
              <a:t>HER 10-STEP JOURNEY</a:t>
            </a:r>
            <a:endParaRPr lang="en-US" sz="1050" dirty="0"/>
          </a:p>
        </p:txBody>
      </p:sp>
      <p:sp>
        <p:nvSpPr>
          <p:cNvPr id="17" name="Shape 14"/>
          <p:cNvSpPr/>
          <p:nvPr/>
        </p:nvSpPr>
        <p:spPr>
          <a:xfrm>
            <a:off x="548640"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18" name="Shape 15"/>
          <p:cNvSpPr/>
          <p:nvPr/>
        </p:nvSpPr>
        <p:spPr>
          <a:xfrm>
            <a:off x="996696" y="4626864"/>
            <a:ext cx="146304" cy="146304"/>
          </a:xfrm>
          <a:prstGeom prst="ellipse">
            <a:avLst/>
          </a:prstGeom>
          <a:solidFill>
            <a:srgbClr val="8A8378"/>
          </a:solidFill>
          <a:ln/>
        </p:spPr>
      </p:sp>
      <p:sp>
        <p:nvSpPr>
          <p:cNvPr id="19" name="Text 16"/>
          <p:cNvSpPr/>
          <p:nvPr/>
        </p:nvSpPr>
        <p:spPr>
          <a:xfrm>
            <a:off x="548640"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01</a:t>
            </a:r>
            <a:endParaRPr lang="en-US" sz="900" dirty="0"/>
          </a:p>
        </p:txBody>
      </p:sp>
      <p:sp>
        <p:nvSpPr>
          <p:cNvPr id="20" name="Text 17"/>
          <p:cNvSpPr/>
          <p:nvPr/>
        </p:nvSpPr>
        <p:spPr>
          <a:xfrm>
            <a:off x="585216"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Ordinary</a:t>
            </a:r>
            <a:endParaRPr lang="en-US" sz="950" dirty="0"/>
          </a:p>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Struggle</a:t>
            </a:r>
            <a:endParaRPr lang="en-US" sz="950" dirty="0"/>
          </a:p>
        </p:txBody>
      </p:sp>
      <p:sp>
        <p:nvSpPr>
          <p:cNvPr id="21" name="Shape 18"/>
          <p:cNvSpPr/>
          <p:nvPr/>
        </p:nvSpPr>
        <p:spPr>
          <a:xfrm>
            <a:off x="1659636"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22" name="Shape 19"/>
          <p:cNvSpPr/>
          <p:nvPr/>
        </p:nvSpPr>
        <p:spPr>
          <a:xfrm>
            <a:off x="2107692" y="4626864"/>
            <a:ext cx="146304" cy="146304"/>
          </a:xfrm>
          <a:prstGeom prst="ellipse">
            <a:avLst/>
          </a:prstGeom>
          <a:solidFill>
            <a:srgbClr val="D9A05B"/>
          </a:solidFill>
          <a:ln/>
        </p:spPr>
      </p:sp>
      <p:sp>
        <p:nvSpPr>
          <p:cNvPr id="23" name="Text 20"/>
          <p:cNvSpPr/>
          <p:nvPr/>
        </p:nvSpPr>
        <p:spPr>
          <a:xfrm>
            <a:off x="1659636"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02</a:t>
            </a:r>
            <a:endParaRPr lang="en-US" sz="900" dirty="0"/>
          </a:p>
        </p:txBody>
      </p:sp>
      <p:sp>
        <p:nvSpPr>
          <p:cNvPr id="24" name="Text 21"/>
          <p:cNvSpPr/>
          <p:nvPr/>
        </p:nvSpPr>
        <p:spPr>
          <a:xfrm>
            <a:off x="1696212"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Trigger</a:t>
            </a:r>
            <a:endParaRPr lang="en-US" sz="950" dirty="0"/>
          </a:p>
        </p:txBody>
      </p:sp>
      <p:sp>
        <p:nvSpPr>
          <p:cNvPr id="25" name="Shape 22"/>
          <p:cNvSpPr/>
          <p:nvPr/>
        </p:nvSpPr>
        <p:spPr>
          <a:xfrm>
            <a:off x="2770632"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26" name="Shape 23"/>
          <p:cNvSpPr/>
          <p:nvPr/>
        </p:nvSpPr>
        <p:spPr>
          <a:xfrm>
            <a:off x="3218688" y="4626864"/>
            <a:ext cx="146304" cy="146304"/>
          </a:xfrm>
          <a:prstGeom prst="ellipse">
            <a:avLst/>
          </a:prstGeom>
          <a:solidFill>
            <a:srgbClr val="7C9473"/>
          </a:solidFill>
          <a:ln/>
        </p:spPr>
      </p:sp>
      <p:sp>
        <p:nvSpPr>
          <p:cNvPr id="27" name="Text 24"/>
          <p:cNvSpPr/>
          <p:nvPr/>
        </p:nvSpPr>
        <p:spPr>
          <a:xfrm>
            <a:off x="2770632"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03</a:t>
            </a:r>
            <a:endParaRPr lang="en-US" sz="900" dirty="0"/>
          </a:p>
        </p:txBody>
      </p:sp>
      <p:sp>
        <p:nvSpPr>
          <p:cNvPr id="28" name="Text 25"/>
          <p:cNvSpPr/>
          <p:nvPr/>
        </p:nvSpPr>
        <p:spPr>
          <a:xfrm>
            <a:off x="2807208"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First</a:t>
            </a:r>
            <a:endParaRPr lang="en-US" sz="950" dirty="0"/>
          </a:p>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Attempt</a:t>
            </a:r>
            <a:endParaRPr lang="en-US" sz="950" dirty="0"/>
          </a:p>
        </p:txBody>
      </p:sp>
      <p:sp>
        <p:nvSpPr>
          <p:cNvPr id="29" name="Shape 26"/>
          <p:cNvSpPr/>
          <p:nvPr/>
        </p:nvSpPr>
        <p:spPr>
          <a:xfrm>
            <a:off x="3881628"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30" name="Shape 27"/>
          <p:cNvSpPr/>
          <p:nvPr/>
        </p:nvSpPr>
        <p:spPr>
          <a:xfrm>
            <a:off x="4329684" y="4626864"/>
            <a:ext cx="146304" cy="146304"/>
          </a:xfrm>
          <a:prstGeom prst="ellipse">
            <a:avLst/>
          </a:prstGeom>
          <a:solidFill>
            <a:srgbClr val="8B85C7"/>
          </a:solidFill>
          <a:ln/>
        </p:spPr>
      </p:sp>
      <p:sp>
        <p:nvSpPr>
          <p:cNvPr id="31" name="Text 28"/>
          <p:cNvSpPr/>
          <p:nvPr/>
        </p:nvSpPr>
        <p:spPr>
          <a:xfrm>
            <a:off x="3881628"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04</a:t>
            </a:r>
            <a:endParaRPr lang="en-US" sz="900" dirty="0"/>
          </a:p>
        </p:txBody>
      </p:sp>
      <p:sp>
        <p:nvSpPr>
          <p:cNvPr id="32" name="Text 29"/>
          <p:cNvSpPr/>
          <p:nvPr/>
        </p:nvSpPr>
        <p:spPr>
          <a:xfrm>
            <a:off x="3918204"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Mentor</a:t>
            </a:r>
            <a:endParaRPr lang="en-US" sz="950" dirty="0"/>
          </a:p>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Shows Up</a:t>
            </a:r>
            <a:endParaRPr lang="en-US" sz="950" dirty="0"/>
          </a:p>
        </p:txBody>
      </p:sp>
      <p:sp>
        <p:nvSpPr>
          <p:cNvPr id="33" name="Shape 30"/>
          <p:cNvSpPr/>
          <p:nvPr/>
        </p:nvSpPr>
        <p:spPr>
          <a:xfrm>
            <a:off x="4992624"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34" name="Shape 31"/>
          <p:cNvSpPr/>
          <p:nvPr/>
        </p:nvSpPr>
        <p:spPr>
          <a:xfrm>
            <a:off x="5440680" y="4626864"/>
            <a:ext cx="146304" cy="146304"/>
          </a:xfrm>
          <a:prstGeom prst="ellipse">
            <a:avLst/>
          </a:prstGeom>
          <a:solidFill>
            <a:srgbClr val="7C9473"/>
          </a:solidFill>
          <a:ln/>
        </p:spPr>
      </p:sp>
      <p:sp>
        <p:nvSpPr>
          <p:cNvPr id="35" name="Text 32"/>
          <p:cNvSpPr/>
          <p:nvPr/>
        </p:nvSpPr>
        <p:spPr>
          <a:xfrm>
            <a:off x="4992624"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05</a:t>
            </a:r>
            <a:endParaRPr lang="en-US" sz="900" dirty="0"/>
          </a:p>
        </p:txBody>
      </p:sp>
      <p:sp>
        <p:nvSpPr>
          <p:cNvPr id="36" name="Text 33"/>
          <p:cNvSpPr/>
          <p:nvPr/>
        </p:nvSpPr>
        <p:spPr>
          <a:xfrm>
            <a:off x="5029200"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Momentum</a:t>
            </a:r>
            <a:endParaRPr lang="en-US" sz="950" dirty="0"/>
          </a:p>
        </p:txBody>
      </p:sp>
      <p:sp>
        <p:nvSpPr>
          <p:cNvPr id="37" name="Shape 34"/>
          <p:cNvSpPr/>
          <p:nvPr/>
        </p:nvSpPr>
        <p:spPr>
          <a:xfrm>
            <a:off x="6103620"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38" name="Shape 35"/>
          <p:cNvSpPr/>
          <p:nvPr/>
        </p:nvSpPr>
        <p:spPr>
          <a:xfrm>
            <a:off x="6551676" y="4626864"/>
            <a:ext cx="146304" cy="146304"/>
          </a:xfrm>
          <a:prstGeom prst="ellipse">
            <a:avLst/>
          </a:prstGeom>
          <a:solidFill>
            <a:srgbClr val="C1583B"/>
          </a:solidFill>
          <a:ln/>
        </p:spPr>
      </p:sp>
      <p:sp>
        <p:nvSpPr>
          <p:cNvPr id="39" name="Text 36"/>
          <p:cNvSpPr/>
          <p:nvPr/>
        </p:nvSpPr>
        <p:spPr>
          <a:xfrm>
            <a:off x="6103620"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06</a:t>
            </a:r>
            <a:endParaRPr lang="en-US" sz="900" dirty="0"/>
          </a:p>
        </p:txBody>
      </p:sp>
      <p:sp>
        <p:nvSpPr>
          <p:cNvPr id="40" name="Text 37"/>
          <p:cNvSpPr/>
          <p:nvPr/>
        </p:nvSpPr>
        <p:spPr>
          <a:xfrm>
            <a:off x="6140196"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The</a:t>
            </a:r>
            <a:endParaRPr lang="en-US" sz="950" dirty="0"/>
          </a:p>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Setback</a:t>
            </a:r>
            <a:endParaRPr lang="en-US" sz="950" dirty="0"/>
          </a:p>
        </p:txBody>
      </p:sp>
      <p:sp>
        <p:nvSpPr>
          <p:cNvPr id="41" name="Shape 38"/>
          <p:cNvSpPr/>
          <p:nvPr/>
        </p:nvSpPr>
        <p:spPr>
          <a:xfrm>
            <a:off x="7214616"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42" name="Shape 39"/>
          <p:cNvSpPr/>
          <p:nvPr/>
        </p:nvSpPr>
        <p:spPr>
          <a:xfrm>
            <a:off x="7662672" y="4626864"/>
            <a:ext cx="146304" cy="146304"/>
          </a:xfrm>
          <a:prstGeom prst="ellipse">
            <a:avLst/>
          </a:prstGeom>
          <a:solidFill>
            <a:srgbClr val="5C7A54"/>
          </a:solidFill>
          <a:ln/>
        </p:spPr>
      </p:sp>
      <p:sp>
        <p:nvSpPr>
          <p:cNvPr id="43" name="Text 40"/>
          <p:cNvSpPr/>
          <p:nvPr/>
        </p:nvSpPr>
        <p:spPr>
          <a:xfrm>
            <a:off x="7214616"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07</a:t>
            </a:r>
            <a:endParaRPr lang="en-US" sz="900" dirty="0"/>
          </a:p>
        </p:txBody>
      </p:sp>
      <p:sp>
        <p:nvSpPr>
          <p:cNvPr id="44" name="Text 41"/>
          <p:cNvSpPr/>
          <p:nvPr/>
        </p:nvSpPr>
        <p:spPr>
          <a:xfrm>
            <a:off x="7251192"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Her</a:t>
            </a:r>
            <a:endParaRPr lang="en-US" sz="950" dirty="0"/>
          </a:p>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Choice</a:t>
            </a:r>
            <a:endParaRPr lang="en-US" sz="950" dirty="0"/>
          </a:p>
        </p:txBody>
      </p:sp>
      <p:sp>
        <p:nvSpPr>
          <p:cNvPr id="45" name="Shape 42"/>
          <p:cNvSpPr/>
          <p:nvPr/>
        </p:nvSpPr>
        <p:spPr>
          <a:xfrm>
            <a:off x="8325612"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46" name="Shape 43"/>
          <p:cNvSpPr/>
          <p:nvPr/>
        </p:nvSpPr>
        <p:spPr>
          <a:xfrm>
            <a:off x="8773668" y="4626864"/>
            <a:ext cx="146304" cy="146304"/>
          </a:xfrm>
          <a:prstGeom prst="ellipse">
            <a:avLst/>
          </a:prstGeom>
          <a:solidFill>
            <a:srgbClr val="8B85C7"/>
          </a:solidFill>
          <a:ln/>
        </p:spPr>
      </p:sp>
      <p:sp>
        <p:nvSpPr>
          <p:cNvPr id="47" name="Text 44"/>
          <p:cNvSpPr/>
          <p:nvPr/>
        </p:nvSpPr>
        <p:spPr>
          <a:xfrm>
            <a:off x="8325612"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08</a:t>
            </a:r>
            <a:endParaRPr lang="en-US" sz="900" dirty="0"/>
          </a:p>
        </p:txBody>
      </p:sp>
      <p:sp>
        <p:nvSpPr>
          <p:cNvPr id="48" name="Text 45"/>
          <p:cNvSpPr/>
          <p:nvPr/>
        </p:nvSpPr>
        <p:spPr>
          <a:xfrm>
            <a:off x="8362188"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Mentor</a:t>
            </a:r>
            <a:endParaRPr lang="en-US" sz="950" dirty="0"/>
          </a:p>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Returns</a:t>
            </a:r>
            <a:endParaRPr lang="en-US" sz="950" dirty="0"/>
          </a:p>
        </p:txBody>
      </p:sp>
      <p:sp>
        <p:nvSpPr>
          <p:cNvPr id="49" name="Shape 46"/>
          <p:cNvSpPr/>
          <p:nvPr/>
        </p:nvSpPr>
        <p:spPr>
          <a:xfrm>
            <a:off x="9436608"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50" name="Shape 47"/>
          <p:cNvSpPr/>
          <p:nvPr/>
        </p:nvSpPr>
        <p:spPr>
          <a:xfrm>
            <a:off x="9884664" y="4626864"/>
            <a:ext cx="146304" cy="146304"/>
          </a:xfrm>
          <a:prstGeom prst="ellipse">
            <a:avLst/>
          </a:prstGeom>
          <a:solidFill>
            <a:srgbClr val="D97757"/>
          </a:solidFill>
          <a:ln/>
        </p:spPr>
      </p:sp>
      <p:sp>
        <p:nvSpPr>
          <p:cNvPr id="51" name="Text 48"/>
          <p:cNvSpPr/>
          <p:nvPr/>
        </p:nvSpPr>
        <p:spPr>
          <a:xfrm>
            <a:off x="9436608"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09</a:t>
            </a:r>
            <a:endParaRPr lang="en-US" sz="900" dirty="0"/>
          </a:p>
        </p:txBody>
      </p:sp>
      <p:sp>
        <p:nvSpPr>
          <p:cNvPr id="52" name="Text 49"/>
          <p:cNvSpPr/>
          <p:nvPr/>
        </p:nvSpPr>
        <p:spPr>
          <a:xfrm>
            <a:off x="9473184"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Return</a:t>
            </a:r>
            <a:endParaRPr lang="en-US" sz="950" dirty="0"/>
          </a:p>
        </p:txBody>
      </p:sp>
      <p:sp>
        <p:nvSpPr>
          <p:cNvPr id="53" name="Shape 50"/>
          <p:cNvSpPr/>
          <p:nvPr/>
        </p:nvSpPr>
        <p:spPr>
          <a:xfrm>
            <a:off x="10547604" y="4480560"/>
            <a:ext cx="1042416" cy="1417320"/>
          </a:xfrm>
          <a:prstGeom prst="roundRect">
            <a:avLst>
              <a:gd name="adj" fmla="val 7018"/>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54" name="Shape 51"/>
          <p:cNvSpPr/>
          <p:nvPr/>
        </p:nvSpPr>
        <p:spPr>
          <a:xfrm>
            <a:off x="10995660" y="4626864"/>
            <a:ext cx="146304" cy="146304"/>
          </a:xfrm>
          <a:prstGeom prst="ellipse">
            <a:avLst/>
          </a:prstGeom>
          <a:solidFill>
            <a:srgbClr val="5C7A54"/>
          </a:solidFill>
          <a:ln/>
        </p:spPr>
      </p:sp>
      <p:sp>
        <p:nvSpPr>
          <p:cNvPr id="55" name="Text 52"/>
          <p:cNvSpPr/>
          <p:nvPr/>
        </p:nvSpPr>
        <p:spPr>
          <a:xfrm>
            <a:off x="10547604" y="4828032"/>
            <a:ext cx="1042416" cy="228600"/>
          </a:xfrm>
          <a:prstGeom prst="rect">
            <a:avLst/>
          </a:prstGeom>
          <a:noFill/>
          <a:ln/>
        </p:spPr>
        <p:txBody>
          <a:bodyPr wrap="square" lIns="0" tIns="0" rIns="0" bIns="0" rtlCol="0" anchor="ctr"/>
          <a:lstStyle/>
          <a:p>
            <a:pPr algn="ctr" indent="0" marL="0">
              <a:buNone/>
            </a:pPr>
            <a:r>
              <a:rPr lang="en-US" sz="900" dirty="0">
                <a:solidFill>
                  <a:srgbClr val="8A8378"/>
                </a:solidFill>
                <a:latin typeface="Calibri" pitchFamily="34" charset="0"/>
                <a:ea typeface="Calibri" pitchFamily="34" charset="-122"/>
                <a:cs typeface="Calibri" pitchFamily="34" charset="-120"/>
              </a:rPr>
              <a:t>10</a:t>
            </a:r>
            <a:endParaRPr lang="en-US" sz="900" dirty="0"/>
          </a:p>
        </p:txBody>
      </p:sp>
      <p:sp>
        <p:nvSpPr>
          <p:cNvPr id="56" name="Text 53"/>
          <p:cNvSpPr/>
          <p:nvPr/>
        </p:nvSpPr>
        <p:spPr>
          <a:xfrm>
            <a:off x="10584180" y="5047488"/>
            <a:ext cx="969264" cy="777240"/>
          </a:xfrm>
          <a:prstGeom prst="rect">
            <a:avLst/>
          </a:prstGeom>
          <a:noFill/>
          <a:ln/>
        </p:spPr>
        <p:txBody>
          <a:bodyPr wrap="square" lIns="0" tIns="0" rIns="0" bIns="0" rtlCol="0" anchor="ctr"/>
          <a:lstStyle/>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Quiet</a:t>
            </a:r>
            <a:endParaRPr lang="en-US" sz="950" dirty="0"/>
          </a:p>
          <a:p>
            <a:pPr algn="ctr" indent="0" marL="0">
              <a:lnSpc>
                <a:spcPct val="105000"/>
              </a:lnSpc>
              <a:buNone/>
            </a:pPr>
            <a:r>
              <a:rPr lang="en-US" sz="950" b="1" dirty="0">
                <a:solidFill>
                  <a:srgbClr val="1F1B17"/>
                </a:solidFill>
                <a:latin typeface="Calibri" pitchFamily="34" charset="0"/>
                <a:ea typeface="Calibri" pitchFamily="34" charset="-122"/>
                <a:cs typeface="Calibri" pitchFamily="34" charset="-120"/>
              </a:rPr>
              <a:t>Confidence</a:t>
            </a:r>
            <a:endParaRPr lang="en-US" sz="950" dirty="0"/>
          </a:p>
        </p:txBody>
      </p:sp>
      <p:sp>
        <p:nvSpPr>
          <p:cNvPr id="57" name="Text 54"/>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8A8378"/>
                </a:solidFill>
                <a:latin typeface="Calibri" pitchFamily="34" charset="0"/>
                <a:ea typeface="Calibri" pitchFamily="34" charset="-122"/>
                <a:cs typeface="Calibri" pitchFamily="34" charset="-120"/>
              </a:rPr>
              <a:t>Character Brief &amp; Story Map</a:t>
            </a:r>
            <a:endParaRPr lang="en-US" sz="950" dirty="0"/>
          </a:p>
        </p:txBody>
      </p:sp>
      <p:sp>
        <p:nvSpPr>
          <p:cNvPr id="58" name="Text 55"/>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8A837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D97757"/>
                </a:solidFill>
                <a:latin typeface="Calibri" pitchFamily="34" charset="0"/>
                <a:ea typeface="Calibri" pitchFamily="34" charset="-122"/>
                <a:cs typeface="Calibri" pitchFamily="34" charset="-120"/>
              </a:rPr>
              <a:t>STORYBOARD · PART 1</a:t>
            </a:r>
            <a:endParaRPr lang="en-US" sz="1150" dirty="0"/>
          </a:p>
        </p:txBody>
      </p:sp>
      <p:sp>
        <p:nvSpPr>
          <p:cNvPr id="3" name="Text 1"/>
          <p:cNvSpPr/>
          <p:nvPr/>
        </p:nvSpPr>
        <p:spPr>
          <a:xfrm>
            <a:off x="548640" y="658368"/>
            <a:ext cx="10789920" cy="502920"/>
          </a:xfrm>
          <a:prstGeom prst="rect">
            <a:avLst/>
          </a:prstGeom>
          <a:noFill/>
          <a:ln/>
        </p:spPr>
        <p:txBody>
          <a:bodyPr wrap="square" lIns="0" tIns="0" rIns="0" bIns="0" rtlCol="0" anchor="ctr"/>
          <a:lstStyle/>
          <a:p>
            <a:pPr indent="0" marL="0">
              <a:buNone/>
            </a:pPr>
            <a:r>
              <a:rPr lang="en-US" sz="2400" b="1" dirty="0">
                <a:solidFill>
                  <a:srgbClr val="1F1B17"/>
                </a:solidFill>
                <a:latin typeface="Cambria" pitchFamily="34" charset="0"/>
                <a:ea typeface="Cambria" pitchFamily="34" charset="-122"/>
                <a:cs typeface="Cambria" pitchFamily="34" charset="-120"/>
              </a:rPr>
              <a:t>From avoidance to momentum</a:t>
            </a:r>
            <a:endParaRPr lang="en-US" sz="2400" dirty="0"/>
          </a:p>
        </p:txBody>
      </p:sp>
      <p:sp>
        <p:nvSpPr>
          <p:cNvPr id="4" name="Text 2"/>
          <p:cNvSpPr/>
          <p:nvPr/>
        </p:nvSpPr>
        <p:spPr>
          <a:xfrm>
            <a:off x="548640" y="1133856"/>
            <a:ext cx="10789920" cy="320040"/>
          </a:xfrm>
          <a:prstGeom prst="rect">
            <a:avLst/>
          </a:prstGeom>
          <a:noFill/>
          <a:ln/>
        </p:spPr>
        <p:txBody>
          <a:bodyPr wrap="square" lIns="0" tIns="0" rIns="0" bIns="0" rtlCol="0" anchor="ctr"/>
          <a:lstStyle/>
          <a:p>
            <a:pPr indent="0" marL="0">
              <a:buNone/>
            </a:pPr>
            <a:r>
              <a:rPr lang="en-US" sz="1200" i="1" dirty="0">
                <a:solidFill>
                  <a:srgbClr val="8A8378"/>
                </a:solidFill>
                <a:latin typeface="Calibri" pitchFamily="34" charset="0"/>
                <a:ea typeface="Calibri" pitchFamily="34" charset="-122"/>
                <a:cs typeface="Calibri" pitchFamily="34" charset="-120"/>
              </a:rPr>
              <a:t>Panels 1–5: she notices the app, tries once, and starts to build a habit.</a:t>
            </a:r>
            <a:endParaRPr lang="en-US" sz="1200" dirty="0"/>
          </a:p>
        </p:txBody>
      </p:sp>
      <p:pic>
        <p:nvPicPr>
          <p:cNvPr id="5" name="Image 0" descr="/home/claude/deck/assets/p1_avoidance.png">    </p:cNvPr>
          <p:cNvPicPr>
            <a:picLocks noChangeAspect="1"/>
          </p:cNvPicPr>
          <p:nvPr/>
        </p:nvPicPr>
        <p:blipFill>
          <a:blip r:embed="rId1"/>
          <a:stretch>
            <a:fillRect/>
          </a:stretch>
        </p:blipFill>
        <p:spPr>
          <a:xfrm>
            <a:off x="548640" y="1600200"/>
            <a:ext cx="2084832" cy="1965960"/>
          </a:xfrm>
          <a:prstGeom prst="rect">
            <a:avLst/>
          </a:prstGeom>
        </p:spPr>
      </p:pic>
      <p:sp>
        <p:nvSpPr>
          <p:cNvPr id="6" name="Shape 3"/>
          <p:cNvSpPr/>
          <p:nvPr/>
        </p:nvSpPr>
        <p:spPr>
          <a:xfrm>
            <a:off x="548640" y="1600200"/>
            <a:ext cx="2084832" cy="1965960"/>
          </a:xfrm>
          <a:prstGeom prst="roundRect">
            <a:avLst>
              <a:gd name="adj" fmla="val 2326"/>
            </a:avLst>
          </a:prstGeom>
          <a:ln w="12700">
            <a:solidFill>
              <a:srgbClr val="E4E0D6"/>
            </a:solidFill>
            <a:prstDash val="solid"/>
          </a:ln>
        </p:spPr>
      </p:sp>
      <p:sp>
        <p:nvSpPr>
          <p:cNvPr id="7" name="Text 4"/>
          <p:cNvSpPr/>
          <p:nvPr/>
        </p:nvSpPr>
        <p:spPr>
          <a:xfrm>
            <a:off x="54864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01  </a:t>
            </a:r>
            <a:pPr indent="0" marL="0">
              <a:buNone/>
            </a:pPr>
            <a:r>
              <a:rPr lang="en-US" sz="1150" b="1" dirty="0">
                <a:solidFill>
                  <a:srgbClr val="1F1B17"/>
                </a:solidFill>
                <a:latin typeface="Calibri" pitchFamily="34" charset="0"/>
                <a:ea typeface="Calibri" pitchFamily="34" charset="-122"/>
                <a:cs typeface="Calibri" pitchFamily="34" charset="-120"/>
              </a:rPr>
              <a:t>Ordinary Struggle</a:t>
            </a:r>
            <a:endParaRPr lang="en-US" sz="1150" dirty="0"/>
          </a:p>
        </p:txBody>
      </p:sp>
      <p:sp>
        <p:nvSpPr>
          <p:cNvPr id="8" name="Shape 5"/>
          <p:cNvSpPr/>
          <p:nvPr/>
        </p:nvSpPr>
        <p:spPr>
          <a:xfrm>
            <a:off x="548640" y="3950208"/>
            <a:ext cx="2084832" cy="237744"/>
          </a:xfrm>
          <a:prstGeom prst="roundRect">
            <a:avLst>
              <a:gd name="adj" fmla="val 50000"/>
            </a:avLst>
          </a:prstGeom>
          <a:solidFill>
            <a:srgbClr val="5C7A54"/>
          </a:solidFill>
          <a:ln/>
        </p:spPr>
      </p:sp>
      <p:sp>
        <p:nvSpPr>
          <p:cNvPr id="9" name="Text 6"/>
          <p:cNvSpPr/>
          <p:nvPr/>
        </p:nvSpPr>
        <p:spPr>
          <a:xfrm>
            <a:off x="548640" y="3950208"/>
            <a:ext cx="2084832" cy="237744"/>
          </a:xfrm>
          <a:prstGeom prst="rect">
            <a:avLst/>
          </a:prstGeom>
          <a:noFill/>
          <a:ln/>
        </p:spPr>
        <p:txBody>
          <a:bodyPr wrap="square" lIns="0" tIns="0" rIns="0" bIns="0" rtlCol="0" anchor="ctr"/>
          <a:lstStyle/>
          <a:p>
            <a:pPr algn="ctr" indent="0" marL="0">
              <a:buNone/>
            </a:pPr>
            <a:r>
              <a:rPr lang="en-US" sz="780" b="1" spc="50" kern="0" dirty="0">
                <a:solidFill>
                  <a:srgbClr val="FFFFFF"/>
                </a:solidFill>
                <a:latin typeface="Calibri" pitchFamily="34" charset="0"/>
                <a:ea typeface="Calibri" pitchFamily="34" charset="-122"/>
                <a:cs typeface="Calibri" pitchFamily="34" charset="-120"/>
              </a:rPr>
              <a:t>THROUGH HER EYES</a:t>
            </a:r>
            <a:endParaRPr lang="en-US" sz="780" dirty="0"/>
          </a:p>
        </p:txBody>
      </p:sp>
      <p:sp>
        <p:nvSpPr>
          <p:cNvPr id="10" name="Text 7"/>
          <p:cNvSpPr/>
          <p:nvPr/>
        </p:nvSpPr>
        <p:spPr>
          <a:xfrm>
            <a:off x="548640" y="4242816"/>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Her phone sits face-down. She's not ready to try yet.</a:t>
            </a:r>
            <a:endParaRPr lang="en-US" sz="930" dirty="0"/>
          </a:p>
        </p:txBody>
      </p:sp>
      <p:sp>
        <p:nvSpPr>
          <p:cNvPr id="11" name="Text 8"/>
          <p:cNvSpPr/>
          <p:nvPr/>
        </p:nvSpPr>
        <p:spPr>
          <a:xfrm>
            <a:off x="54864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Avoidance</a:t>
            </a:r>
            <a:endParaRPr lang="en-US" sz="800" dirty="0"/>
          </a:p>
        </p:txBody>
      </p:sp>
      <p:sp>
        <p:nvSpPr>
          <p:cNvPr id="12" name="Text 9"/>
          <p:cNvSpPr/>
          <p:nvPr/>
        </p:nvSpPr>
        <p:spPr>
          <a:xfrm>
            <a:off x="54864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Wide, Eye-Level</a:t>
            </a:r>
            <a:endParaRPr lang="en-US" sz="800" dirty="0"/>
          </a:p>
        </p:txBody>
      </p:sp>
      <p:pic>
        <p:nvPicPr>
          <p:cNvPr id="13" name="Image 1" descr="/home/claude/deck/assets/p2_trigger.png">    </p:cNvPr>
          <p:cNvPicPr>
            <a:picLocks noChangeAspect="1"/>
          </p:cNvPicPr>
          <p:nvPr/>
        </p:nvPicPr>
        <p:blipFill>
          <a:blip r:embed="rId2"/>
          <a:stretch>
            <a:fillRect/>
          </a:stretch>
        </p:blipFill>
        <p:spPr>
          <a:xfrm>
            <a:off x="2788920" y="1600200"/>
            <a:ext cx="2084832" cy="1965960"/>
          </a:xfrm>
          <a:prstGeom prst="rect">
            <a:avLst/>
          </a:prstGeom>
        </p:spPr>
      </p:pic>
      <p:sp>
        <p:nvSpPr>
          <p:cNvPr id="14" name="Shape 10"/>
          <p:cNvSpPr/>
          <p:nvPr/>
        </p:nvSpPr>
        <p:spPr>
          <a:xfrm>
            <a:off x="2788920" y="1600200"/>
            <a:ext cx="2084832" cy="1965960"/>
          </a:xfrm>
          <a:prstGeom prst="roundRect">
            <a:avLst>
              <a:gd name="adj" fmla="val 2326"/>
            </a:avLst>
          </a:prstGeom>
          <a:ln w="12700">
            <a:solidFill>
              <a:srgbClr val="E4E0D6"/>
            </a:solidFill>
            <a:prstDash val="solid"/>
          </a:ln>
        </p:spPr>
      </p:sp>
      <p:sp>
        <p:nvSpPr>
          <p:cNvPr id="15" name="Text 11"/>
          <p:cNvSpPr/>
          <p:nvPr/>
        </p:nvSpPr>
        <p:spPr>
          <a:xfrm>
            <a:off x="278892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02  </a:t>
            </a:r>
            <a:pPr indent="0" marL="0">
              <a:buNone/>
            </a:pPr>
            <a:r>
              <a:rPr lang="en-US" sz="1150" b="1" dirty="0">
                <a:solidFill>
                  <a:srgbClr val="1F1B17"/>
                </a:solidFill>
                <a:latin typeface="Calibri" pitchFamily="34" charset="0"/>
                <a:ea typeface="Calibri" pitchFamily="34" charset="-122"/>
                <a:cs typeface="Calibri" pitchFamily="34" charset="-120"/>
              </a:rPr>
              <a:t>The Trigger</a:t>
            </a:r>
            <a:endParaRPr lang="en-US" sz="1150" dirty="0"/>
          </a:p>
        </p:txBody>
      </p:sp>
      <p:sp>
        <p:nvSpPr>
          <p:cNvPr id="16" name="Shape 12"/>
          <p:cNvSpPr/>
          <p:nvPr/>
        </p:nvSpPr>
        <p:spPr>
          <a:xfrm>
            <a:off x="2788920" y="3950208"/>
            <a:ext cx="2084832" cy="237744"/>
          </a:xfrm>
          <a:prstGeom prst="roundRect">
            <a:avLst>
              <a:gd name="adj" fmla="val 50000"/>
            </a:avLst>
          </a:prstGeom>
          <a:solidFill>
            <a:srgbClr val="D97757"/>
          </a:solidFill>
          <a:ln/>
        </p:spPr>
      </p:sp>
      <p:sp>
        <p:nvSpPr>
          <p:cNvPr id="17" name="Text 13"/>
          <p:cNvSpPr/>
          <p:nvPr/>
        </p:nvSpPr>
        <p:spPr>
          <a:xfrm>
            <a:off x="2788920" y="3950208"/>
            <a:ext cx="2084832" cy="237744"/>
          </a:xfrm>
          <a:prstGeom prst="rect">
            <a:avLst/>
          </a:prstGeom>
          <a:noFill/>
          <a:ln/>
        </p:spPr>
        <p:txBody>
          <a:bodyPr wrap="square" lIns="0" tIns="0" rIns="0" bIns="0" rtlCol="0" anchor="ctr"/>
          <a:lstStyle/>
          <a:p>
            <a:pPr algn="ctr" indent="0" marL="0">
              <a:buNone/>
            </a:pPr>
            <a:r>
              <a:rPr lang="en-US" sz="780" b="1" spc="50" kern="0" dirty="0">
                <a:solidFill>
                  <a:srgbClr val="FFFFFF"/>
                </a:solidFill>
                <a:latin typeface="Calibri" pitchFamily="34" charset="0"/>
                <a:ea typeface="Calibri" pitchFamily="34" charset="-122"/>
                <a:cs typeface="Calibri" pitchFamily="34" charset="-120"/>
              </a:rPr>
              <a:t>MESSAGE 1</a:t>
            </a:r>
            <a:endParaRPr lang="en-US" sz="780" dirty="0"/>
          </a:p>
        </p:txBody>
      </p:sp>
      <p:sp>
        <p:nvSpPr>
          <p:cNvPr id="18" name="Text 14"/>
          <p:cNvSpPr/>
          <p:nvPr/>
        </p:nvSpPr>
        <p:spPr>
          <a:xfrm>
            <a:off x="2788920" y="4242816"/>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A gentle notification catches her attention.</a:t>
            </a:r>
            <a:endParaRPr lang="en-US" sz="930" dirty="0"/>
          </a:p>
        </p:txBody>
      </p:sp>
      <p:sp>
        <p:nvSpPr>
          <p:cNvPr id="19" name="Shape 15"/>
          <p:cNvSpPr/>
          <p:nvPr/>
        </p:nvSpPr>
        <p:spPr>
          <a:xfrm>
            <a:off x="2788920" y="4791456"/>
            <a:ext cx="2084832" cy="566928"/>
          </a:xfrm>
          <a:prstGeom prst="roundRect">
            <a:avLst>
              <a:gd name="adj" fmla="val 9677"/>
            </a:avLst>
          </a:prstGeom>
          <a:solidFill>
            <a:srgbClr val="EAE8F7"/>
          </a:solidFill>
          <a:ln/>
        </p:spPr>
      </p:sp>
      <p:sp>
        <p:nvSpPr>
          <p:cNvPr id="20" name="Text 16"/>
          <p:cNvSpPr/>
          <p:nvPr/>
        </p:nvSpPr>
        <p:spPr>
          <a:xfrm>
            <a:off x="2862072" y="4818888"/>
            <a:ext cx="1938528" cy="512064"/>
          </a:xfrm>
          <a:prstGeom prst="rect">
            <a:avLst/>
          </a:prstGeom>
          <a:noFill/>
          <a:ln/>
        </p:spPr>
        <p:txBody>
          <a:bodyPr wrap="square" lIns="0" tIns="0" rIns="0" bIns="0" rtlCol="0" anchor="ctr"/>
          <a:lstStyle/>
          <a:p>
            <a:pPr indent="0" marL="0">
              <a:lnSpc>
                <a:spcPct val="110000"/>
              </a:lnSpc>
              <a:buNone/>
            </a:pPr>
            <a:r>
              <a:rPr lang="en-US" sz="900" i="1" dirty="0">
                <a:solidFill>
                  <a:srgbClr val="1F1B17"/>
                </a:solidFill>
                <a:latin typeface="Cambria" pitchFamily="34" charset="0"/>
                <a:ea typeface="Cambria" pitchFamily="34" charset="-122"/>
                <a:cs typeface="Cambria" pitchFamily="34" charset="-120"/>
              </a:rPr>
              <a:t>“No pressure today — even opening the app counts as showing up.”</a:t>
            </a:r>
            <a:endParaRPr lang="en-US" sz="900" dirty="0"/>
          </a:p>
        </p:txBody>
      </p:sp>
      <p:sp>
        <p:nvSpPr>
          <p:cNvPr id="21" name="Text 17"/>
          <p:cNvSpPr/>
          <p:nvPr/>
        </p:nvSpPr>
        <p:spPr>
          <a:xfrm>
            <a:off x="278892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Resistance</a:t>
            </a:r>
            <a:endParaRPr lang="en-US" sz="800" dirty="0"/>
          </a:p>
        </p:txBody>
      </p:sp>
      <p:sp>
        <p:nvSpPr>
          <p:cNvPr id="22" name="Text 18"/>
          <p:cNvSpPr/>
          <p:nvPr/>
        </p:nvSpPr>
        <p:spPr>
          <a:xfrm>
            <a:off x="278892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Close, High Angle</a:t>
            </a:r>
            <a:endParaRPr lang="en-US" sz="800" dirty="0"/>
          </a:p>
        </p:txBody>
      </p:sp>
      <p:pic>
        <p:nvPicPr>
          <p:cNvPr id="23" name="Image 2" descr="/home/claude/deck/assets/p3_first_attempt.png">    </p:cNvPr>
          <p:cNvPicPr>
            <a:picLocks noChangeAspect="1"/>
          </p:cNvPicPr>
          <p:nvPr/>
        </p:nvPicPr>
        <p:blipFill>
          <a:blip r:embed="rId3"/>
          <a:stretch>
            <a:fillRect/>
          </a:stretch>
        </p:blipFill>
        <p:spPr>
          <a:xfrm>
            <a:off x="5029200" y="1600200"/>
            <a:ext cx="2084832" cy="1965960"/>
          </a:xfrm>
          <a:prstGeom prst="rect">
            <a:avLst/>
          </a:prstGeom>
        </p:spPr>
      </p:pic>
      <p:sp>
        <p:nvSpPr>
          <p:cNvPr id="24" name="Shape 19"/>
          <p:cNvSpPr/>
          <p:nvPr/>
        </p:nvSpPr>
        <p:spPr>
          <a:xfrm>
            <a:off x="5029200" y="1600200"/>
            <a:ext cx="2084832" cy="1965960"/>
          </a:xfrm>
          <a:prstGeom prst="roundRect">
            <a:avLst>
              <a:gd name="adj" fmla="val 2326"/>
            </a:avLst>
          </a:prstGeom>
          <a:ln w="12700">
            <a:solidFill>
              <a:srgbClr val="E4E0D6"/>
            </a:solidFill>
            <a:prstDash val="solid"/>
          </a:ln>
        </p:spPr>
      </p:sp>
      <p:sp>
        <p:nvSpPr>
          <p:cNvPr id="25" name="Text 20"/>
          <p:cNvSpPr/>
          <p:nvPr/>
        </p:nvSpPr>
        <p:spPr>
          <a:xfrm>
            <a:off x="502920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03  </a:t>
            </a:r>
            <a:pPr indent="0" marL="0">
              <a:buNone/>
            </a:pPr>
            <a:r>
              <a:rPr lang="en-US" sz="1150" b="1" dirty="0">
                <a:solidFill>
                  <a:srgbClr val="1F1B17"/>
                </a:solidFill>
                <a:latin typeface="Calibri" pitchFamily="34" charset="0"/>
                <a:ea typeface="Calibri" pitchFamily="34" charset="-122"/>
                <a:cs typeface="Calibri" pitchFamily="34" charset="-120"/>
              </a:rPr>
              <a:t>First Attempt</a:t>
            </a:r>
            <a:endParaRPr lang="en-US" sz="1150" dirty="0"/>
          </a:p>
        </p:txBody>
      </p:sp>
      <p:sp>
        <p:nvSpPr>
          <p:cNvPr id="26" name="Text 21"/>
          <p:cNvSpPr/>
          <p:nvPr/>
        </p:nvSpPr>
        <p:spPr>
          <a:xfrm>
            <a:off x="5029200" y="3950208"/>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Four awkward minutes. She does it anyway.</a:t>
            </a:r>
            <a:endParaRPr lang="en-US" sz="930" dirty="0"/>
          </a:p>
        </p:txBody>
      </p:sp>
      <p:sp>
        <p:nvSpPr>
          <p:cNvPr id="27" name="Text 22"/>
          <p:cNvSpPr/>
          <p:nvPr/>
        </p:nvSpPr>
        <p:spPr>
          <a:xfrm>
            <a:off x="502920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A Little Hope</a:t>
            </a:r>
            <a:endParaRPr lang="en-US" sz="800" dirty="0"/>
          </a:p>
        </p:txBody>
      </p:sp>
      <p:sp>
        <p:nvSpPr>
          <p:cNvPr id="28" name="Text 23"/>
          <p:cNvSpPr/>
          <p:nvPr/>
        </p:nvSpPr>
        <p:spPr>
          <a:xfrm>
            <a:off x="502920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Low Angle</a:t>
            </a:r>
            <a:endParaRPr lang="en-US" sz="800" dirty="0"/>
          </a:p>
        </p:txBody>
      </p:sp>
      <p:pic>
        <p:nvPicPr>
          <p:cNvPr id="29" name="Image 3" descr="/home/claude/deck/assets/p4_mentor1.png">    </p:cNvPr>
          <p:cNvPicPr>
            <a:picLocks noChangeAspect="1"/>
          </p:cNvPicPr>
          <p:nvPr/>
        </p:nvPicPr>
        <p:blipFill>
          <a:blip r:embed="rId4"/>
          <a:stretch>
            <a:fillRect/>
          </a:stretch>
        </p:blipFill>
        <p:spPr>
          <a:xfrm>
            <a:off x="7269480" y="1600200"/>
            <a:ext cx="2084832" cy="1965960"/>
          </a:xfrm>
          <a:prstGeom prst="rect">
            <a:avLst/>
          </a:prstGeom>
        </p:spPr>
      </p:pic>
      <p:sp>
        <p:nvSpPr>
          <p:cNvPr id="30" name="Shape 24"/>
          <p:cNvSpPr/>
          <p:nvPr/>
        </p:nvSpPr>
        <p:spPr>
          <a:xfrm>
            <a:off x="7269480" y="1600200"/>
            <a:ext cx="2084832" cy="1965960"/>
          </a:xfrm>
          <a:prstGeom prst="roundRect">
            <a:avLst>
              <a:gd name="adj" fmla="val 2326"/>
            </a:avLst>
          </a:prstGeom>
          <a:ln w="12700">
            <a:solidFill>
              <a:srgbClr val="E4E0D6"/>
            </a:solidFill>
            <a:prstDash val="solid"/>
          </a:ln>
        </p:spPr>
      </p:sp>
      <p:sp>
        <p:nvSpPr>
          <p:cNvPr id="31" name="Text 25"/>
          <p:cNvSpPr/>
          <p:nvPr/>
        </p:nvSpPr>
        <p:spPr>
          <a:xfrm>
            <a:off x="726948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04  </a:t>
            </a:r>
            <a:pPr indent="0" marL="0">
              <a:buNone/>
            </a:pPr>
            <a:r>
              <a:rPr lang="en-US" sz="1150" b="1" dirty="0">
                <a:solidFill>
                  <a:srgbClr val="1F1B17"/>
                </a:solidFill>
                <a:latin typeface="Calibri" pitchFamily="34" charset="0"/>
                <a:ea typeface="Calibri" pitchFamily="34" charset="-122"/>
                <a:cs typeface="Calibri" pitchFamily="34" charset="-120"/>
              </a:rPr>
              <a:t>Mentor Shows Up</a:t>
            </a:r>
            <a:endParaRPr lang="en-US" sz="1150" dirty="0"/>
          </a:p>
        </p:txBody>
      </p:sp>
      <p:sp>
        <p:nvSpPr>
          <p:cNvPr id="32" name="Shape 26"/>
          <p:cNvSpPr/>
          <p:nvPr/>
        </p:nvSpPr>
        <p:spPr>
          <a:xfrm>
            <a:off x="7269480" y="3950208"/>
            <a:ext cx="2084832" cy="237744"/>
          </a:xfrm>
          <a:prstGeom prst="roundRect">
            <a:avLst>
              <a:gd name="adj" fmla="val 50000"/>
            </a:avLst>
          </a:prstGeom>
          <a:solidFill>
            <a:srgbClr val="8B85C7"/>
          </a:solidFill>
          <a:ln/>
        </p:spPr>
      </p:sp>
      <p:sp>
        <p:nvSpPr>
          <p:cNvPr id="33" name="Text 27"/>
          <p:cNvSpPr/>
          <p:nvPr/>
        </p:nvSpPr>
        <p:spPr>
          <a:xfrm>
            <a:off x="7269480" y="3950208"/>
            <a:ext cx="2084832" cy="237744"/>
          </a:xfrm>
          <a:prstGeom prst="rect">
            <a:avLst/>
          </a:prstGeom>
          <a:noFill/>
          <a:ln/>
        </p:spPr>
        <p:txBody>
          <a:bodyPr wrap="square" lIns="0" tIns="0" rIns="0" bIns="0" rtlCol="0" anchor="ctr"/>
          <a:lstStyle/>
          <a:p>
            <a:pPr algn="ctr" indent="0" marL="0">
              <a:buNone/>
            </a:pPr>
            <a:r>
              <a:rPr lang="en-US" sz="780" b="1" spc="50" kern="0" dirty="0">
                <a:solidFill>
                  <a:srgbClr val="FFFFFF"/>
                </a:solidFill>
                <a:latin typeface="Calibri" pitchFamily="34" charset="0"/>
                <a:ea typeface="Calibri" pitchFamily="34" charset="-122"/>
                <a:cs typeface="Calibri" pitchFamily="34" charset="-120"/>
              </a:rPr>
              <a:t>COACH CHECK-IN 1</a:t>
            </a:r>
            <a:endParaRPr lang="en-US" sz="780" dirty="0"/>
          </a:p>
        </p:txBody>
      </p:sp>
      <p:sp>
        <p:nvSpPr>
          <p:cNvPr id="34" name="Text 28"/>
          <p:cNvSpPr/>
          <p:nvPr/>
        </p:nvSpPr>
        <p:spPr>
          <a:xfrm>
            <a:off x="7269480" y="4242816"/>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Her coach notices the effort, not the result.</a:t>
            </a:r>
            <a:endParaRPr lang="en-US" sz="930" dirty="0"/>
          </a:p>
        </p:txBody>
      </p:sp>
      <p:sp>
        <p:nvSpPr>
          <p:cNvPr id="35" name="Shape 29"/>
          <p:cNvSpPr/>
          <p:nvPr/>
        </p:nvSpPr>
        <p:spPr>
          <a:xfrm>
            <a:off x="7269480" y="4791456"/>
            <a:ext cx="2084832" cy="566928"/>
          </a:xfrm>
          <a:prstGeom prst="roundRect">
            <a:avLst>
              <a:gd name="adj" fmla="val 9677"/>
            </a:avLst>
          </a:prstGeom>
          <a:solidFill>
            <a:srgbClr val="EAE8F7"/>
          </a:solidFill>
          <a:ln/>
        </p:spPr>
      </p:sp>
      <p:sp>
        <p:nvSpPr>
          <p:cNvPr id="36" name="Text 30"/>
          <p:cNvSpPr/>
          <p:nvPr/>
        </p:nvSpPr>
        <p:spPr>
          <a:xfrm>
            <a:off x="7342632" y="4818888"/>
            <a:ext cx="1938528" cy="512064"/>
          </a:xfrm>
          <a:prstGeom prst="rect">
            <a:avLst/>
          </a:prstGeom>
          <a:noFill/>
          <a:ln/>
        </p:spPr>
        <p:txBody>
          <a:bodyPr wrap="square" lIns="0" tIns="0" rIns="0" bIns="0" rtlCol="0" anchor="ctr"/>
          <a:lstStyle/>
          <a:p>
            <a:pPr indent="0" marL="0">
              <a:lnSpc>
                <a:spcPct val="110000"/>
              </a:lnSpc>
              <a:buNone/>
            </a:pPr>
            <a:r>
              <a:rPr lang="en-US" sz="900" i="1" dirty="0">
                <a:solidFill>
                  <a:srgbClr val="1F1B17"/>
                </a:solidFill>
                <a:latin typeface="Cambria" pitchFamily="34" charset="0"/>
                <a:ea typeface="Cambria" pitchFamily="34" charset="-122"/>
                <a:cs typeface="Cambria" pitchFamily="34" charset="-120"/>
              </a:rPr>
              <a:t>“Even 4 minutes counts as showing up.”</a:t>
            </a:r>
            <a:endParaRPr lang="en-US" sz="900" dirty="0"/>
          </a:p>
        </p:txBody>
      </p:sp>
      <p:sp>
        <p:nvSpPr>
          <p:cNvPr id="37" name="Text 31"/>
          <p:cNvSpPr/>
          <p:nvPr/>
        </p:nvSpPr>
        <p:spPr>
          <a:xfrm>
            <a:off x="726948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Building Momentum</a:t>
            </a:r>
            <a:endParaRPr lang="en-US" sz="800" dirty="0"/>
          </a:p>
        </p:txBody>
      </p:sp>
      <p:sp>
        <p:nvSpPr>
          <p:cNvPr id="38" name="Text 32"/>
          <p:cNvSpPr/>
          <p:nvPr/>
        </p:nvSpPr>
        <p:spPr>
          <a:xfrm>
            <a:off x="726948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Over-the-Shoulder</a:t>
            </a:r>
            <a:endParaRPr lang="en-US" sz="800" dirty="0"/>
          </a:p>
        </p:txBody>
      </p:sp>
      <p:pic>
        <p:nvPicPr>
          <p:cNvPr id="39" name="Image 4" descr="/home/claude/deck/assets/p5_momentum.png">    </p:cNvPr>
          <p:cNvPicPr>
            <a:picLocks noChangeAspect="1"/>
          </p:cNvPicPr>
          <p:nvPr/>
        </p:nvPicPr>
        <p:blipFill>
          <a:blip r:embed="rId5"/>
          <a:stretch>
            <a:fillRect/>
          </a:stretch>
        </p:blipFill>
        <p:spPr>
          <a:xfrm>
            <a:off x="9509760" y="1600200"/>
            <a:ext cx="2084832" cy="1965960"/>
          </a:xfrm>
          <a:prstGeom prst="rect">
            <a:avLst/>
          </a:prstGeom>
        </p:spPr>
      </p:pic>
      <p:sp>
        <p:nvSpPr>
          <p:cNvPr id="40" name="Shape 33"/>
          <p:cNvSpPr/>
          <p:nvPr/>
        </p:nvSpPr>
        <p:spPr>
          <a:xfrm>
            <a:off x="9509760" y="1600200"/>
            <a:ext cx="2084832" cy="1965960"/>
          </a:xfrm>
          <a:prstGeom prst="roundRect">
            <a:avLst>
              <a:gd name="adj" fmla="val 2326"/>
            </a:avLst>
          </a:prstGeom>
          <a:ln w="12700">
            <a:solidFill>
              <a:srgbClr val="E4E0D6"/>
            </a:solidFill>
            <a:prstDash val="solid"/>
          </a:ln>
        </p:spPr>
      </p:sp>
      <p:sp>
        <p:nvSpPr>
          <p:cNvPr id="41" name="Text 34"/>
          <p:cNvSpPr/>
          <p:nvPr/>
        </p:nvSpPr>
        <p:spPr>
          <a:xfrm>
            <a:off x="950976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05  </a:t>
            </a:r>
            <a:pPr indent="0" marL="0">
              <a:buNone/>
            </a:pPr>
            <a:r>
              <a:rPr lang="en-US" sz="1150" b="1" dirty="0">
                <a:solidFill>
                  <a:srgbClr val="1F1B17"/>
                </a:solidFill>
                <a:latin typeface="Calibri" pitchFamily="34" charset="0"/>
                <a:ea typeface="Calibri" pitchFamily="34" charset="-122"/>
                <a:cs typeface="Calibri" pitchFamily="34" charset="-120"/>
              </a:rPr>
              <a:t>Momentum</a:t>
            </a:r>
            <a:endParaRPr lang="en-US" sz="1150" dirty="0"/>
          </a:p>
        </p:txBody>
      </p:sp>
      <p:sp>
        <p:nvSpPr>
          <p:cNvPr id="42" name="Text 35"/>
          <p:cNvSpPr/>
          <p:nvPr/>
        </p:nvSpPr>
        <p:spPr>
          <a:xfrm>
            <a:off x="9509760" y="3950208"/>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A few days become a week. Small wins add up.</a:t>
            </a:r>
            <a:endParaRPr lang="en-US" sz="930" dirty="0"/>
          </a:p>
        </p:txBody>
      </p:sp>
      <p:sp>
        <p:nvSpPr>
          <p:cNvPr id="43" name="Text 36"/>
          <p:cNvSpPr/>
          <p:nvPr/>
        </p:nvSpPr>
        <p:spPr>
          <a:xfrm>
            <a:off x="950976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Momentum</a:t>
            </a:r>
            <a:endParaRPr lang="en-US" sz="800" dirty="0"/>
          </a:p>
        </p:txBody>
      </p:sp>
      <p:sp>
        <p:nvSpPr>
          <p:cNvPr id="44" name="Text 37"/>
          <p:cNvSpPr/>
          <p:nvPr/>
        </p:nvSpPr>
        <p:spPr>
          <a:xfrm>
            <a:off x="950976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Wide Pan</a:t>
            </a:r>
            <a:endParaRPr lang="en-US" sz="800" dirty="0"/>
          </a:p>
        </p:txBody>
      </p:sp>
      <p:sp>
        <p:nvSpPr>
          <p:cNvPr id="45" name="Text 38"/>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8A8378"/>
                </a:solidFill>
                <a:latin typeface="Calibri" pitchFamily="34" charset="0"/>
                <a:ea typeface="Calibri" pitchFamily="34" charset="-122"/>
                <a:cs typeface="Calibri" pitchFamily="34" charset="-120"/>
              </a:rPr>
              <a:t>Storyboard · Panels 1–5</a:t>
            </a:r>
            <a:endParaRPr lang="en-US" sz="950" dirty="0"/>
          </a:p>
        </p:txBody>
      </p:sp>
      <p:sp>
        <p:nvSpPr>
          <p:cNvPr id="46" name="Text 39"/>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8A837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D97757"/>
                </a:solidFill>
                <a:latin typeface="Calibri" pitchFamily="34" charset="0"/>
                <a:ea typeface="Calibri" pitchFamily="34" charset="-122"/>
                <a:cs typeface="Calibri" pitchFamily="34" charset="-120"/>
              </a:rPr>
              <a:t>STORYBOARD · PART 2</a:t>
            </a:r>
            <a:endParaRPr lang="en-US" sz="1150" dirty="0"/>
          </a:p>
        </p:txBody>
      </p:sp>
      <p:sp>
        <p:nvSpPr>
          <p:cNvPr id="3" name="Text 1"/>
          <p:cNvSpPr/>
          <p:nvPr/>
        </p:nvSpPr>
        <p:spPr>
          <a:xfrm>
            <a:off x="548640" y="658368"/>
            <a:ext cx="10789920" cy="502920"/>
          </a:xfrm>
          <a:prstGeom prst="rect">
            <a:avLst/>
          </a:prstGeom>
          <a:noFill/>
          <a:ln/>
        </p:spPr>
        <p:txBody>
          <a:bodyPr wrap="square" lIns="0" tIns="0" rIns="0" bIns="0" rtlCol="0" anchor="ctr"/>
          <a:lstStyle/>
          <a:p>
            <a:pPr indent="0" marL="0">
              <a:buNone/>
            </a:pPr>
            <a:r>
              <a:rPr lang="en-US" sz="2400" b="1" dirty="0">
                <a:solidFill>
                  <a:srgbClr val="1F1B17"/>
                </a:solidFill>
                <a:latin typeface="Cambria" pitchFamily="34" charset="0"/>
                <a:ea typeface="Cambria" pitchFamily="34" charset="-122"/>
                <a:cs typeface="Cambria" pitchFamily="34" charset="-120"/>
              </a:rPr>
              <a:t>From setback to quiet confidence</a:t>
            </a:r>
            <a:endParaRPr lang="en-US" sz="2400" dirty="0"/>
          </a:p>
        </p:txBody>
      </p:sp>
      <p:sp>
        <p:nvSpPr>
          <p:cNvPr id="4" name="Text 2"/>
          <p:cNvSpPr/>
          <p:nvPr/>
        </p:nvSpPr>
        <p:spPr>
          <a:xfrm>
            <a:off x="548640" y="1133856"/>
            <a:ext cx="10789920" cy="320040"/>
          </a:xfrm>
          <a:prstGeom prst="rect">
            <a:avLst/>
          </a:prstGeom>
          <a:noFill/>
          <a:ln/>
        </p:spPr>
        <p:txBody>
          <a:bodyPr wrap="square" lIns="0" tIns="0" rIns="0" bIns="0" rtlCol="0" anchor="ctr"/>
          <a:lstStyle/>
          <a:p>
            <a:pPr indent="0" marL="0">
              <a:buNone/>
            </a:pPr>
            <a:r>
              <a:rPr lang="en-US" sz="1200" i="1" dirty="0">
                <a:solidFill>
                  <a:srgbClr val="8A8378"/>
                </a:solidFill>
                <a:latin typeface="Calibri" pitchFamily="34" charset="0"/>
                <a:ea typeface="Calibri" pitchFamily="34" charset="-122"/>
                <a:cs typeface="Calibri" pitchFamily="34" charset="-120"/>
              </a:rPr>
              <a:t>Panels 6–10: she slips, chooses to come back, and finishes changed.</a:t>
            </a:r>
            <a:endParaRPr lang="en-US" sz="1200" dirty="0"/>
          </a:p>
        </p:txBody>
      </p:sp>
      <p:pic>
        <p:nvPicPr>
          <p:cNvPr id="5" name="Image 0" descr="/home/claude/deck/assets/p6_rupture.png">    </p:cNvPr>
          <p:cNvPicPr>
            <a:picLocks noChangeAspect="1"/>
          </p:cNvPicPr>
          <p:nvPr/>
        </p:nvPicPr>
        <p:blipFill>
          <a:blip r:embed="rId1"/>
          <a:stretch>
            <a:fillRect/>
          </a:stretch>
        </p:blipFill>
        <p:spPr>
          <a:xfrm>
            <a:off x="548640" y="1600200"/>
            <a:ext cx="2084832" cy="1965960"/>
          </a:xfrm>
          <a:prstGeom prst="rect">
            <a:avLst/>
          </a:prstGeom>
        </p:spPr>
      </p:pic>
      <p:sp>
        <p:nvSpPr>
          <p:cNvPr id="6" name="Shape 3"/>
          <p:cNvSpPr/>
          <p:nvPr/>
        </p:nvSpPr>
        <p:spPr>
          <a:xfrm>
            <a:off x="548640" y="1600200"/>
            <a:ext cx="2084832" cy="1965960"/>
          </a:xfrm>
          <a:prstGeom prst="roundRect">
            <a:avLst>
              <a:gd name="adj" fmla="val 2326"/>
            </a:avLst>
          </a:prstGeom>
          <a:ln w="12700">
            <a:solidFill>
              <a:srgbClr val="E4E0D6"/>
            </a:solidFill>
            <a:prstDash val="solid"/>
          </a:ln>
        </p:spPr>
      </p:sp>
      <p:sp>
        <p:nvSpPr>
          <p:cNvPr id="7" name="Text 4"/>
          <p:cNvSpPr/>
          <p:nvPr/>
        </p:nvSpPr>
        <p:spPr>
          <a:xfrm>
            <a:off x="54864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06  </a:t>
            </a:r>
            <a:pPr indent="0" marL="0">
              <a:buNone/>
            </a:pPr>
            <a:r>
              <a:rPr lang="en-US" sz="1150" b="1" dirty="0">
                <a:solidFill>
                  <a:srgbClr val="1F1B17"/>
                </a:solidFill>
                <a:latin typeface="Calibri" pitchFamily="34" charset="0"/>
                <a:ea typeface="Calibri" pitchFamily="34" charset="-122"/>
                <a:cs typeface="Calibri" pitchFamily="34" charset="-120"/>
              </a:rPr>
              <a:t>The Setback</a:t>
            </a:r>
            <a:endParaRPr lang="en-US" sz="1150" dirty="0"/>
          </a:p>
        </p:txBody>
      </p:sp>
      <p:sp>
        <p:nvSpPr>
          <p:cNvPr id="8" name="Text 5"/>
          <p:cNvSpPr/>
          <p:nvPr/>
        </p:nvSpPr>
        <p:spPr>
          <a:xfrm>
            <a:off x="548640" y="3950208"/>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Her streak breaks overnight. The app says nothing — on purpose.</a:t>
            </a:r>
            <a:endParaRPr lang="en-US" sz="930" dirty="0"/>
          </a:p>
        </p:txBody>
      </p:sp>
      <p:sp>
        <p:nvSpPr>
          <p:cNvPr id="9" name="Text 6"/>
          <p:cNvSpPr/>
          <p:nvPr/>
        </p:nvSpPr>
        <p:spPr>
          <a:xfrm>
            <a:off x="54864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The Setback</a:t>
            </a:r>
            <a:endParaRPr lang="en-US" sz="800" dirty="0"/>
          </a:p>
        </p:txBody>
      </p:sp>
      <p:sp>
        <p:nvSpPr>
          <p:cNvPr id="10" name="Text 7"/>
          <p:cNvSpPr/>
          <p:nvPr/>
        </p:nvSpPr>
        <p:spPr>
          <a:xfrm>
            <a:off x="54864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Close, Tilted</a:t>
            </a:r>
            <a:endParaRPr lang="en-US" sz="800" dirty="0"/>
          </a:p>
        </p:txBody>
      </p:sp>
      <p:pic>
        <p:nvPicPr>
          <p:cNvPr id="11" name="Image 1" descr="/home/claude/deck/assets/p7_repair.png">    </p:cNvPr>
          <p:cNvPicPr>
            <a:picLocks noChangeAspect="1"/>
          </p:cNvPicPr>
          <p:nvPr/>
        </p:nvPicPr>
        <p:blipFill>
          <a:blip r:embed="rId2"/>
          <a:stretch>
            <a:fillRect/>
          </a:stretch>
        </p:blipFill>
        <p:spPr>
          <a:xfrm>
            <a:off x="2788920" y="1600200"/>
            <a:ext cx="2084832" cy="1965960"/>
          </a:xfrm>
          <a:prstGeom prst="rect">
            <a:avLst/>
          </a:prstGeom>
        </p:spPr>
      </p:pic>
      <p:sp>
        <p:nvSpPr>
          <p:cNvPr id="12" name="Shape 8"/>
          <p:cNvSpPr/>
          <p:nvPr/>
        </p:nvSpPr>
        <p:spPr>
          <a:xfrm>
            <a:off x="2788920" y="1600200"/>
            <a:ext cx="2084832" cy="1965960"/>
          </a:xfrm>
          <a:prstGeom prst="roundRect">
            <a:avLst>
              <a:gd name="adj" fmla="val 2326"/>
            </a:avLst>
          </a:prstGeom>
          <a:ln w="12700">
            <a:solidFill>
              <a:srgbClr val="E4E0D6"/>
            </a:solidFill>
            <a:prstDash val="solid"/>
          </a:ln>
        </p:spPr>
      </p:sp>
      <p:sp>
        <p:nvSpPr>
          <p:cNvPr id="13" name="Text 9"/>
          <p:cNvSpPr/>
          <p:nvPr/>
        </p:nvSpPr>
        <p:spPr>
          <a:xfrm>
            <a:off x="278892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07  </a:t>
            </a:r>
            <a:pPr indent="0" marL="0">
              <a:buNone/>
            </a:pPr>
            <a:r>
              <a:rPr lang="en-US" sz="1150" b="1" dirty="0">
                <a:solidFill>
                  <a:srgbClr val="1F1B17"/>
                </a:solidFill>
                <a:latin typeface="Calibri" pitchFamily="34" charset="0"/>
                <a:ea typeface="Calibri" pitchFamily="34" charset="-122"/>
                <a:cs typeface="Calibri" pitchFamily="34" charset="-120"/>
              </a:rPr>
              <a:t>Her Choice</a:t>
            </a:r>
            <a:endParaRPr lang="en-US" sz="1150" dirty="0"/>
          </a:p>
        </p:txBody>
      </p:sp>
      <p:sp>
        <p:nvSpPr>
          <p:cNvPr id="14" name="Shape 10"/>
          <p:cNvSpPr/>
          <p:nvPr/>
        </p:nvSpPr>
        <p:spPr>
          <a:xfrm>
            <a:off x="2788920" y="3950208"/>
            <a:ext cx="2084832" cy="237744"/>
          </a:xfrm>
          <a:prstGeom prst="roundRect">
            <a:avLst>
              <a:gd name="adj" fmla="val 50000"/>
            </a:avLst>
          </a:prstGeom>
          <a:solidFill>
            <a:srgbClr val="5C7A54"/>
          </a:solidFill>
          <a:ln/>
        </p:spPr>
      </p:sp>
      <p:sp>
        <p:nvSpPr>
          <p:cNvPr id="15" name="Text 11"/>
          <p:cNvSpPr/>
          <p:nvPr/>
        </p:nvSpPr>
        <p:spPr>
          <a:xfrm>
            <a:off x="2788920" y="3950208"/>
            <a:ext cx="2084832" cy="237744"/>
          </a:xfrm>
          <a:prstGeom prst="rect">
            <a:avLst/>
          </a:prstGeom>
          <a:noFill/>
          <a:ln/>
        </p:spPr>
        <p:txBody>
          <a:bodyPr wrap="square" lIns="0" tIns="0" rIns="0" bIns="0" rtlCol="0" anchor="ctr"/>
          <a:lstStyle/>
          <a:p>
            <a:pPr algn="ctr" indent="0" marL="0">
              <a:buNone/>
            </a:pPr>
            <a:r>
              <a:rPr lang="en-US" sz="780" b="1" spc="50" kern="0" dirty="0">
                <a:solidFill>
                  <a:srgbClr val="FFFFFF"/>
                </a:solidFill>
                <a:latin typeface="Calibri" pitchFamily="34" charset="0"/>
                <a:ea typeface="Calibri" pitchFamily="34" charset="-122"/>
                <a:cs typeface="Calibri" pitchFamily="34" charset="-120"/>
              </a:rPr>
              <a:t>HER OWN CHOICE</a:t>
            </a:r>
            <a:endParaRPr lang="en-US" sz="780" dirty="0"/>
          </a:p>
        </p:txBody>
      </p:sp>
      <p:sp>
        <p:nvSpPr>
          <p:cNvPr id="16" name="Text 12"/>
          <p:cNvSpPr/>
          <p:nvPr/>
        </p:nvSpPr>
        <p:spPr>
          <a:xfrm>
            <a:off x="2788920" y="4242816"/>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No app, no coach — just Maya, deciding for herself.</a:t>
            </a:r>
            <a:endParaRPr lang="en-US" sz="930" dirty="0"/>
          </a:p>
        </p:txBody>
      </p:sp>
      <p:sp>
        <p:nvSpPr>
          <p:cNvPr id="17" name="Shape 13"/>
          <p:cNvSpPr/>
          <p:nvPr/>
        </p:nvSpPr>
        <p:spPr>
          <a:xfrm>
            <a:off x="2788920" y="4791456"/>
            <a:ext cx="2084832" cy="566928"/>
          </a:xfrm>
          <a:prstGeom prst="roundRect">
            <a:avLst>
              <a:gd name="adj" fmla="val 9677"/>
            </a:avLst>
          </a:prstGeom>
          <a:solidFill>
            <a:srgbClr val="EAE8F7"/>
          </a:solidFill>
          <a:ln/>
        </p:spPr>
      </p:sp>
      <p:sp>
        <p:nvSpPr>
          <p:cNvPr id="18" name="Text 14"/>
          <p:cNvSpPr/>
          <p:nvPr/>
        </p:nvSpPr>
        <p:spPr>
          <a:xfrm>
            <a:off x="2862072" y="4818888"/>
            <a:ext cx="1938528" cy="512064"/>
          </a:xfrm>
          <a:prstGeom prst="rect">
            <a:avLst/>
          </a:prstGeom>
          <a:noFill/>
          <a:ln/>
        </p:spPr>
        <p:txBody>
          <a:bodyPr wrap="square" lIns="0" tIns="0" rIns="0" bIns="0" rtlCol="0" anchor="ctr"/>
          <a:lstStyle/>
          <a:p>
            <a:pPr indent="0" marL="0">
              <a:lnSpc>
                <a:spcPct val="110000"/>
              </a:lnSpc>
              <a:buNone/>
            </a:pPr>
            <a:r>
              <a:rPr lang="en-US" sz="900" i="1" dirty="0">
                <a:solidFill>
                  <a:srgbClr val="1F1B17"/>
                </a:solidFill>
                <a:latin typeface="Cambria" pitchFamily="34" charset="0"/>
                <a:ea typeface="Cambria" pitchFamily="34" charset="-122"/>
                <a:cs typeface="Cambria" pitchFamily="34" charset="-120"/>
              </a:rPr>
              <a:t>“One day off isn't zero days.”</a:t>
            </a:r>
            <a:endParaRPr lang="en-US" sz="900" dirty="0"/>
          </a:p>
        </p:txBody>
      </p:sp>
      <p:sp>
        <p:nvSpPr>
          <p:cNvPr id="19" name="Text 15"/>
          <p:cNvSpPr/>
          <p:nvPr/>
        </p:nvSpPr>
        <p:spPr>
          <a:xfrm>
            <a:off x="278892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Quiet Resolve</a:t>
            </a:r>
            <a:endParaRPr lang="en-US" sz="800" dirty="0"/>
          </a:p>
        </p:txBody>
      </p:sp>
      <p:sp>
        <p:nvSpPr>
          <p:cNvPr id="20" name="Text 16"/>
          <p:cNvSpPr/>
          <p:nvPr/>
        </p:nvSpPr>
        <p:spPr>
          <a:xfrm>
            <a:off x="278892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Close, Eye-Level</a:t>
            </a:r>
            <a:endParaRPr lang="en-US" sz="800" dirty="0"/>
          </a:p>
        </p:txBody>
      </p:sp>
      <p:pic>
        <p:nvPicPr>
          <p:cNvPr id="21" name="Image 2" descr="/home/claude/deck/assets/p8_mentor2.png">    </p:cNvPr>
          <p:cNvPicPr>
            <a:picLocks noChangeAspect="1"/>
          </p:cNvPicPr>
          <p:nvPr/>
        </p:nvPicPr>
        <p:blipFill>
          <a:blip r:embed="rId3"/>
          <a:stretch>
            <a:fillRect/>
          </a:stretch>
        </p:blipFill>
        <p:spPr>
          <a:xfrm>
            <a:off x="5029200" y="1600200"/>
            <a:ext cx="2084832" cy="1965960"/>
          </a:xfrm>
          <a:prstGeom prst="rect">
            <a:avLst/>
          </a:prstGeom>
        </p:spPr>
      </p:pic>
      <p:sp>
        <p:nvSpPr>
          <p:cNvPr id="22" name="Shape 17"/>
          <p:cNvSpPr/>
          <p:nvPr/>
        </p:nvSpPr>
        <p:spPr>
          <a:xfrm>
            <a:off x="5029200" y="1600200"/>
            <a:ext cx="2084832" cy="1965960"/>
          </a:xfrm>
          <a:prstGeom prst="roundRect">
            <a:avLst>
              <a:gd name="adj" fmla="val 2326"/>
            </a:avLst>
          </a:prstGeom>
          <a:ln w="12700">
            <a:solidFill>
              <a:srgbClr val="E4E0D6"/>
            </a:solidFill>
            <a:prstDash val="solid"/>
          </a:ln>
        </p:spPr>
      </p:sp>
      <p:sp>
        <p:nvSpPr>
          <p:cNvPr id="23" name="Text 18"/>
          <p:cNvSpPr/>
          <p:nvPr/>
        </p:nvSpPr>
        <p:spPr>
          <a:xfrm>
            <a:off x="502920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08  </a:t>
            </a:r>
            <a:pPr indent="0" marL="0">
              <a:buNone/>
            </a:pPr>
            <a:r>
              <a:rPr lang="en-US" sz="1150" b="1" dirty="0">
                <a:solidFill>
                  <a:srgbClr val="1F1B17"/>
                </a:solidFill>
                <a:latin typeface="Calibri" pitchFamily="34" charset="0"/>
                <a:ea typeface="Calibri" pitchFamily="34" charset="-122"/>
                <a:cs typeface="Calibri" pitchFamily="34" charset="-120"/>
              </a:rPr>
              <a:t>Mentor Returns</a:t>
            </a:r>
            <a:endParaRPr lang="en-US" sz="1150" dirty="0"/>
          </a:p>
        </p:txBody>
      </p:sp>
      <p:sp>
        <p:nvSpPr>
          <p:cNvPr id="24" name="Shape 19"/>
          <p:cNvSpPr/>
          <p:nvPr/>
        </p:nvSpPr>
        <p:spPr>
          <a:xfrm>
            <a:off x="5029200" y="3950208"/>
            <a:ext cx="2084832" cy="237744"/>
          </a:xfrm>
          <a:prstGeom prst="roundRect">
            <a:avLst>
              <a:gd name="adj" fmla="val 50000"/>
            </a:avLst>
          </a:prstGeom>
          <a:solidFill>
            <a:srgbClr val="8B85C7"/>
          </a:solidFill>
          <a:ln/>
        </p:spPr>
      </p:sp>
      <p:sp>
        <p:nvSpPr>
          <p:cNvPr id="25" name="Text 20"/>
          <p:cNvSpPr/>
          <p:nvPr/>
        </p:nvSpPr>
        <p:spPr>
          <a:xfrm>
            <a:off x="5029200" y="3950208"/>
            <a:ext cx="2084832" cy="237744"/>
          </a:xfrm>
          <a:prstGeom prst="rect">
            <a:avLst/>
          </a:prstGeom>
          <a:noFill/>
          <a:ln/>
        </p:spPr>
        <p:txBody>
          <a:bodyPr wrap="square" lIns="0" tIns="0" rIns="0" bIns="0" rtlCol="0" anchor="ctr"/>
          <a:lstStyle/>
          <a:p>
            <a:pPr algn="ctr" indent="0" marL="0">
              <a:buNone/>
            </a:pPr>
            <a:r>
              <a:rPr lang="en-US" sz="780" b="1" spc="50" kern="0" dirty="0">
                <a:solidFill>
                  <a:srgbClr val="FFFFFF"/>
                </a:solidFill>
                <a:latin typeface="Calibri" pitchFamily="34" charset="0"/>
                <a:ea typeface="Calibri" pitchFamily="34" charset="-122"/>
                <a:cs typeface="Calibri" pitchFamily="34" charset="-120"/>
              </a:rPr>
              <a:t>COACH CHECK-IN 2</a:t>
            </a:r>
            <a:endParaRPr lang="en-US" sz="780" dirty="0"/>
          </a:p>
        </p:txBody>
      </p:sp>
      <p:sp>
        <p:nvSpPr>
          <p:cNvPr id="26" name="Text 21"/>
          <p:cNvSpPr/>
          <p:nvPr/>
        </p:nvSpPr>
        <p:spPr>
          <a:xfrm>
            <a:off x="5029200" y="4242816"/>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Her coach checks in — without fixing it for her.</a:t>
            </a:r>
            <a:endParaRPr lang="en-US" sz="930" dirty="0"/>
          </a:p>
        </p:txBody>
      </p:sp>
      <p:sp>
        <p:nvSpPr>
          <p:cNvPr id="27" name="Shape 22"/>
          <p:cNvSpPr/>
          <p:nvPr/>
        </p:nvSpPr>
        <p:spPr>
          <a:xfrm>
            <a:off x="5029200" y="4791456"/>
            <a:ext cx="2084832" cy="566928"/>
          </a:xfrm>
          <a:prstGeom prst="roundRect">
            <a:avLst>
              <a:gd name="adj" fmla="val 9677"/>
            </a:avLst>
          </a:prstGeom>
          <a:solidFill>
            <a:srgbClr val="EAE8F7"/>
          </a:solidFill>
          <a:ln/>
        </p:spPr>
      </p:sp>
      <p:sp>
        <p:nvSpPr>
          <p:cNvPr id="28" name="Text 23"/>
          <p:cNvSpPr/>
          <p:nvPr/>
        </p:nvSpPr>
        <p:spPr>
          <a:xfrm>
            <a:off x="5102352" y="4818888"/>
            <a:ext cx="1938528" cy="512064"/>
          </a:xfrm>
          <a:prstGeom prst="rect">
            <a:avLst/>
          </a:prstGeom>
          <a:noFill/>
          <a:ln/>
        </p:spPr>
        <p:txBody>
          <a:bodyPr wrap="square" lIns="0" tIns="0" rIns="0" bIns="0" rtlCol="0" anchor="ctr"/>
          <a:lstStyle/>
          <a:p>
            <a:pPr indent="0" marL="0">
              <a:lnSpc>
                <a:spcPct val="110000"/>
              </a:lnSpc>
              <a:buNone/>
            </a:pPr>
            <a:r>
              <a:rPr lang="en-US" sz="900" i="1" dirty="0">
                <a:solidFill>
                  <a:srgbClr val="1F1B17"/>
                </a:solidFill>
                <a:latin typeface="Cambria" pitchFamily="34" charset="0"/>
                <a:ea typeface="Cambria" pitchFamily="34" charset="-122"/>
                <a:cs typeface="Cambria" pitchFamily="34" charset="-120"/>
              </a:rPr>
              <a:t>“Setbacks don't erase progress. You decide what's next.”</a:t>
            </a:r>
            <a:endParaRPr lang="en-US" sz="900" dirty="0"/>
          </a:p>
        </p:txBody>
      </p:sp>
      <p:sp>
        <p:nvSpPr>
          <p:cNvPr id="29" name="Text 24"/>
          <p:cNvSpPr/>
          <p:nvPr/>
        </p:nvSpPr>
        <p:spPr>
          <a:xfrm>
            <a:off x="502920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Finding Resolve</a:t>
            </a:r>
            <a:endParaRPr lang="en-US" sz="800" dirty="0"/>
          </a:p>
        </p:txBody>
      </p:sp>
      <p:sp>
        <p:nvSpPr>
          <p:cNvPr id="30" name="Text 25"/>
          <p:cNvSpPr/>
          <p:nvPr/>
        </p:nvSpPr>
        <p:spPr>
          <a:xfrm>
            <a:off x="502920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Two-Shot</a:t>
            </a:r>
            <a:endParaRPr lang="en-US" sz="800" dirty="0"/>
          </a:p>
        </p:txBody>
      </p:sp>
      <p:pic>
        <p:nvPicPr>
          <p:cNvPr id="31" name="Image 3" descr="/home/claude/deck/assets/p9_meaning.png">    </p:cNvPr>
          <p:cNvPicPr>
            <a:picLocks noChangeAspect="1"/>
          </p:cNvPicPr>
          <p:nvPr/>
        </p:nvPicPr>
        <p:blipFill>
          <a:blip r:embed="rId4"/>
          <a:stretch>
            <a:fillRect/>
          </a:stretch>
        </p:blipFill>
        <p:spPr>
          <a:xfrm>
            <a:off x="7269480" y="1600200"/>
            <a:ext cx="2084832" cy="1965960"/>
          </a:xfrm>
          <a:prstGeom prst="rect">
            <a:avLst/>
          </a:prstGeom>
        </p:spPr>
      </p:pic>
      <p:sp>
        <p:nvSpPr>
          <p:cNvPr id="32" name="Shape 26"/>
          <p:cNvSpPr/>
          <p:nvPr/>
        </p:nvSpPr>
        <p:spPr>
          <a:xfrm>
            <a:off x="7269480" y="1600200"/>
            <a:ext cx="2084832" cy="1965960"/>
          </a:xfrm>
          <a:prstGeom prst="roundRect">
            <a:avLst>
              <a:gd name="adj" fmla="val 2326"/>
            </a:avLst>
          </a:prstGeom>
          <a:ln w="12700">
            <a:solidFill>
              <a:srgbClr val="E4E0D6"/>
            </a:solidFill>
            <a:prstDash val="solid"/>
          </a:ln>
        </p:spPr>
      </p:sp>
      <p:sp>
        <p:nvSpPr>
          <p:cNvPr id="33" name="Text 27"/>
          <p:cNvSpPr/>
          <p:nvPr/>
        </p:nvSpPr>
        <p:spPr>
          <a:xfrm>
            <a:off x="726948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09  </a:t>
            </a:r>
            <a:pPr indent="0" marL="0">
              <a:buNone/>
            </a:pPr>
            <a:r>
              <a:rPr lang="en-US" sz="1150" b="1" dirty="0">
                <a:solidFill>
                  <a:srgbClr val="1F1B17"/>
                </a:solidFill>
                <a:latin typeface="Calibri" pitchFamily="34" charset="0"/>
                <a:ea typeface="Calibri" pitchFamily="34" charset="-122"/>
                <a:cs typeface="Calibri" pitchFamily="34" charset="-120"/>
              </a:rPr>
              <a:t>Return</a:t>
            </a:r>
            <a:endParaRPr lang="en-US" sz="1150" dirty="0"/>
          </a:p>
        </p:txBody>
      </p:sp>
      <p:sp>
        <p:nvSpPr>
          <p:cNvPr id="34" name="Shape 28"/>
          <p:cNvSpPr/>
          <p:nvPr/>
        </p:nvSpPr>
        <p:spPr>
          <a:xfrm>
            <a:off x="7269480" y="3950208"/>
            <a:ext cx="2084832" cy="237744"/>
          </a:xfrm>
          <a:prstGeom prst="roundRect">
            <a:avLst>
              <a:gd name="adj" fmla="val 50000"/>
            </a:avLst>
          </a:prstGeom>
          <a:solidFill>
            <a:srgbClr val="5C7A54"/>
          </a:solidFill>
          <a:ln/>
        </p:spPr>
      </p:sp>
      <p:sp>
        <p:nvSpPr>
          <p:cNvPr id="35" name="Text 29"/>
          <p:cNvSpPr/>
          <p:nvPr/>
        </p:nvSpPr>
        <p:spPr>
          <a:xfrm>
            <a:off x="7269480" y="3950208"/>
            <a:ext cx="2084832" cy="237744"/>
          </a:xfrm>
          <a:prstGeom prst="rect">
            <a:avLst/>
          </a:prstGeom>
          <a:noFill/>
          <a:ln/>
        </p:spPr>
        <p:txBody>
          <a:bodyPr wrap="square" lIns="0" tIns="0" rIns="0" bIns="0" rtlCol="0" anchor="ctr"/>
          <a:lstStyle/>
          <a:p>
            <a:pPr algn="ctr" indent="0" marL="0">
              <a:buNone/>
            </a:pPr>
            <a:r>
              <a:rPr lang="en-US" sz="780" b="1" spc="50" kern="0" dirty="0">
                <a:solidFill>
                  <a:srgbClr val="FFFFFF"/>
                </a:solidFill>
                <a:latin typeface="Calibri" pitchFamily="34" charset="0"/>
                <a:ea typeface="Calibri" pitchFamily="34" charset="-122"/>
                <a:cs typeface="Calibri" pitchFamily="34" charset="-120"/>
              </a:rPr>
              <a:t>THROUGH HER EYES</a:t>
            </a:r>
            <a:endParaRPr lang="en-US" sz="780" dirty="0"/>
          </a:p>
        </p:txBody>
      </p:sp>
      <p:sp>
        <p:nvSpPr>
          <p:cNvPr id="36" name="Text 30"/>
          <p:cNvSpPr/>
          <p:nvPr/>
        </p:nvSpPr>
        <p:spPr>
          <a:xfrm>
            <a:off x="7269480" y="4242816"/>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A quiet mirror moment. She hears herself think it.</a:t>
            </a:r>
            <a:endParaRPr lang="en-US" sz="930" dirty="0"/>
          </a:p>
        </p:txBody>
      </p:sp>
      <p:sp>
        <p:nvSpPr>
          <p:cNvPr id="37" name="Shape 31"/>
          <p:cNvSpPr/>
          <p:nvPr/>
        </p:nvSpPr>
        <p:spPr>
          <a:xfrm>
            <a:off x="7269480" y="4791456"/>
            <a:ext cx="2084832" cy="566928"/>
          </a:xfrm>
          <a:prstGeom prst="roundRect">
            <a:avLst>
              <a:gd name="adj" fmla="val 9677"/>
            </a:avLst>
          </a:prstGeom>
          <a:solidFill>
            <a:srgbClr val="EAE8F7"/>
          </a:solidFill>
          <a:ln/>
        </p:spPr>
      </p:sp>
      <p:sp>
        <p:nvSpPr>
          <p:cNvPr id="38" name="Text 32"/>
          <p:cNvSpPr/>
          <p:nvPr/>
        </p:nvSpPr>
        <p:spPr>
          <a:xfrm>
            <a:off x="7342632" y="4818888"/>
            <a:ext cx="1938528" cy="512064"/>
          </a:xfrm>
          <a:prstGeom prst="rect">
            <a:avLst/>
          </a:prstGeom>
          <a:noFill/>
          <a:ln/>
        </p:spPr>
        <p:txBody>
          <a:bodyPr wrap="square" lIns="0" tIns="0" rIns="0" bIns="0" rtlCol="0" anchor="ctr"/>
          <a:lstStyle/>
          <a:p>
            <a:pPr indent="0" marL="0">
              <a:lnSpc>
                <a:spcPct val="110000"/>
              </a:lnSpc>
              <a:buNone/>
            </a:pPr>
            <a:r>
              <a:rPr lang="en-US" sz="900" i="1" dirty="0">
                <a:solidFill>
                  <a:srgbClr val="1F1B17"/>
                </a:solidFill>
                <a:latin typeface="Cambria" pitchFamily="34" charset="0"/>
                <a:ea typeface="Cambria" pitchFamily="34" charset="-122"/>
                <a:cs typeface="Cambria" pitchFamily="34" charset="-120"/>
              </a:rPr>
              <a:t>“I know how to come back to myself.”</a:t>
            </a:r>
            <a:endParaRPr lang="en-US" sz="900" dirty="0"/>
          </a:p>
        </p:txBody>
      </p:sp>
      <p:sp>
        <p:nvSpPr>
          <p:cNvPr id="39" name="Text 33"/>
          <p:cNvSpPr/>
          <p:nvPr/>
        </p:nvSpPr>
        <p:spPr>
          <a:xfrm>
            <a:off x="726948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Coming Back</a:t>
            </a:r>
            <a:endParaRPr lang="en-US" sz="800" dirty="0"/>
          </a:p>
        </p:txBody>
      </p:sp>
      <p:sp>
        <p:nvSpPr>
          <p:cNvPr id="40" name="Text 34"/>
          <p:cNvSpPr/>
          <p:nvPr/>
        </p:nvSpPr>
        <p:spPr>
          <a:xfrm>
            <a:off x="726948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Mirror View</a:t>
            </a:r>
            <a:endParaRPr lang="en-US" sz="800" dirty="0"/>
          </a:p>
        </p:txBody>
      </p:sp>
      <p:pic>
        <p:nvPicPr>
          <p:cNvPr id="41" name="Image 4" descr="/home/claude/deck/assets/p10_confidence.png">    </p:cNvPr>
          <p:cNvPicPr>
            <a:picLocks noChangeAspect="1"/>
          </p:cNvPicPr>
          <p:nvPr/>
        </p:nvPicPr>
        <p:blipFill>
          <a:blip r:embed="rId5"/>
          <a:stretch>
            <a:fillRect/>
          </a:stretch>
        </p:blipFill>
        <p:spPr>
          <a:xfrm>
            <a:off x="9509760" y="1600200"/>
            <a:ext cx="2084832" cy="1965960"/>
          </a:xfrm>
          <a:prstGeom prst="rect">
            <a:avLst/>
          </a:prstGeom>
        </p:spPr>
      </p:pic>
      <p:sp>
        <p:nvSpPr>
          <p:cNvPr id="42" name="Shape 35"/>
          <p:cNvSpPr/>
          <p:nvPr/>
        </p:nvSpPr>
        <p:spPr>
          <a:xfrm>
            <a:off x="9509760" y="1600200"/>
            <a:ext cx="2084832" cy="1965960"/>
          </a:xfrm>
          <a:prstGeom prst="roundRect">
            <a:avLst>
              <a:gd name="adj" fmla="val 2326"/>
            </a:avLst>
          </a:prstGeom>
          <a:ln w="12700">
            <a:solidFill>
              <a:srgbClr val="E4E0D6"/>
            </a:solidFill>
            <a:prstDash val="solid"/>
          </a:ln>
        </p:spPr>
      </p:sp>
      <p:sp>
        <p:nvSpPr>
          <p:cNvPr id="43" name="Text 36"/>
          <p:cNvSpPr/>
          <p:nvPr/>
        </p:nvSpPr>
        <p:spPr>
          <a:xfrm>
            <a:off x="9509760" y="3675888"/>
            <a:ext cx="2084832" cy="256032"/>
          </a:xfrm>
          <a:prstGeom prst="rect">
            <a:avLst/>
          </a:prstGeom>
          <a:noFill/>
          <a:ln/>
        </p:spPr>
        <p:txBody>
          <a:bodyPr wrap="square" lIns="0" tIns="0" rIns="0" bIns="0" rtlCol="0" anchor="ctr"/>
          <a:lstStyle/>
          <a:p>
            <a:pPr indent="0" marL="0">
              <a:buNone/>
            </a:pPr>
            <a:r>
              <a:rPr lang="en-US" sz="1150" dirty="0">
                <a:solidFill>
                  <a:srgbClr val="8A8378"/>
                </a:solidFill>
                <a:latin typeface="Calibri" pitchFamily="34" charset="0"/>
                <a:ea typeface="Calibri" pitchFamily="34" charset="-122"/>
                <a:cs typeface="Calibri" pitchFamily="34" charset="-120"/>
              </a:rPr>
              <a:t>10  </a:t>
            </a:r>
            <a:pPr indent="0" marL="0">
              <a:buNone/>
            </a:pPr>
            <a:r>
              <a:rPr lang="en-US" sz="1150" b="1" dirty="0">
                <a:solidFill>
                  <a:srgbClr val="1F1B17"/>
                </a:solidFill>
                <a:latin typeface="Calibri" pitchFamily="34" charset="0"/>
                <a:ea typeface="Calibri" pitchFamily="34" charset="-122"/>
                <a:cs typeface="Calibri" pitchFamily="34" charset="-120"/>
              </a:rPr>
              <a:t>Quiet Confidence</a:t>
            </a:r>
            <a:endParaRPr lang="en-US" sz="1150" dirty="0"/>
          </a:p>
        </p:txBody>
      </p:sp>
      <p:sp>
        <p:nvSpPr>
          <p:cNvPr id="44" name="Text 37"/>
          <p:cNvSpPr/>
          <p:nvPr/>
        </p:nvSpPr>
        <p:spPr>
          <a:xfrm>
            <a:off x="9509760" y="3950208"/>
            <a:ext cx="2084832" cy="566928"/>
          </a:xfrm>
          <a:prstGeom prst="rect">
            <a:avLst/>
          </a:prstGeom>
          <a:noFill/>
          <a:ln/>
        </p:spPr>
        <p:txBody>
          <a:bodyPr wrap="square" lIns="0" tIns="0" rIns="0" bIns="0" rtlCol="0" anchor="ctr"/>
          <a:lstStyle/>
          <a:p>
            <a:pPr indent="0" marL="0">
              <a:lnSpc>
                <a:spcPct val="115000"/>
              </a:lnSpc>
              <a:buNone/>
            </a:pPr>
            <a:r>
              <a:rPr lang="en-US" sz="930" dirty="0">
                <a:solidFill>
                  <a:srgbClr val="1F1B17"/>
                </a:solidFill>
                <a:latin typeface="Calibri" pitchFamily="34" charset="0"/>
                <a:ea typeface="Calibri" pitchFamily="34" charset="-122"/>
                <a:cs typeface="Calibri" pitchFamily="34" charset="-120"/>
              </a:rPr>
              <a:t>She stands taller. Same Maya, a little less afraid.</a:t>
            </a:r>
            <a:endParaRPr lang="en-US" sz="930" dirty="0"/>
          </a:p>
        </p:txBody>
      </p:sp>
      <p:sp>
        <p:nvSpPr>
          <p:cNvPr id="45" name="Text 38"/>
          <p:cNvSpPr/>
          <p:nvPr/>
        </p:nvSpPr>
        <p:spPr>
          <a:xfrm>
            <a:off x="9509760" y="5989320"/>
            <a:ext cx="2084832" cy="201168"/>
          </a:xfrm>
          <a:prstGeom prst="rect">
            <a:avLst/>
          </a:prstGeom>
          <a:noFill/>
          <a:ln/>
        </p:spPr>
        <p:txBody>
          <a:bodyPr wrap="square" lIns="0" tIns="0" rIns="0" bIns="0" rtlCol="0" anchor="ctr"/>
          <a:lstStyle/>
          <a:p>
            <a:pPr indent="0" marL="0">
              <a:buNone/>
            </a:pPr>
            <a:r>
              <a:rPr lang="en-US" sz="800" b="1" dirty="0">
                <a:solidFill>
                  <a:srgbClr val="5C7A54"/>
                </a:solidFill>
                <a:latin typeface="Calibri" pitchFamily="34" charset="0"/>
                <a:ea typeface="Calibri" pitchFamily="34" charset="-122"/>
                <a:cs typeface="Calibri" pitchFamily="34" charset="-120"/>
              </a:rPr>
              <a:t>BEAT  </a:t>
            </a:r>
            <a:pPr indent="0" marL="0">
              <a:buNone/>
            </a:pPr>
            <a:r>
              <a:rPr lang="en-US" sz="800" dirty="0">
                <a:solidFill>
                  <a:srgbClr val="8A8378"/>
                </a:solidFill>
                <a:latin typeface="Calibri" pitchFamily="34" charset="0"/>
                <a:ea typeface="Calibri" pitchFamily="34" charset="-122"/>
                <a:cs typeface="Calibri" pitchFamily="34" charset="-120"/>
              </a:rPr>
              <a:t>Quiet Confidence</a:t>
            </a:r>
            <a:endParaRPr lang="en-US" sz="800" dirty="0"/>
          </a:p>
        </p:txBody>
      </p:sp>
      <p:sp>
        <p:nvSpPr>
          <p:cNvPr id="46" name="Text 39"/>
          <p:cNvSpPr/>
          <p:nvPr/>
        </p:nvSpPr>
        <p:spPr>
          <a:xfrm>
            <a:off x="9509760" y="6181344"/>
            <a:ext cx="2084832" cy="201168"/>
          </a:xfrm>
          <a:prstGeom prst="rect">
            <a:avLst/>
          </a:prstGeom>
          <a:noFill/>
          <a:ln/>
        </p:spPr>
        <p:txBody>
          <a:bodyPr wrap="square" lIns="0" tIns="0" rIns="0" bIns="0" rtlCol="0" anchor="ctr"/>
          <a:lstStyle/>
          <a:p>
            <a:pPr indent="0" marL="0">
              <a:buNone/>
            </a:pPr>
            <a:r>
              <a:rPr lang="en-US" sz="800" i="1" dirty="0">
                <a:solidFill>
                  <a:srgbClr val="8A8378"/>
                </a:solidFill>
                <a:latin typeface="Calibri" pitchFamily="34" charset="0"/>
                <a:ea typeface="Calibri" pitchFamily="34" charset="-122"/>
                <a:cs typeface="Calibri" pitchFamily="34" charset="-120"/>
              </a:rPr>
              <a:t>Wide, Slow Zoom Out</a:t>
            </a:r>
            <a:endParaRPr lang="en-US" sz="800" dirty="0"/>
          </a:p>
        </p:txBody>
      </p:sp>
      <p:sp>
        <p:nvSpPr>
          <p:cNvPr id="47" name="Text 40"/>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8A8378"/>
                </a:solidFill>
                <a:latin typeface="Calibri" pitchFamily="34" charset="0"/>
                <a:ea typeface="Calibri" pitchFamily="34" charset="-122"/>
                <a:cs typeface="Calibri" pitchFamily="34" charset="-120"/>
              </a:rPr>
              <a:t>Storyboard · Panels 6–10</a:t>
            </a:r>
            <a:endParaRPr lang="en-US" sz="950" dirty="0"/>
          </a:p>
        </p:txBody>
      </p:sp>
      <p:sp>
        <p:nvSpPr>
          <p:cNvPr id="48" name="Text 41"/>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8A837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D97757"/>
                </a:solidFill>
                <a:latin typeface="Calibri" pitchFamily="34" charset="0"/>
                <a:ea typeface="Calibri" pitchFamily="34" charset="-122"/>
                <a:cs typeface="Calibri" pitchFamily="34" charset="-120"/>
              </a:rPr>
              <a:t>COMPETENCY A</a:t>
            </a:r>
            <a:endParaRPr lang="en-US" sz="1150" dirty="0"/>
          </a:p>
        </p:txBody>
      </p:sp>
      <p:sp>
        <p:nvSpPr>
          <p:cNvPr id="3" name="Text 1"/>
          <p:cNvSpPr/>
          <p:nvPr/>
        </p:nvSpPr>
        <p:spPr>
          <a:xfrm>
            <a:off x="548640" y="658368"/>
            <a:ext cx="10789920" cy="502920"/>
          </a:xfrm>
          <a:prstGeom prst="rect">
            <a:avLst/>
          </a:prstGeom>
          <a:noFill/>
          <a:ln/>
        </p:spPr>
        <p:txBody>
          <a:bodyPr wrap="square" lIns="0" tIns="0" rIns="0" bIns="0" rtlCol="0" anchor="ctr"/>
          <a:lstStyle/>
          <a:p>
            <a:pPr indent="0" marL="0">
              <a:buNone/>
            </a:pPr>
            <a:r>
              <a:rPr lang="en-US" sz="2400" b="1" dirty="0">
                <a:solidFill>
                  <a:srgbClr val="1F1B17"/>
                </a:solidFill>
                <a:latin typeface="Cambria" pitchFamily="34" charset="0"/>
                <a:ea typeface="Cambria" pitchFamily="34" charset="-122"/>
                <a:cs typeface="Cambria" pitchFamily="34" charset="-120"/>
              </a:rPr>
              <a:t>How Maya Feels, Step by Step</a:t>
            </a:r>
            <a:endParaRPr lang="en-US" sz="2400" dirty="0"/>
          </a:p>
        </p:txBody>
      </p:sp>
      <p:sp>
        <p:nvSpPr>
          <p:cNvPr id="4" name="Text 2"/>
          <p:cNvSpPr/>
          <p:nvPr/>
        </p:nvSpPr>
        <p:spPr>
          <a:xfrm>
            <a:off x="548640" y="1133856"/>
            <a:ext cx="10789920" cy="320040"/>
          </a:xfrm>
          <a:prstGeom prst="rect">
            <a:avLst/>
          </a:prstGeom>
          <a:noFill/>
          <a:ln/>
        </p:spPr>
        <p:txBody>
          <a:bodyPr wrap="square" lIns="0" tIns="0" rIns="0" bIns="0" rtlCol="0" anchor="ctr"/>
          <a:lstStyle/>
          <a:p>
            <a:pPr indent="0" marL="0">
              <a:buNone/>
            </a:pPr>
            <a:r>
              <a:rPr lang="en-US" sz="1200" i="1" dirty="0">
                <a:solidFill>
                  <a:srgbClr val="8A8378"/>
                </a:solidFill>
                <a:latin typeface="Calibri" pitchFamily="34" charset="0"/>
                <a:ea typeface="Calibri" pitchFamily="34" charset="-122"/>
                <a:cs typeface="Calibri" pitchFamily="34" charset="-120"/>
              </a:rPr>
              <a:t>No two panels feel the same — her mood keeps moving, even during the dip.</a:t>
            </a:r>
            <a:endParaRPr lang="en-US" sz="1200" dirty="0"/>
          </a:p>
        </p:txBody>
      </p:sp>
      <p:pic>
        <p:nvPicPr>
          <p:cNvPr id="5" name="Image 0" descr="/home/claude/deck/assets/beatline.png">    </p:cNvPr>
          <p:cNvPicPr>
            <a:picLocks noChangeAspect="1"/>
          </p:cNvPicPr>
          <p:nvPr/>
        </p:nvPicPr>
        <p:blipFill>
          <a:blip r:embed="rId1"/>
          <a:stretch>
            <a:fillRect/>
          </a:stretch>
        </p:blipFill>
        <p:spPr>
          <a:xfrm>
            <a:off x="457200" y="1691640"/>
            <a:ext cx="11247120" cy="3246120"/>
          </a:xfrm>
          <a:prstGeom prst="rect">
            <a:avLst/>
          </a:prstGeom>
        </p:spPr>
      </p:pic>
      <p:sp>
        <p:nvSpPr>
          <p:cNvPr id="6" name="Shape 3"/>
          <p:cNvSpPr/>
          <p:nvPr/>
        </p:nvSpPr>
        <p:spPr>
          <a:xfrm>
            <a:off x="548640" y="5120640"/>
            <a:ext cx="11064240" cy="1097280"/>
          </a:xfrm>
          <a:prstGeom prst="rect">
            <a:avLst/>
          </a:prstGeom>
          <a:solidFill>
            <a:srgbClr val="F3EFE8"/>
          </a:solidFill>
          <a:ln/>
        </p:spPr>
      </p:sp>
      <p:sp>
        <p:nvSpPr>
          <p:cNvPr id="7" name="Text 4"/>
          <p:cNvSpPr/>
          <p:nvPr/>
        </p:nvSpPr>
        <p:spPr>
          <a:xfrm>
            <a:off x="822960" y="5303520"/>
            <a:ext cx="10515600" cy="777240"/>
          </a:xfrm>
          <a:prstGeom prst="rect">
            <a:avLst/>
          </a:prstGeom>
          <a:noFill/>
          <a:ln/>
        </p:spPr>
        <p:txBody>
          <a:bodyPr wrap="square" lIns="0" tIns="0" rIns="0" bIns="0" rtlCol="0" anchor="ctr"/>
          <a:lstStyle/>
          <a:p>
            <a:pPr indent="0" marL="0">
              <a:lnSpc>
                <a:spcPct val="130000"/>
              </a:lnSpc>
              <a:buNone/>
            </a:pPr>
            <a:r>
              <a:rPr lang="en-US" sz="1250" i="1" dirty="0">
                <a:solidFill>
                  <a:srgbClr val="1F1B17"/>
                </a:solidFill>
                <a:latin typeface="Calibri" pitchFamily="34" charset="0"/>
                <a:ea typeface="Calibri" pitchFamily="34" charset="-122"/>
                <a:cs typeface="Calibri" pitchFamily="34" charset="-120"/>
              </a:rPr>
              <a:t>The dip at the setback is on purpose. Real progress isn't a straight line up — it dips, then slowly climbs back. That's more honest, and more relatable, than a story where nothing ever goes wrong.</a:t>
            </a:r>
            <a:endParaRPr lang="en-US" sz="1250" dirty="0"/>
          </a:p>
        </p:txBody>
      </p:sp>
      <p:sp>
        <p:nvSpPr>
          <p:cNvPr id="8" name="Text 5"/>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8A8378"/>
                </a:solidFill>
                <a:latin typeface="Calibri" pitchFamily="34" charset="0"/>
                <a:ea typeface="Calibri" pitchFamily="34" charset="-122"/>
                <a:cs typeface="Calibri" pitchFamily="34" charset="-120"/>
              </a:rPr>
              <a:t>Emotional Beat Line</a:t>
            </a:r>
            <a:endParaRPr lang="en-US" sz="950" dirty="0"/>
          </a:p>
        </p:txBody>
      </p:sp>
      <p:sp>
        <p:nvSpPr>
          <p:cNvPr id="9" name="Text 6"/>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8A837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D97757"/>
                </a:solidFill>
                <a:latin typeface="Calibri" pitchFamily="34" charset="0"/>
                <a:ea typeface="Calibri" pitchFamily="34" charset="-122"/>
                <a:cs typeface="Calibri" pitchFamily="34" charset="-120"/>
              </a:rPr>
              <a:t>COMPETENCY C + B</a:t>
            </a:r>
            <a:endParaRPr lang="en-US" sz="1150" dirty="0"/>
          </a:p>
        </p:txBody>
      </p:sp>
      <p:sp>
        <p:nvSpPr>
          <p:cNvPr id="3" name="Text 1"/>
          <p:cNvSpPr/>
          <p:nvPr/>
        </p:nvSpPr>
        <p:spPr>
          <a:xfrm>
            <a:off x="548640" y="658368"/>
            <a:ext cx="10789920" cy="502920"/>
          </a:xfrm>
          <a:prstGeom prst="rect">
            <a:avLst/>
          </a:prstGeom>
          <a:noFill/>
          <a:ln/>
        </p:spPr>
        <p:txBody>
          <a:bodyPr wrap="square" lIns="0" tIns="0" rIns="0" bIns="0" rtlCol="0" anchor="ctr"/>
          <a:lstStyle/>
          <a:p>
            <a:pPr indent="0" marL="0">
              <a:buNone/>
            </a:pPr>
            <a:r>
              <a:rPr lang="en-US" sz="2400" b="1" dirty="0">
                <a:solidFill>
                  <a:srgbClr val="1F1B17"/>
                </a:solidFill>
                <a:latin typeface="Cambria" pitchFamily="34" charset="0"/>
                <a:ea typeface="Cambria" pitchFamily="34" charset="-122"/>
                <a:cs typeface="Cambria" pitchFamily="34" charset="-120"/>
              </a:rPr>
              <a:t>Support &amp; Setback</a:t>
            </a:r>
            <a:endParaRPr lang="en-US" sz="2400" dirty="0"/>
          </a:p>
        </p:txBody>
      </p:sp>
      <p:sp>
        <p:nvSpPr>
          <p:cNvPr id="4" name="Text 2"/>
          <p:cNvSpPr/>
          <p:nvPr/>
        </p:nvSpPr>
        <p:spPr>
          <a:xfrm>
            <a:off x="548640" y="1133856"/>
            <a:ext cx="10789920" cy="320040"/>
          </a:xfrm>
          <a:prstGeom prst="rect">
            <a:avLst/>
          </a:prstGeom>
          <a:noFill/>
          <a:ln/>
        </p:spPr>
        <p:txBody>
          <a:bodyPr wrap="square" lIns="0" tIns="0" rIns="0" bIns="0" rtlCol="0" anchor="ctr"/>
          <a:lstStyle/>
          <a:p>
            <a:pPr indent="0" marL="0">
              <a:buNone/>
            </a:pPr>
            <a:r>
              <a:rPr lang="en-US" sz="1200" i="1" dirty="0">
                <a:solidFill>
                  <a:srgbClr val="8A8378"/>
                </a:solidFill>
                <a:latin typeface="Calibri" pitchFamily="34" charset="0"/>
                <a:ea typeface="Calibri" pitchFamily="34" charset="-122"/>
                <a:cs typeface="Calibri" pitchFamily="34" charset="-120"/>
              </a:rPr>
              <a:t>The same coach shows up twice. The setback, Maya solves on her own.</a:t>
            </a:r>
            <a:endParaRPr lang="en-US" sz="1200" dirty="0"/>
          </a:p>
        </p:txBody>
      </p:sp>
      <p:sp>
        <p:nvSpPr>
          <p:cNvPr id="5" name="Text 3"/>
          <p:cNvSpPr/>
          <p:nvPr/>
        </p:nvSpPr>
        <p:spPr>
          <a:xfrm>
            <a:off x="548640" y="1645920"/>
            <a:ext cx="5212080" cy="256032"/>
          </a:xfrm>
          <a:prstGeom prst="rect">
            <a:avLst/>
          </a:prstGeom>
          <a:noFill/>
          <a:ln/>
        </p:spPr>
        <p:txBody>
          <a:bodyPr wrap="square" lIns="0" tIns="0" rIns="0" bIns="0" rtlCol="0" anchor="ctr"/>
          <a:lstStyle/>
          <a:p>
            <a:pPr indent="0" marL="0">
              <a:buNone/>
            </a:pPr>
            <a:r>
              <a:rPr lang="en-US" sz="1100" b="1" spc="100" kern="0" dirty="0">
                <a:solidFill>
                  <a:srgbClr val="8B85C7"/>
                </a:solidFill>
                <a:latin typeface="Calibri" pitchFamily="34" charset="0"/>
                <a:ea typeface="Calibri" pitchFamily="34" charset="-122"/>
                <a:cs typeface="Calibri" pitchFamily="34" charset="-120"/>
              </a:rPr>
              <a:t>THE COACH'S TWO APPEARANCES</a:t>
            </a:r>
            <a:endParaRPr lang="en-US" sz="1100" dirty="0"/>
          </a:p>
        </p:txBody>
      </p:sp>
      <p:sp>
        <p:nvSpPr>
          <p:cNvPr id="6" name="Shape 4"/>
          <p:cNvSpPr/>
          <p:nvPr/>
        </p:nvSpPr>
        <p:spPr>
          <a:xfrm>
            <a:off x="548640" y="1938528"/>
            <a:ext cx="5212080" cy="2148840"/>
          </a:xfrm>
          <a:prstGeom prst="roundRect">
            <a:avLst>
              <a:gd name="adj" fmla="val 3404"/>
            </a:avLst>
          </a:prstGeom>
          <a:solidFill>
            <a:srgbClr val="EAE8F7"/>
          </a:solidFill>
          <a:ln/>
        </p:spPr>
      </p:sp>
      <p:pic>
        <p:nvPicPr>
          <p:cNvPr id="7" name="Image 0" descr="/home/claude/deck/assets/p4_mentor1.png">    </p:cNvPr>
          <p:cNvPicPr>
            <a:picLocks noChangeAspect="1"/>
          </p:cNvPicPr>
          <p:nvPr/>
        </p:nvPicPr>
        <p:blipFill>
          <a:blip r:embed="rId1"/>
          <a:stretch>
            <a:fillRect/>
          </a:stretch>
        </p:blipFill>
        <p:spPr>
          <a:xfrm>
            <a:off x="685800" y="2075688"/>
            <a:ext cx="1417320" cy="1874520"/>
          </a:xfrm>
          <a:prstGeom prst="rect">
            <a:avLst/>
          </a:prstGeom>
        </p:spPr>
      </p:pic>
      <p:sp>
        <p:nvSpPr>
          <p:cNvPr id="8" name="Text 5"/>
          <p:cNvSpPr/>
          <p:nvPr/>
        </p:nvSpPr>
        <p:spPr>
          <a:xfrm>
            <a:off x="2240280" y="2139696"/>
            <a:ext cx="3383280" cy="237744"/>
          </a:xfrm>
          <a:prstGeom prst="rect">
            <a:avLst/>
          </a:prstGeom>
          <a:noFill/>
          <a:ln/>
        </p:spPr>
        <p:txBody>
          <a:bodyPr wrap="square" lIns="0" tIns="0" rIns="0" bIns="0" rtlCol="0" anchor="ctr"/>
          <a:lstStyle/>
          <a:p>
            <a:pPr indent="0" marL="0">
              <a:buNone/>
            </a:pPr>
            <a:r>
              <a:rPr lang="en-US" sz="950" b="1" spc="50" kern="0" dirty="0">
                <a:solidFill>
                  <a:srgbClr val="5C5590"/>
                </a:solidFill>
                <a:latin typeface="Calibri" pitchFamily="34" charset="0"/>
                <a:ea typeface="Calibri" pitchFamily="34" charset="-122"/>
                <a:cs typeface="Calibri" pitchFamily="34" charset="-120"/>
              </a:rPr>
              <a:t>CHECK-IN 1 · PANEL 04</a:t>
            </a:r>
            <a:endParaRPr lang="en-US" sz="950" dirty="0"/>
          </a:p>
        </p:txBody>
      </p:sp>
      <p:sp>
        <p:nvSpPr>
          <p:cNvPr id="9" name="Text 6"/>
          <p:cNvSpPr/>
          <p:nvPr/>
        </p:nvSpPr>
        <p:spPr>
          <a:xfrm>
            <a:off x="2240280" y="2395728"/>
            <a:ext cx="3383280" cy="365760"/>
          </a:xfrm>
          <a:prstGeom prst="rect">
            <a:avLst/>
          </a:prstGeom>
          <a:noFill/>
          <a:ln/>
        </p:spPr>
        <p:txBody>
          <a:bodyPr wrap="square" lIns="0" tIns="0" rIns="0" bIns="0" rtlCol="0" anchor="ctr"/>
          <a:lstStyle/>
          <a:p>
            <a:pPr indent="0" marL="0">
              <a:buNone/>
            </a:pPr>
            <a:r>
              <a:rPr lang="en-US" sz="1500" b="1" dirty="0">
                <a:solidFill>
                  <a:srgbClr val="1F1B17"/>
                </a:solidFill>
                <a:latin typeface="Cambria" pitchFamily="34" charset="0"/>
                <a:ea typeface="Cambria" pitchFamily="34" charset="-122"/>
                <a:cs typeface="Cambria" pitchFamily="34" charset="-120"/>
              </a:rPr>
              <a:t>Before the setback</a:t>
            </a:r>
            <a:endParaRPr lang="en-US" sz="1500" dirty="0"/>
          </a:p>
        </p:txBody>
      </p:sp>
      <p:sp>
        <p:nvSpPr>
          <p:cNvPr id="10" name="Text 7"/>
          <p:cNvSpPr/>
          <p:nvPr/>
        </p:nvSpPr>
        <p:spPr>
          <a:xfrm>
            <a:off x="2240280" y="2779776"/>
            <a:ext cx="3337560" cy="1188720"/>
          </a:xfrm>
          <a:prstGeom prst="rect">
            <a:avLst/>
          </a:prstGeom>
          <a:noFill/>
          <a:ln/>
        </p:spPr>
        <p:txBody>
          <a:bodyPr wrap="square" lIns="0" tIns="0" rIns="0" bIns="0" rtlCol="0" anchor="ctr"/>
          <a:lstStyle/>
          <a:p>
            <a:pPr indent="0" marL="0">
              <a:lnSpc>
                <a:spcPct val="125000"/>
              </a:lnSpc>
              <a:buNone/>
            </a:pPr>
            <a:r>
              <a:rPr lang="en-US" sz="1050" i="1" dirty="0">
                <a:solidFill>
                  <a:srgbClr val="1F1B17"/>
                </a:solidFill>
                <a:latin typeface="Calibri" pitchFamily="34" charset="0"/>
                <a:ea typeface="Calibri" pitchFamily="34" charset="-122"/>
                <a:cs typeface="Calibri" pitchFamily="34" charset="-120"/>
              </a:rPr>
              <a:t>“Even 4 minutes counts as showing up.” — a small, early boost that builds trust.</a:t>
            </a:r>
            <a:endParaRPr lang="en-US" sz="1050" dirty="0"/>
          </a:p>
        </p:txBody>
      </p:sp>
      <p:sp>
        <p:nvSpPr>
          <p:cNvPr id="11" name="Shape 8"/>
          <p:cNvSpPr/>
          <p:nvPr/>
        </p:nvSpPr>
        <p:spPr>
          <a:xfrm>
            <a:off x="548640" y="4197096"/>
            <a:ext cx="5212080" cy="2148840"/>
          </a:xfrm>
          <a:prstGeom prst="roundRect">
            <a:avLst>
              <a:gd name="adj" fmla="val 3404"/>
            </a:avLst>
          </a:prstGeom>
          <a:solidFill>
            <a:srgbClr val="EAE8F7"/>
          </a:solidFill>
          <a:ln/>
        </p:spPr>
      </p:sp>
      <p:pic>
        <p:nvPicPr>
          <p:cNvPr id="12" name="Image 1" descr="/home/claude/deck/assets/p8_mentor2.png">    </p:cNvPr>
          <p:cNvPicPr>
            <a:picLocks noChangeAspect="1"/>
          </p:cNvPicPr>
          <p:nvPr/>
        </p:nvPicPr>
        <p:blipFill>
          <a:blip r:embed="rId2"/>
          <a:stretch>
            <a:fillRect/>
          </a:stretch>
        </p:blipFill>
        <p:spPr>
          <a:xfrm>
            <a:off x="685800" y="4334256"/>
            <a:ext cx="1417320" cy="1874520"/>
          </a:xfrm>
          <a:prstGeom prst="rect">
            <a:avLst/>
          </a:prstGeom>
        </p:spPr>
      </p:pic>
      <p:sp>
        <p:nvSpPr>
          <p:cNvPr id="13" name="Text 9"/>
          <p:cNvSpPr/>
          <p:nvPr/>
        </p:nvSpPr>
        <p:spPr>
          <a:xfrm>
            <a:off x="2240280" y="4398264"/>
            <a:ext cx="3383280" cy="237744"/>
          </a:xfrm>
          <a:prstGeom prst="rect">
            <a:avLst/>
          </a:prstGeom>
          <a:noFill/>
          <a:ln/>
        </p:spPr>
        <p:txBody>
          <a:bodyPr wrap="square" lIns="0" tIns="0" rIns="0" bIns="0" rtlCol="0" anchor="ctr"/>
          <a:lstStyle/>
          <a:p>
            <a:pPr indent="0" marL="0">
              <a:buNone/>
            </a:pPr>
            <a:r>
              <a:rPr lang="en-US" sz="950" b="1" spc="50" kern="0" dirty="0">
                <a:solidFill>
                  <a:srgbClr val="5C5590"/>
                </a:solidFill>
                <a:latin typeface="Calibri" pitchFamily="34" charset="0"/>
                <a:ea typeface="Calibri" pitchFamily="34" charset="-122"/>
                <a:cs typeface="Calibri" pitchFamily="34" charset="-120"/>
              </a:rPr>
              <a:t>CHECK-IN 2 · PANEL 08</a:t>
            </a:r>
            <a:endParaRPr lang="en-US" sz="950" dirty="0"/>
          </a:p>
        </p:txBody>
      </p:sp>
      <p:sp>
        <p:nvSpPr>
          <p:cNvPr id="14" name="Text 10"/>
          <p:cNvSpPr/>
          <p:nvPr/>
        </p:nvSpPr>
        <p:spPr>
          <a:xfrm>
            <a:off x="2240280" y="4654296"/>
            <a:ext cx="3383280" cy="365760"/>
          </a:xfrm>
          <a:prstGeom prst="rect">
            <a:avLst/>
          </a:prstGeom>
          <a:noFill/>
          <a:ln/>
        </p:spPr>
        <p:txBody>
          <a:bodyPr wrap="square" lIns="0" tIns="0" rIns="0" bIns="0" rtlCol="0" anchor="ctr"/>
          <a:lstStyle/>
          <a:p>
            <a:pPr indent="0" marL="0">
              <a:buNone/>
            </a:pPr>
            <a:r>
              <a:rPr lang="en-US" sz="1500" b="1" dirty="0">
                <a:solidFill>
                  <a:srgbClr val="1F1B17"/>
                </a:solidFill>
                <a:latin typeface="Cambria" pitchFamily="34" charset="0"/>
                <a:ea typeface="Cambria" pitchFamily="34" charset="-122"/>
                <a:cs typeface="Cambria" pitchFamily="34" charset="-120"/>
              </a:rPr>
              <a:t>After the setback</a:t>
            </a:r>
            <a:endParaRPr lang="en-US" sz="1500" dirty="0"/>
          </a:p>
        </p:txBody>
      </p:sp>
      <p:sp>
        <p:nvSpPr>
          <p:cNvPr id="15" name="Text 11"/>
          <p:cNvSpPr/>
          <p:nvPr/>
        </p:nvSpPr>
        <p:spPr>
          <a:xfrm>
            <a:off x="2240280" y="5038344"/>
            <a:ext cx="3337560" cy="1188720"/>
          </a:xfrm>
          <a:prstGeom prst="rect">
            <a:avLst/>
          </a:prstGeom>
          <a:noFill/>
          <a:ln/>
        </p:spPr>
        <p:txBody>
          <a:bodyPr wrap="square" lIns="0" tIns="0" rIns="0" bIns="0" rtlCol="0" anchor="ctr"/>
          <a:lstStyle/>
          <a:p>
            <a:pPr indent="0" marL="0">
              <a:lnSpc>
                <a:spcPct val="125000"/>
              </a:lnSpc>
              <a:buNone/>
            </a:pPr>
            <a:r>
              <a:rPr lang="en-US" sz="1050" i="1" dirty="0">
                <a:solidFill>
                  <a:srgbClr val="1F1B17"/>
                </a:solidFill>
                <a:latin typeface="Calibri" pitchFamily="34" charset="0"/>
                <a:ea typeface="Calibri" pitchFamily="34" charset="-122"/>
                <a:cs typeface="Calibri" pitchFamily="34" charset="-120"/>
              </a:rPr>
              <a:t>“Setbacks don't erase progress. You decide what's next.” — support, not a fix.</a:t>
            </a:r>
            <a:endParaRPr lang="en-US" sz="1050" dirty="0"/>
          </a:p>
        </p:txBody>
      </p:sp>
      <p:sp>
        <p:nvSpPr>
          <p:cNvPr id="16" name="Text 12"/>
          <p:cNvSpPr/>
          <p:nvPr/>
        </p:nvSpPr>
        <p:spPr>
          <a:xfrm>
            <a:off x="5989320" y="1645920"/>
            <a:ext cx="5669280" cy="256032"/>
          </a:xfrm>
          <a:prstGeom prst="rect">
            <a:avLst/>
          </a:prstGeom>
          <a:noFill/>
          <a:ln/>
        </p:spPr>
        <p:txBody>
          <a:bodyPr wrap="square" lIns="0" tIns="0" rIns="0" bIns="0" rtlCol="0" anchor="ctr"/>
          <a:lstStyle/>
          <a:p>
            <a:pPr indent="0" marL="0">
              <a:buNone/>
            </a:pPr>
            <a:r>
              <a:rPr lang="en-US" sz="1100" b="1" spc="100" kern="0" dirty="0">
                <a:solidFill>
                  <a:srgbClr val="C1583B"/>
                </a:solidFill>
                <a:latin typeface="Calibri" pitchFamily="34" charset="0"/>
                <a:ea typeface="Calibri" pitchFamily="34" charset="-122"/>
                <a:cs typeface="Calibri" pitchFamily="34" charset="-120"/>
              </a:rPr>
              <a:t>THE SETBACK, HANDLED HER WAY</a:t>
            </a:r>
            <a:endParaRPr lang="en-US" sz="1100" dirty="0"/>
          </a:p>
        </p:txBody>
      </p:sp>
      <p:pic>
        <p:nvPicPr>
          <p:cNvPr id="17" name="Image 2" descr="/home/claude/deck/assets/resilience.png">    </p:cNvPr>
          <p:cNvPicPr>
            <a:picLocks noChangeAspect="1"/>
          </p:cNvPicPr>
          <p:nvPr/>
        </p:nvPicPr>
        <p:blipFill>
          <a:blip r:embed="rId3"/>
          <a:stretch>
            <a:fillRect/>
          </a:stretch>
        </p:blipFill>
        <p:spPr>
          <a:xfrm>
            <a:off x="5897880" y="2148840"/>
            <a:ext cx="5852160" cy="2418893"/>
          </a:xfrm>
          <a:prstGeom prst="rect">
            <a:avLst/>
          </a:prstGeom>
        </p:spPr>
      </p:pic>
      <p:sp>
        <p:nvSpPr>
          <p:cNvPr id="18" name="Shape 13"/>
          <p:cNvSpPr/>
          <p:nvPr/>
        </p:nvSpPr>
        <p:spPr>
          <a:xfrm>
            <a:off x="5989320" y="5074920"/>
            <a:ext cx="5669280" cy="1143000"/>
          </a:xfrm>
          <a:prstGeom prst="rect">
            <a:avLst/>
          </a:prstGeom>
          <a:solidFill>
            <a:srgbClr val="F3EFE8"/>
          </a:solidFill>
          <a:ln/>
        </p:spPr>
      </p:sp>
      <p:sp>
        <p:nvSpPr>
          <p:cNvPr id="19" name="Text 14"/>
          <p:cNvSpPr/>
          <p:nvPr/>
        </p:nvSpPr>
        <p:spPr>
          <a:xfrm>
            <a:off x="6217920" y="5212080"/>
            <a:ext cx="5212080" cy="914400"/>
          </a:xfrm>
          <a:prstGeom prst="rect">
            <a:avLst/>
          </a:prstGeom>
          <a:noFill/>
          <a:ln/>
        </p:spPr>
        <p:txBody>
          <a:bodyPr wrap="square" lIns="0" tIns="0" rIns="0" bIns="0" rtlCol="0" anchor="ctr"/>
          <a:lstStyle/>
          <a:p>
            <a:pPr indent="0" marL="0">
              <a:lnSpc>
                <a:spcPct val="125000"/>
              </a:lnSpc>
              <a:buNone/>
            </a:pPr>
            <a:r>
              <a:rPr lang="en-US" sz="1050" i="1" dirty="0">
                <a:solidFill>
                  <a:srgbClr val="1F1B17"/>
                </a:solidFill>
                <a:latin typeface="Calibri" pitchFamily="34" charset="0"/>
                <a:ea typeface="Calibri" pitchFamily="34" charset="-122"/>
                <a:cs typeface="Calibri" pitchFamily="34" charset="-120"/>
              </a:rPr>
              <a:t>Notice: Panel 7 has no app on screen. That's the whole point — if the coach fixed things for her here, it wouldn't feel like her win. The second check-in just confirms a decision she already made.</a:t>
            </a:r>
            <a:endParaRPr lang="en-US" sz="1050" dirty="0"/>
          </a:p>
        </p:txBody>
      </p:sp>
      <p:sp>
        <p:nvSpPr>
          <p:cNvPr id="20" name="Text 15"/>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8A8378"/>
                </a:solidFill>
                <a:latin typeface="Calibri" pitchFamily="34" charset="0"/>
                <a:ea typeface="Calibri" pitchFamily="34" charset="-122"/>
                <a:cs typeface="Calibri" pitchFamily="34" charset="-120"/>
              </a:rPr>
              <a:t>Support &amp; Setback</a:t>
            </a:r>
            <a:endParaRPr lang="en-US" sz="950" dirty="0"/>
          </a:p>
        </p:txBody>
      </p:sp>
      <p:sp>
        <p:nvSpPr>
          <p:cNvPr id="21" name="Text 16"/>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8A837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D97757"/>
                </a:solidFill>
                <a:latin typeface="Calibri" pitchFamily="34" charset="0"/>
                <a:ea typeface="Calibri" pitchFamily="34" charset="-122"/>
                <a:cs typeface="Calibri" pitchFamily="34" charset="-120"/>
              </a:rPr>
              <a:t>COMPETENCY E + D</a:t>
            </a:r>
            <a:endParaRPr lang="en-US" sz="1150" dirty="0"/>
          </a:p>
        </p:txBody>
      </p:sp>
      <p:sp>
        <p:nvSpPr>
          <p:cNvPr id="3" name="Text 1"/>
          <p:cNvSpPr/>
          <p:nvPr/>
        </p:nvSpPr>
        <p:spPr>
          <a:xfrm>
            <a:off x="548640" y="658368"/>
            <a:ext cx="10789920" cy="502920"/>
          </a:xfrm>
          <a:prstGeom prst="rect">
            <a:avLst/>
          </a:prstGeom>
          <a:noFill/>
          <a:ln/>
        </p:spPr>
        <p:txBody>
          <a:bodyPr wrap="square" lIns="0" tIns="0" rIns="0" bIns="0" rtlCol="0" anchor="ctr"/>
          <a:lstStyle/>
          <a:p>
            <a:pPr indent="0" marL="0">
              <a:buNone/>
            </a:pPr>
            <a:r>
              <a:rPr lang="en-US" sz="2400" b="1" dirty="0">
                <a:solidFill>
                  <a:srgbClr val="1F1B17"/>
                </a:solidFill>
                <a:latin typeface="Cambria" pitchFamily="34" charset="0"/>
                <a:ea typeface="Cambria" pitchFamily="34" charset="-122"/>
                <a:cs typeface="Cambria" pitchFamily="34" charset="-120"/>
              </a:rPr>
              <a:t>Her Eyes, Her Words</a:t>
            </a:r>
            <a:endParaRPr lang="en-US" sz="2400" dirty="0"/>
          </a:p>
        </p:txBody>
      </p:sp>
      <p:sp>
        <p:nvSpPr>
          <p:cNvPr id="4" name="Text 2"/>
          <p:cNvSpPr/>
          <p:nvPr/>
        </p:nvSpPr>
        <p:spPr>
          <a:xfrm>
            <a:off x="548640" y="1133856"/>
            <a:ext cx="10789920" cy="320040"/>
          </a:xfrm>
          <a:prstGeom prst="rect">
            <a:avLst/>
          </a:prstGeom>
          <a:noFill/>
          <a:ln/>
        </p:spPr>
        <p:txBody>
          <a:bodyPr wrap="square" lIns="0" tIns="0" rIns="0" bIns="0" rtlCol="0" anchor="ctr"/>
          <a:lstStyle/>
          <a:p>
            <a:pPr indent="0" marL="0">
              <a:buNone/>
            </a:pPr>
            <a:r>
              <a:rPr lang="en-US" sz="1200" i="1" dirty="0">
                <a:solidFill>
                  <a:srgbClr val="8A8378"/>
                </a:solidFill>
                <a:latin typeface="Calibri" pitchFamily="34" charset="0"/>
                <a:ea typeface="Calibri" pitchFamily="34" charset="-122"/>
                <a:cs typeface="Calibri" pitchFamily="34" charset="-120"/>
              </a:rPr>
              <a:t>Two shots put you in her shoes. Three messages speak to who she is.</a:t>
            </a:r>
            <a:endParaRPr lang="en-US" sz="1200" dirty="0"/>
          </a:p>
        </p:txBody>
      </p:sp>
      <p:sp>
        <p:nvSpPr>
          <p:cNvPr id="5" name="Text 3"/>
          <p:cNvSpPr/>
          <p:nvPr/>
        </p:nvSpPr>
        <p:spPr>
          <a:xfrm>
            <a:off x="548640" y="1645920"/>
            <a:ext cx="5394960" cy="256032"/>
          </a:xfrm>
          <a:prstGeom prst="rect">
            <a:avLst/>
          </a:prstGeom>
          <a:noFill/>
          <a:ln/>
        </p:spPr>
        <p:txBody>
          <a:bodyPr wrap="square" lIns="0" tIns="0" rIns="0" bIns="0" rtlCol="0" anchor="ctr"/>
          <a:lstStyle/>
          <a:p>
            <a:pPr indent="0" marL="0">
              <a:buNone/>
            </a:pPr>
            <a:r>
              <a:rPr lang="en-US" sz="1100" b="1" spc="100" kern="0" dirty="0">
                <a:solidFill>
                  <a:srgbClr val="5C7A54"/>
                </a:solidFill>
                <a:latin typeface="Calibri" pitchFamily="34" charset="0"/>
                <a:ea typeface="Calibri" pitchFamily="34" charset="-122"/>
                <a:cs typeface="Calibri" pitchFamily="34" charset="-120"/>
              </a:rPr>
              <a:t>SEEN THROUGH HER EYES</a:t>
            </a:r>
            <a:endParaRPr lang="en-US" sz="1100" dirty="0"/>
          </a:p>
        </p:txBody>
      </p:sp>
      <p:sp>
        <p:nvSpPr>
          <p:cNvPr id="6" name="Shape 4"/>
          <p:cNvSpPr/>
          <p:nvPr/>
        </p:nvSpPr>
        <p:spPr>
          <a:xfrm>
            <a:off x="548640" y="1938528"/>
            <a:ext cx="5394960" cy="2148840"/>
          </a:xfrm>
          <a:prstGeom prst="roundRect">
            <a:avLst>
              <a:gd name="adj" fmla="val 3404"/>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pic>
        <p:nvPicPr>
          <p:cNvPr id="7" name="Image 0" descr="/home/claude/deck/assets/pov_shoes.png">    </p:cNvPr>
          <p:cNvPicPr>
            <a:picLocks noChangeAspect="1"/>
          </p:cNvPicPr>
          <p:nvPr/>
        </p:nvPicPr>
        <p:blipFill>
          <a:blip r:embed="rId1"/>
          <a:stretch>
            <a:fillRect/>
          </a:stretch>
        </p:blipFill>
        <p:spPr>
          <a:xfrm>
            <a:off x="713232" y="2103120"/>
            <a:ext cx="1554480" cy="1819656"/>
          </a:xfrm>
          <a:prstGeom prst="rect">
            <a:avLst/>
          </a:prstGeom>
        </p:spPr>
      </p:pic>
      <p:sp>
        <p:nvSpPr>
          <p:cNvPr id="8" name="Text 5"/>
          <p:cNvSpPr/>
          <p:nvPr/>
        </p:nvSpPr>
        <p:spPr>
          <a:xfrm>
            <a:off x="2404872" y="2157984"/>
            <a:ext cx="3474720" cy="237744"/>
          </a:xfrm>
          <a:prstGeom prst="rect">
            <a:avLst/>
          </a:prstGeom>
          <a:noFill/>
          <a:ln/>
        </p:spPr>
        <p:txBody>
          <a:bodyPr wrap="square" lIns="0" tIns="0" rIns="0" bIns="0" rtlCol="0" anchor="ctr"/>
          <a:lstStyle/>
          <a:p>
            <a:pPr indent="0" marL="0">
              <a:buNone/>
            </a:pPr>
            <a:r>
              <a:rPr lang="en-US" sz="950" b="1" spc="50" kern="0" dirty="0">
                <a:solidFill>
                  <a:srgbClr val="5C7A54"/>
                </a:solidFill>
                <a:latin typeface="Calibri" pitchFamily="34" charset="0"/>
                <a:ea typeface="Calibri" pitchFamily="34" charset="-122"/>
                <a:cs typeface="Calibri" pitchFamily="34" charset="-120"/>
              </a:rPr>
              <a:t>PANEL 1 · HER SHOES</a:t>
            </a:r>
            <a:endParaRPr lang="en-US" sz="950" dirty="0"/>
          </a:p>
        </p:txBody>
      </p:sp>
      <p:sp>
        <p:nvSpPr>
          <p:cNvPr id="9" name="Text 6"/>
          <p:cNvSpPr/>
          <p:nvPr/>
        </p:nvSpPr>
        <p:spPr>
          <a:xfrm>
            <a:off x="2404872" y="2432304"/>
            <a:ext cx="3474720" cy="548640"/>
          </a:xfrm>
          <a:prstGeom prst="rect">
            <a:avLst/>
          </a:prstGeom>
          <a:noFill/>
          <a:ln/>
        </p:spPr>
        <p:txBody>
          <a:bodyPr wrap="square" lIns="0" tIns="0" rIns="0" bIns="0" rtlCol="0" anchor="ctr"/>
          <a:lstStyle/>
          <a:p>
            <a:pPr indent="0" marL="0">
              <a:lnSpc>
                <a:spcPct val="110000"/>
              </a:lnSpc>
              <a:buNone/>
            </a:pPr>
            <a:r>
              <a:rPr lang="en-US" sz="1350" b="1" dirty="0">
                <a:solidFill>
                  <a:srgbClr val="1F1B17"/>
                </a:solidFill>
                <a:latin typeface="Cambria" pitchFamily="34" charset="0"/>
                <a:ea typeface="Cambria" pitchFamily="34" charset="-122"/>
                <a:cs typeface="Cambria" pitchFamily="34" charset="-120"/>
              </a:rPr>
              <a:t>Before a run she doesn't want to take</a:t>
            </a:r>
            <a:endParaRPr lang="en-US" sz="1350" dirty="0"/>
          </a:p>
        </p:txBody>
      </p:sp>
      <p:sp>
        <p:nvSpPr>
          <p:cNvPr id="10" name="Text 7"/>
          <p:cNvSpPr/>
          <p:nvPr/>
        </p:nvSpPr>
        <p:spPr>
          <a:xfrm>
            <a:off x="2404872" y="3017520"/>
            <a:ext cx="3474720" cy="914400"/>
          </a:xfrm>
          <a:prstGeom prst="rect">
            <a:avLst/>
          </a:prstGeom>
          <a:noFill/>
          <a:ln/>
        </p:spPr>
        <p:txBody>
          <a:bodyPr wrap="square" lIns="0" tIns="0" rIns="0" bIns="0" rtlCol="0" anchor="ctr"/>
          <a:lstStyle/>
          <a:p>
            <a:pPr indent="0" marL="0">
              <a:lnSpc>
                <a:spcPct val="125000"/>
              </a:lnSpc>
              <a:buNone/>
            </a:pPr>
            <a:r>
              <a:rPr lang="en-US" sz="1000" i="1" dirty="0">
                <a:solidFill>
                  <a:srgbClr val="8A8378"/>
                </a:solidFill>
                <a:latin typeface="Calibri" pitchFamily="34" charset="0"/>
                <a:ea typeface="Calibri" pitchFamily="34" charset="-122"/>
                <a:cs typeface="Calibri" pitchFamily="34" charset="-120"/>
              </a:rPr>
              <a:t>You see what she sees, right before she almost quits.</a:t>
            </a:r>
            <a:endParaRPr lang="en-US" sz="1000" dirty="0"/>
          </a:p>
        </p:txBody>
      </p:sp>
      <p:sp>
        <p:nvSpPr>
          <p:cNvPr id="11" name="Shape 8"/>
          <p:cNvSpPr/>
          <p:nvPr/>
        </p:nvSpPr>
        <p:spPr>
          <a:xfrm>
            <a:off x="548640" y="4197096"/>
            <a:ext cx="5394960" cy="2148840"/>
          </a:xfrm>
          <a:prstGeom prst="roundRect">
            <a:avLst>
              <a:gd name="adj" fmla="val 3404"/>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pic>
        <p:nvPicPr>
          <p:cNvPr id="12" name="Image 1" descr="/home/claude/deck/assets/pov_phone.png">    </p:cNvPr>
          <p:cNvPicPr>
            <a:picLocks noChangeAspect="1"/>
          </p:cNvPicPr>
          <p:nvPr/>
        </p:nvPicPr>
        <p:blipFill>
          <a:blip r:embed="rId2"/>
          <a:stretch>
            <a:fillRect/>
          </a:stretch>
        </p:blipFill>
        <p:spPr>
          <a:xfrm>
            <a:off x="713232" y="4361688"/>
            <a:ext cx="914400" cy="1819656"/>
          </a:xfrm>
          <a:prstGeom prst="rect">
            <a:avLst/>
          </a:prstGeom>
        </p:spPr>
      </p:pic>
      <p:sp>
        <p:nvSpPr>
          <p:cNvPr id="13" name="Text 9"/>
          <p:cNvSpPr/>
          <p:nvPr/>
        </p:nvSpPr>
        <p:spPr>
          <a:xfrm>
            <a:off x="2404872" y="4416552"/>
            <a:ext cx="3474720" cy="237744"/>
          </a:xfrm>
          <a:prstGeom prst="rect">
            <a:avLst/>
          </a:prstGeom>
          <a:noFill/>
          <a:ln/>
        </p:spPr>
        <p:txBody>
          <a:bodyPr wrap="square" lIns="0" tIns="0" rIns="0" bIns="0" rtlCol="0" anchor="ctr"/>
          <a:lstStyle/>
          <a:p>
            <a:pPr indent="0" marL="0">
              <a:buNone/>
            </a:pPr>
            <a:r>
              <a:rPr lang="en-US" sz="950" b="1" spc="50" kern="0" dirty="0">
                <a:solidFill>
                  <a:srgbClr val="5C7A54"/>
                </a:solidFill>
                <a:latin typeface="Calibri" pitchFamily="34" charset="0"/>
                <a:ea typeface="Calibri" pitchFamily="34" charset="-122"/>
                <a:cs typeface="Calibri" pitchFamily="34" charset="-120"/>
              </a:rPr>
              <a:t>PANEL 9 · HER PHONE</a:t>
            </a:r>
            <a:endParaRPr lang="en-US" sz="950" dirty="0"/>
          </a:p>
        </p:txBody>
      </p:sp>
      <p:sp>
        <p:nvSpPr>
          <p:cNvPr id="14" name="Text 10"/>
          <p:cNvSpPr/>
          <p:nvPr/>
        </p:nvSpPr>
        <p:spPr>
          <a:xfrm>
            <a:off x="2404872" y="4690872"/>
            <a:ext cx="3474720" cy="548640"/>
          </a:xfrm>
          <a:prstGeom prst="rect">
            <a:avLst/>
          </a:prstGeom>
          <a:noFill/>
          <a:ln/>
        </p:spPr>
        <p:txBody>
          <a:bodyPr wrap="square" lIns="0" tIns="0" rIns="0" bIns="0" rtlCol="0" anchor="ctr"/>
          <a:lstStyle/>
          <a:p>
            <a:pPr indent="0" marL="0">
              <a:lnSpc>
                <a:spcPct val="110000"/>
              </a:lnSpc>
              <a:buNone/>
            </a:pPr>
            <a:r>
              <a:rPr lang="en-US" sz="1350" b="1" dirty="0">
                <a:solidFill>
                  <a:srgbClr val="1F1B17"/>
                </a:solidFill>
                <a:latin typeface="Cambria" pitchFamily="34" charset="0"/>
                <a:ea typeface="Cambria" pitchFamily="34" charset="-122"/>
                <a:cs typeface="Cambria" pitchFamily="34" charset="-120"/>
              </a:rPr>
              <a:t>Her screen, exactly as she sees it</a:t>
            </a:r>
            <a:endParaRPr lang="en-US" sz="1350" dirty="0"/>
          </a:p>
        </p:txBody>
      </p:sp>
      <p:sp>
        <p:nvSpPr>
          <p:cNvPr id="15" name="Text 11"/>
          <p:cNvSpPr/>
          <p:nvPr/>
        </p:nvSpPr>
        <p:spPr>
          <a:xfrm>
            <a:off x="2404872" y="5276088"/>
            <a:ext cx="3474720" cy="914400"/>
          </a:xfrm>
          <a:prstGeom prst="rect">
            <a:avLst/>
          </a:prstGeom>
          <a:noFill/>
          <a:ln/>
        </p:spPr>
        <p:txBody>
          <a:bodyPr wrap="square" lIns="0" tIns="0" rIns="0" bIns="0" rtlCol="0" anchor="ctr"/>
          <a:lstStyle/>
          <a:p>
            <a:pPr indent="0" marL="0">
              <a:lnSpc>
                <a:spcPct val="125000"/>
              </a:lnSpc>
              <a:buNone/>
            </a:pPr>
            <a:r>
              <a:rPr lang="en-US" sz="1000" i="1" dirty="0">
                <a:solidFill>
                  <a:srgbClr val="8A8378"/>
                </a:solidFill>
                <a:latin typeface="Calibri" pitchFamily="34" charset="0"/>
                <a:ea typeface="Calibri" pitchFamily="34" charset="-122"/>
                <a:cs typeface="Calibri" pitchFamily="34" charset="-120"/>
              </a:rPr>
              <a:t>You read the message at the same moment she does.</a:t>
            </a:r>
            <a:endParaRPr lang="en-US" sz="1000" dirty="0"/>
          </a:p>
        </p:txBody>
      </p:sp>
      <p:sp>
        <p:nvSpPr>
          <p:cNvPr id="16" name="Text 12"/>
          <p:cNvSpPr/>
          <p:nvPr/>
        </p:nvSpPr>
        <p:spPr>
          <a:xfrm>
            <a:off x="6172200" y="1645920"/>
            <a:ext cx="5486400" cy="256032"/>
          </a:xfrm>
          <a:prstGeom prst="rect">
            <a:avLst/>
          </a:prstGeom>
          <a:noFill/>
          <a:ln/>
        </p:spPr>
        <p:txBody>
          <a:bodyPr wrap="square" lIns="0" tIns="0" rIns="0" bIns="0" rtlCol="0" anchor="ctr"/>
          <a:lstStyle/>
          <a:p>
            <a:pPr indent="0" marL="0">
              <a:buNone/>
            </a:pPr>
            <a:r>
              <a:rPr lang="en-US" sz="1100" b="1" spc="100" kern="0" dirty="0">
                <a:solidFill>
                  <a:srgbClr val="D97757"/>
                </a:solidFill>
                <a:latin typeface="Calibri" pitchFamily="34" charset="0"/>
                <a:ea typeface="Calibri" pitchFamily="34" charset="-122"/>
                <a:cs typeface="Calibri" pitchFamily="34" charset="-120"/>
              </a:rPr>
              <a:t>THREE MESSAGES THAT MEAN SOMETHING</a:t>
            </a:r>
            <a:endParaRPr lang="en-US" sz="1100" dirty="0"/>
          </a:p>
        </p:txBody>
      </p:sp>
      <p:sp>
        <p:nvSpPr>
          <p:cNvPr id="17" name="Shape 13"/>
          <p:cNvSpPr/>
          <p:nvPr/>
        </p:nvSpPr>
        <p:spPr>
          <a:xfrm>
            <a:off x="6172200" y="1956816"/>
            <a:ext cx="5486400" cy="932688"/>
          </a:xfrm>
          <a:prstGeom prst="roundRect">
            <a:avLst>
              <a:gd name="adj" fmla="val 7843"/>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18" name="Shape 14"/>
          <p:cNvSpPr/>
          <p:nvPr/>
        </p:nvSpPr>
        <p:spPr>
          <a:xfrm>
            <a:off x="6336792" y="2185416"/>
            <a:ext cx="457200" cy="457200"/>
          </a:xfrm>
          <a:prstGeom prst="ellipse">
            <a:avLst/>
          </a:prstGeom>
          <a:solidFill>
            <a:srgbClr val="D97757"/>
          </a:solidFill>
          <a:ln/>
        </p:spPr>
      </p:sp>
      <p:sp>
        <p:nvSpPr>
          <p:cNvPr id="19" name="Text 15"/>
          <p:cNvSpPr/>
          <p:nvPr/>
        </p:nvSpPr>
        <p:spPr>
          <a:xfrm>
            <a:off x="6949440" y="2084832"/>
            <a:ext cx="4572000" cy="256032"/>
          </a:xfrm>
          <a:prstGeom prst="rect">
            <a:avLst/>
          </a:prstGeom>
          <a:noFill/>
          <a:ln/>
        </p:spPr>
        <p:txBody>
          <a:bodyPr wrap="square" lIns="0" tIns="0" rIns="0" bIns="0" rtlCol="0" anchor="ctr"/>
          <a:lstStyle/>
          <a:p>
            <a:pPr indent="0" marL="0">
              <a:buNone/>
            </a:pPr>
            <a:r>
              <a:rPr lang="en-US" sz="950" b="1" spc="40" kern="0" dirty="0">
                <a:solidFill>
                  <a:srgbClr val="D97757"/>
                </a:solidFill>
                <a:latin typeface="Calibri" pitchFamily="34" charset="0"/>
                <a:ea typeface="Calibri" pitchFamily="34" charset="-122"/>
                <a:cs typeface="Calibri" pitchFamily="34" charset="-120"/>
              </a:rPr>
              <a:t>NOTIFICATION · PANEL 2</a:t>
            </a:r>
            <a:endParaRPr lang="en-US" sz="950" dirty="0"/>
          </a:p>
        </p:txBody>
      </p:sp>
      <p:sp>
        <p:nvSpPr>
          <p:cNvPr id="20" name="Text 16"/>
          <p:cNvSpPr/>
          <p:nvPr/>
        </p:nvSpPr>
        <p:spPr>
          <a:xfrm>
            <a:off x="6949440" y="2340864"/>
            <a:ext cx="4572000" cy="502920"/>
          </a:xfrm>
          <a:prstGeom prst="rect">
            <a:avLst/>
          </a:prstGeom>
          <a:noFill/>
          <a:ln/>
        </p:spPr>
        <p:txBody>
          <a:bodyPr wrap="square" lIns="0" tIns="0" rIns="0" bIns="0" rtlCol="0" anchor="ctr"/>
          <a:lstStyle/>
          <a:p>
            <a:pPr indent="0" marL="0">
              <a:lnSpc>
                <a:spcPct val="110000"/>
              </a:lnSpc>
              <a:buNone/>
            </a:pPr>
            <a:r>
              <a:rPr lang="en-US" sz="1300" i="1" dirty="0">
                <a:solidFill>
                  <a:srgbClr val="1F1B17"/>
                </a:solidFill>
                <a:latin typeface="Cambria" pitchFamily="34" charset="0"/>
                <a:ea typeface="Cambria" pitchFamily="34" charset="-122"/>
                <a:cs typeface="Cambria" pitchFamily="34" charset="-120"/>
              </a:rPr>
              <a:t>“No pressure today — even opening the app counts as showing up.”</a:t>
            </a:r>
            <a:endParaRPr lang="en-US" sz="1300" dirty="0"/>
          </a:p>
        </p:txBody>
      </p:sp>
      <p:sp>
        <p:nvSpPr>
          <p:cNvPr id="21" name="Shape 17"/>
          <p:cNvSpPr/>
          <p:nvPr/>
        </p:nvSpPr>
        <p:spPr>
          <a:xfrm>
            <a:off x="6172200" y="3008376"/>
            <a:ext cx="5486400" cy="932688"/>
          </a:xfrm>
          <a:prstGeom prst="roundRect">
            <a:avLst>
              <a:gd name="adj" fmla="val 7843"/>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22" name="Shape 18"/>
          <p:cNvSpPr/>
          <p:nvPr/>
        </p:nvSpPr>
        <p:spPr>
          <a:xfrm>
            <a:off x="6336792" y="3236976"/>
            <a:ext cx="457200" cy="457200"/>
          </a:xfrm>
          <a:prstGeom prst="ellipse">
            <a:avLst/>
          </a:prstGeom>
          <a:solidFill>
            <a:srgbClr val="8B85C7"/>
          </a:solidFill>
          <a:ln/>
        </p:spPr>
      </p:sp>
      <p:sp>
        <p:nvSpPr>
          <p:cNvPr id="23" name="Text 19"/>
          <p:cNvSpPr/>
          <p:nvPr/>
        </p:nvSpPr>
        <p:spPr>
          <a:xfrm>
            <a:off x="6949440" y="3136392"/>
            <a:ext cx="4572000" cy="256032"/>
          </a:xfrm>
          <a:prstGeom prst="rect">
            <a:avLst/>
          </a:prstGeom>
          <a:noFill/>
          <a:ln/>
        </p:spPr>
        <p:txBody>
          <a:bodyPr wrap="square" lIns="0" tIns="0" rIns="0" bIns="0" rtlCol="0" anchor="ctr"/>
          <a:lstStyle/>
          <a:p>
            <a:pPr indent="0" marL="0">
              <a:buNone/>
            </a:pPr>
            <a:r>
              <a:rPr lang="en-US" sz="950" b="1" spc="40" kern="0" dirty="0">
                <a:solidFill>
                  <a:srgbClr val="8B85C7"/>
                </a:solidFill>
                <a:latin typeface="Calibri" pitchFamily="34" charset="0"/>
                <a:ea typeface="Calibri" pitchFamily="34" charset="-122"/>
                <a:cs typeface="Calibri" pitchFamily="34" charset="-120"/>
              </a:rPr>
              <a:t>COACH MESSAGE · PANEL 4</a:t>
            </a:r>
            <a:endParaRPr lang="en-US" sz="950" dirty="0"/>
          </a:p>
        </p:txBody>
      </p:sp>
      <p:sp>
        <p:nvSpPr>
          <p:cNvPr id="24" name="Text 20"/>
          <p:cNvSpPr/>
          <p:nvPr/>
        </p:nvSpPr>
        <p:spPr>
          <a:xfrm>
            <a:off x="6949440" y="3392424"/>
            <a:ext cx="4572000" cy="502920"/>
          </a:xfrm>
          <a:prstGeom prst="rect">
            <a:avLst/>
          </a:prstGeom>
          <a:noFill/>
          <a:ln/>
        </p:spPr>
        <p:txBody>
          <a:bodyPr wrap="square" lIns="0" tIns="0" rIns="0" bIns="0" rtlCol="0" anchor="ctr"/>
          <a:lstStyle/>
          <a:p>
            <a:pPr indent="0" marL="0">
              <a:lnSpc>
                <a:spcPct val="110000"/>
              </a:lnSpc>
              <a:buNone/>
            </a:pPr>
            <a:r>
              <a:rPr lang="en-US" sz="1300" i="1" dirty="0">
                <a:solidFill>
                  <a:srgbClr val="1F1B17"/>
                </a:solidFill>
                <a:latin typeface="Cambria" pitchFamily="34" charset="0"/>
                <a:ea typeface="Cambria" pitchFamily="34" charset="-122"/>
                <a:cs typeface="Cambria" pitchFamily="34" charset="-120"/>
              </a:rPr>
              <a:t>“Even 4 minutes counts as showing up.”</a:t>
            </a:r>
            <a:endParaRPr lang="en-US" sz="1300" dirty="0"/>
          </a:p>
        </p:txBody>
      </p:sp>
      <p:sp>
        <p:nvSpPr>
          <p:cNvPr id="25" name="Shape 21"/>
          <p:cNvSpPr/>
          <p:nvPr/>
        </p:nvSpPr>
        <p:spPr>
          <a:xfrm>
            <a:off x="6172200" y="4059936"/>
            <a:ext cx="5486400" cy="932688"/>
          </a:xfrm>
          <a:prstGeom prst="roundRect">
            <a:avLst>
              <a:gd name="adj" fmla="val 7843"/>
            </a:avLst>
          </a:prstGeom>
          <a:solidFill>
            <a:srgbClr val="FFFFFF"/>
          </a:solidFill>
          <a:ln w="12700">
            <a:solidFill>
              <a:srgbClr val="E4E0D6"/>
            </a:solidFill>
            <a:prstDash val="solid"/>
          </a:ln>
          <a:effectLst>
            <a:outerShdw sx="100000" sy="100000" kx="0" ky="0" algn="bl" rotWithShape="0" blurRad="203200" dist="63500" dir="5400000">
              <a:srgbClr val="1F1B17">
                <a:alpha val="11000"/>
              </a:srgbClr>
            </a:outerShdw>
          </a:effectLst>
        </p:spPr>
      </p:sp>
      <p:sp>
        <p:nvSpPr>
          <p:cNvPr id="26" name="Shape 22"/>
          <p:cNvSpPr/>
          <p:nvPr/>
        </p:nvSpPr>
        <p:spPr>
          <a:xfrm>
            <a:off x="6336792" y="4288536"/>
            <a:ext cx="457200" cy="457200"/>
          </a:xfrm>
          <a:prstGeom prst="ellipse">
            <a:avLst/>
          </a:prstGeom>
          <a:solidFill>
            <a:srgbClr val="5C7A54"/>
          </a:solidFill>
          <a:ln/>
        </p:spPr>
      </p:sp>
      <p:sp>
        <p:nvSpPr>
          <p:cNvPr id="27" name="Text 23"/>
          <p:cNvSpPr/>
          <p:nvPr/>
        </p:nvSpPr>
        <p:spPr>
          <a:xfrm>
            <a:off x="6949440" y="4187952"/>
            <a:ext cx="4572000" cy="256032"/>
          </a:xfrm>
          <a:prstGeom prst="rect">
            <a:avLst/>
          </a:prstGeom>
          <a:noFill/>
          <a:ln/>
        </p:spPr>
        <p:txBody>
          <a:bodyPr wrap="square" lIns="0" tIns="0" rIns="0" bIns="0" rtlCol="0" anchor="ctr"/>
          <a:lstStyle/>
          <a:p>
            <a:pPr indent="0" marL="0">
              <a:buNone/>
            </a:pPr>
            <a:r>
              <a:rPr lang="en-US" sz="950" b="1" spc="40" kern="0" dirty="0">
                <a:solidFill>
                  <a:srgbClr val="5C7A54"/>
                </a:solidFill>
                <a:latin typeface="Calibri" pitchFamily="34" charset="0"/>
                <a:ea typeface="Calibri" pitchFamily="34" charset="-122"/>
                <a:cs typeface="Calibri" pitchFamily="34" charset="-120"/>
              </a:rPr>
              <a:t>HER OWN THOUGHT · PANEL 7</a:t>
            </a:r>
            <a:endParaRPr lang="en-US" sz="950" dirty="0"/>
          </a:p>
        </p:txBody>
      </p:sp>
      <p:sp>
        <p:nvSpPr>
          <p:cNvPr id="28" name="Text 24"/>
          <p:cNvSpPr/>
          <p:nvPr/>
        </p:nvSpPr>
        <p:spPr>
          <a:xfrm>
            <a:off x="6949440" y="4443984"/>
            <a:ext cx="4572000" cy="502920"/>
          </a:xfrm>
          <a:prstGeom prst="rect">
            <a:avLst/>
          </a:prstGeom>
          <a:noFill/>
          <a:ln/>
        </p:spPr>
        <p:txBody>
          <a:bodyPr wrap="square" lIns="0" tIns="0" rIns="0" bIns="0" rtlCol="0" anchor="ctr"/>
          <a:lstStyle/>
          <a:p>
            <a:pPr indent="0" marL="0">
              <a:lnSpc>
                <a:spcPct val="110000"/>
              </a:lnSpc>
              <a:buNone/>
            </a:pPr>
            <a:r>
              <a:rPr lang="en-US" sz="1300" i="1" dirty="0">
                <a:solidFill>
                  <a:srgbClr val="1F1B17"/>
                </a:solidFill>
                <a:latin typeface="Cambria" pitchFamily="34" charset="0"/>
                <a:ea typeface="Cambria" pitchFamily="34" charset="-122"/>
                <a:cs typeface="Cambria" pitchFamily="34" charset="-120"/>
              </a:rPr>
              <a:t>“One day off isn't zero days.”</a:t>
            </a:r>
            <a:endParaRPr lang="en-US" sz="1300" dirty="0"/>
          </a:p>
        </p:txBody>
      </p:sp>
      <p:sp>
        <p:nvSpPr>
          <p:cNvPr id="29" name="Text 25"/>
          <p:cNvSpPr/>
          <p:nvPr/>
        </p:nvSpPr>
        <p:spPr>
          <a:xfrm>
            <a:off x="6172200" y="5157216"/>
            <a:ext cx="5486400" cy="457200"/>
          </a:xfrm>
          <a:prstGeom prst="rect">
            <a:avLst/>
          </a:prstGeom>
          <a:noFill/>
          <a:ln/>
        </p:spPr>
        <p:txBody>
          <a:bodyPr wrap="square" lIns="0" tIns="0" rIns="0" bIns="0" rtlCol="0" anchor="ctr"/>
          <a:lstStyle/>
          <a:p>
            <a:pPr indent="0" marL="0">
              <a:lnSpc>
                <a:spcPct val="120000"/>
              </a:lnSpc>
              <a:buNone/>
            </a:pPr>
            <a:r>
              <a:rPr lang="en-US" sz="1050" b="1" dirty="0">
                <a:solidFill>
                  <a:srgbClr val="C1583B"/>
                </a:solidFill>
                <a:latin typeface="Calibri" pitchFamily="34" charset="0"/>
                <a:ea typeface="Calibri" pitchFamily="34" charset="-122"/>
                <a:cs typeface="Calibri" pitchFamily="34" charset="-120"/>
              </a:rPr>
              <a:t>We avoided: </a:t>
            </a:r>
            <a:pPr indent="0" marL="0">
              <a:lnSpc>
                <a:spcPct val="120000"/>
              </a:lnSpc>
              <a:buNone/>
            </a:pPr>
            <a:r>
              <a:rPr lang="en-US" sz="1050" i="1" dirty="0">
                <a:solidFill>
                  <a:srgbClr val="8A8378"/>
                </a:solidFill>
                <a:latin typeface="Calibri" pitchFamily="34" charset="0"/>
                <a:ea typeface="Calibri" pitchFamily="34" charset="-122"/>
                <a:cs typeface="Calibri" pitchFamily="34" charset="-120"/>
              </a:rPr>
              <a:t>“You completed your workout!” — that just states a fact, it doesn't mean anything to her.</a:t>
            </a:r>
            <a:endParaRPr lang="en-US" sz="1050" dirty="0"/>
          </a:p>
        </p:txBody>
      </p:sp>
      <p:sp>
        <p:nvSpPr>
          <p:cNvPr id="30" name="Text 26"/>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8A8378"/>
                </a:solidFill>
                <a:latin typeface="Calibri" pitchFamily="34" charset="0"/>
                <a:ea typeface="Calibri" pitchFamily="34" charset="-122"/>
                <a:cs typeface="Calibri" pitchFamily="34" charset="-120"/>
              </a:rPr>
              <a:t>Her Eyes &amp; Her Words</a:t>
            </a:r>
            <a:endParaRPr lang="en-US" sz="950" dirty="0"/>
          </a:p>
        </p:txBody>
      </p:sp>
      <p:sp>
        <p:nvSpPr>
          <p:cNvPr id="31" name="Text 27"/>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8A837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41F1A"/>
        </a:solidFill>
      </p:bgPr>
    </p:bg>
    <p:spTree>
      <p:nvGrpSpPr>
        <p:cNvPr id="1" name=""/>
        <p:cNvGrpSpPr/>
        <p:nvPr/>
      </p:nvGrpSpPr>
      <p:grpSpPr>
        <a:xfrm>
          <a:off x="0" y="0"/>
          <a:ext cx="0" cy="0"/>
          <a:chOff x="0" y="0"/>
          <a:chExt cx="0" cy="0"/>
        </a:xfrm>
      </p:grpSpPr>
      <p:sp>
        <p:nvSpPr>
          <p:cNvPr id="2" name="Shape 0"/>
          <p:cNvSpPr/>
          <p:nvPr/>
        </p:nvSpPr>
        <p:spPr>
          <a:xfrm>
            <a:off x="0" y="0"/>
            <a:ext cx="5943600" cy="6858000"/>
          </a:xfrm>
          <a:prstGeom prst="rect">
            <a:avLst/>
          </a:prstGeom>
          <a:solidFill>
            <a:srgbClr val="332C25"/>
          </a:solidFill>
          <a:ln/>
        </p:spPr>
      </p:sp>
      <p:sp>
        <p:nvSpPr>
          <p:cNvPr id="3" name="Text 1"/>
          <p:cNvSpPr/>
          <p:nvPr/>
        </p:nvSpPr>
        <p:spPr>
          <a:xfrm>
            <a:off x="502920" y="457200"/>
            <a:ext cx="5120640" cy="274320"/>
          </a:xfrm>
          <a:prstGeom prst="rect">
            <a:avLst/>
          </a:prstGeom>
          <a:noFill/>
          <a:ln/>
        </p:spPr>
        <p:txBody>
          <a:bodyPr wrap="square" lIns="0" tIns="0" rIns="0" bIns="0" rtlCol="0" anchor="ctr"/>
          <a:lstStyle/>
          <a:p>
            <a:pPr indent="0" marL="0">
              <a:buNone/>
            </a:pPr>
            <a:r>
              <a:rPr lang="en-US" sz="1100" b="1" spc="150" kern="0" dirty="0">
                <a:solidFill>
                  <a:srgbClr val="D9A98B"/>
                </a:solidFill>
                <a:latin typeface="Calibri" pitchFamily="34" charset="0"/>
                <a:ea typeface="Calibri" pitchFamily="34" charset="-122"/>
                <a:cs typeface="Calibri" pitchFamily="34" charset="-120"/>
              </a:rPr>
              <a:t>REFLECTION</a:t>
            </a:r>
            <a:endParaRPr lang="en-US" sz="1100" dirty="0"/>
          </a:p>
        </p:txBody>
      </p:sp>
      <p:sp>
        <p:nvSpPr>
          <p:cNvPr id="4" name="Text 2"/>
          <p:cNvSpPr/>
          <p:nvPr/>
        </p:nvSpPr>
        <p:spPr>
          <a:xfrm>
            <a:off x="502920" y="749808"/>
            <a:ext cx="5120640" cy="5943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hardest part to get right</a:t>
            </a:r>
            <a:endParaRPr lang="en-US" sz="2000" dirty="0"/>
          </a:p>
        </p:txBody>
      </p:sp>
      <p:sp>
        <p:nvSpPr>
          <p:cNvPr id="5" name="Text 3"/>
          <p:cNvSpPr/>
          <p:nvPr/>
        </p:nvSpPr>
        <p:spPr>
          <a:xfrm>
            <a:off x="502920" y="1417320"/>
            <a:ext cx="5257800" cy="4846320"/>
          </a:xfrm>
          <a:prstGeom prst="rect">
            <a:avLst/>
          </a:prstGeom>
          <a:noFill/>
          <a:ln/>
        </p:spPr>
        <p:txBody>
          <a:bodyPr wrap="square" lIns="0" tIns="0" rIns="0" bIns="0" rtlCol="0" anchor="ctr"/>
          <a:lstStyle/>
          <a:p>
            <a:pPr indent="0" marL="0">
              <a:lnSpc>
                <a:spcPct val="128000"/>
              </a:lnSpc>
              <a:buNone/>
            </a:pPr>
            <a:r>
              <a:rPr lang="en-US" sz="1150" dirty="0">
                <a:solidFill>
                  <a:srgbClr val="E8E4DC"/>
                </a:solidFill>
                <a:latin typeface="Calibri" pitchFamily="34" charset="0"/>
                <a:ea typeface="Calibri" pitchFamily="34" charset="-122"/>
                <a:cs typeface="Calibri" pitchFamily="34" charset="-120"/>
              </a:rPr>
              <a:t>The hardest part was showing the setback without fixing it too fast. It's easy to draw a bad day — a broken streak reads instantly. It's much harder to draw someone quietly deciding to keep going, with nothing else happening on screen.</a:t>
            </a:r>
            <a:endParaRPr lang="en-US" sz="1150" dirty="0"/>
          </a:p>
          <a:p>
            <a:pPr indent="0" marL="0">
              <a:lnSpc>
                <a:spcPct val="128000"/>
              </a:lnSpc>
              <a:buNone/>
            </a:pPr>
            <a:endParaRPr lang="en-US" sz="1150" dirty="0"/>
          </a:p>
          <a:p>
            <a:pPr indent="0" marL="0">
              <a:lnSpc>
                <a:spcPct val="128000"/>
              </a:lnSpc>
              <a:buNone/>
            </a:pPr>
            <a:r>
              <a:rPr lang="en-US" sz="1150" dirty="0">
                <a:solidFill>
                  <a:srgbClr val="E8E4DC"/>
                </a:solidFill>
                <a:latin typeface="Calibri" pitchFamily="34" charset="0"/>
                <a:ea typeface="Calibri" pitchFamily="34" charset="-122"/>
                <a:cs typeface="Calibri" pitchFamily="34" charset="-120"/>
              </a:rPr>
              <a:t>My first version had the coach step in right after the setback, because an empty panel felt incomplete. Taking that out was the right call, but it felt risky — now that panel relies only on Maya's face and one quiet thought.</a:t>
            </a:r>
            <a:endParaRPr lang="en-US" sz="1150" dirty="0"/>
          </a:p>
          <a:p>
            <a:pPr indent="0" marL="0">
              <a:lnSpc>
                <a:spcPct val="128000"/>
              </a:lnSpc>
              <a:buNone/>
            </a:pPr>
            <a:endParaRPr lang="en-US" sz="1150" dirty="0"/>
          </a:p>
          <a:p>
            <a:pPr indent="0" marL="0">
              <a:lnSpc>
                <a:spcPct val="128000"/>
              </a:lnSpc>
              <a:buNone/>
            </a:pPr>
            <a:r>
              <a:rPr lang="en-US" sz="1150" dirty="0">
                <a:solidFill>
                  <a:srgbClr val="E8E4DC"/>
                </a:solidFill>
                <a:latin typeface="Calibri" pitchFamily="34" charset="0"/>
                <a:ea typeface="Calibri" pitchFamily="34" charset="-122"/>
                <a:cs typeface="Calibri" pitchFamily="34" charset="-120"/>
              </a:rPr>
              <a:t>That's when it clicked: a setback story falls apart the moment someone else solves it for the main character, even with good intentions. The empty space around Maya in that panel says more than any message could.</a:t>
            </a:r>
            <a:endParaRPr lang="en-US" sz="1150" dirty="0"/>
          </a:p>
        </p:txBody>
      </p:sp>
      <p:sp>
        <p:nvSpPr>
          <p:cNvPr id="6" name="Text 4"/>
          <p:cNvSpPr/>
          <p:nvPr/>
        </p:nvSpPr>
        <p:spPr>
          <a:xfrm>
            <a:off x="6355080" y="457200"/>
            <a:ext cx="5486400" cy="274320"/>
          </a:xfrm>
          <a:prstGeom prst="rect">
            <a:avLst/>
          </a:prstGeom>
          <a:noFill/>
          <a:ln/>
        </p:spPr>
        <p:txBody>
          <a:bodyPr wrap="square" lIns="0" tIns="0" rIns="0" bIns="0" rtlCol="0" anchor="ctr"/>
          <a:lstStyle/>
          <a:p>
            <a:pPr indent="0" marL="0">
              <a:buNone/>
            </a:pPr>
            <a:r>
              <a:rPr lang="en-US" sz="1100" b="1" spc="150" kern="0" dirty="0">
                <a:solidFill>
                  <a:srgbClr val="D9A98B"/>
                </a:solidFill>
                <a:latin typeface="Calibri" pitchFamily="34" charset="0"/>
                <a:ea typeface="Calibri" pitchFamily="34" charset="-122"/>
                <a:cs typeface="Calibri" pitchFamily="34" charset="-120"/>
              </a:rPr>
              <a:t>EVERYTHING THIS COVERS</a:t>
            </a:r>
            <a:endParaRPr lang="en-US" sz="1100" dirty="0"/>
          </a:p>
        </p:txBody>
      </p:sp>
      <p:sp>
        <p:nvSpPr>
          <p:cNvPr id="7" name="Text 5"/>
          <p:cNvSpPr/>
          <p:nvPr/>
        </p:nvSpPr>
        <p:spPr>
          <a:xfrm>
            <a:off x="6355080" y="749808"/>
            <a:ext cx="548640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Final Checklist</a:t>
            </a:r>
            <a:endParaRPr lang="en-US" sz="2000" dirty="0"/>
          </a:p>
        </p:txBody>
      </p:sp>
      <p:sp>
        <p:nvSpPr>
          <p:cNvPr id="8" name="Shape 6"/>
          <p:cNvSpPr/>
          <p:nvPr/>
        </p:nvSpPr>
        <p:spPr>
          <a:xfrm>
            <a:off x="6355080" y="1389888"/>
            <a:ext cx="219456" cy="219456"/>
          </a:xfrm>
          <a:prstGeom prst="ellipse">
            <a:avLst/>
          </a:prstGeom>
          <a:solidFill>
            <a:srgbClr val="7C9473"/>
          </a:solidFill>
          <a:ln/>
        </p:spPr>
      </p:sp>
      <p:sp>
        <p:nvSpPr>
          <p:cNvPr id="9" name="Text 7"/>
          <p:cNvSpPr/>
          <p:nvPr/>
        </p:nvSpPr>
        <p:spPr>
          <a:xfrm>
            <a:off x="6355080" y="1389888"/>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0" name="Text 8"/>
          <p:cNvSpPr/>
          <p:nvPr/>
        </p:nvSpPr>
        <p:spPr>
          <a:xfrm>
            <a:off x="6675120" y="1344168"/>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Character brief</a:t>
            </a:r>
            <a:endParaRPr lang="en-US" sz="1150" dirty="0"/>
          </a:p>
        </p:txBody>
      </p:sp>
      <p:sp>
        <p:nvSpPr>
          <p:cNvPr id="11" name="Text 9"/>
          <p:cNvSpPr/>
          <p:nvPr/>
        </p:nvSpPr>
        <p:spPr>
          <a:xfrm>
            <a:off x="6675120" y="1600200"/>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Slide 3</a:t>
            </a:r>
            <a:endParaRPr lang="en-US" sz="950" dirty="0"/>
          </a:p>
        </p:txBody>
      </p:sp>
      <p:sp>
        <p:nvSpPr>
          <p:cNvPr id="12" name="Shape 10"/>
          <p:cNvSpPr/>
          <p:nvPr/>
        </p:nvSpPr>
        <p:spPr>
          <a:xfrm>
            <a:off x="6355080" y="1993392"/>
            <a:ext cx="219456" cy="219456"/>
          </a:xfrm>
          <a:prstGeom prst="ellipse">
            <a:avLst/>
          </a:prstGeom>
          <a:solidFill>
            <a:srgbClr val="7C9473"/>
          </a:solidFill>
          <a:ln/>
        </p:spPr>
      </p:sp>
      <p:sp>
        <p:nvSpPr>
          <p:cNvPr id="13" name="Text 11"/>
          <p:cNvSpPr/>
          <p:nvPr/>
        </p:nvSpPr>
        <p:spPr>
          <a:xfrm>
            <a:off x="6355080" y="1993392"/>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4" name="Text 12"/>
          <p:cNvSpPr/>
          <p:nvPr/>
        </p:nvSpPr>
        <p:spPr>
          <a:xfrm>
            <a:off x="6675120" y="1947672"/>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10 storyboard panels</a:t>
            </a:r>
            <a:endParaRPr lang="en-US" sz="1150" dirty="0"/>
          </a:p>
        </p:txBody>
      </p:sp>
      <p:sp>
        <p:nvSpPr>
          <p:cNvPr id="15" name="Text 13"/>
          <p:cNvSpPr/>
          <p:nvPr/>
        </p:nvSpPr>
        <p:spPr>
          <a:xfrm>
            <a:off x="6675120" y="2203704"/>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Slides 4–5</a:t>
            </a:r>
            <a:endParaRPr lang="en-US" sz="950" dirty="0"/>
          </a:p>
        </p:txBody>
      </p:sp>
      <p:sp>
        <p:nvSpPr>
          <p:cNvPr id="16" name="Shape 14"/>
          <p:cNvSpPr/>
          <p:nvPr/>
        </p:nvSpPr>
        <p:spPr>
          <a:xfrm>
            <a:off x="6355080" y="2596896"/>
            <a:ext cx="219456" cy="219456"/>
          </a:xfrm>
          <a:prstGeom prst="ellipse">
            <a:avLst/>
          </a:prstGeom>
          <a:solidFill>
            <a:srgbClr val="7C9473"/>
          </a:solidFill>
          <a:ln/>
        </p:spPr>
      </p:sp>
      <p:sp>
        <p:nvSpPr>
          <p:cNvPr id="17" name="Text 15"/>
          <p:cNvSpPr/>
          <p:nvPr/>
        </p:nvSpPr>
        <p:spPr>
          <a:xfrm>
            <a:off x="6355080" y="2596896"/>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8" name="Text 16"/>
          <p:cNvSpPr/>
          <p:nvPr/>
        </p:nvSpPr>
        <p:spPr>
          <a:xfrm>
            <a:off x="6675120" y="2551176"/>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Feelings that keep changing</a:t>
            </a:r>
            <a:endParaRPr lang="en-US" sz="1150" dirty="0"/>
          </a:p>
        </p:txBody>
      </p:sp>
      <p:sp>
        <p:nvSpPr>
          <p:cNvPr id="19" name="Text 17"/>
          <p:cNvSpPr/>
          <p:nvPr/>
        </p:nvSpPr>
        <p:spPr>
          <a:xfrm>
            <a:off x="6675120" y="2807208"/>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Slide 6</a:t>
            </a:r>
            <a:endParaRPr lang="en-US" sz="950" dirty="0"/>
          </a:p>
        </p:txBody>
      </p:sp>
      <p:sp>
        <p:nvSpPr>
          <p:cNvPr id="20" name="Shape 18"/>
          <p:cNvSpPr/>
          <p:nvPr/>
        </p:nvSpPr>
        <p:spPr>
          <a:xfrm>
            <a:off x="6355080" y="3200400"/>
            <a:ext cx="219456" cy="219456"/>
          </a:xfrm>
          <a:prstGeom prst="ellipse">
            <a:avLst/>
          </a:prstGeom>
          <a:solidFill>
            <a:srgbClr val="7C9473"/>
          </a:solidFill>
          <a:ln/>
        </p:spPr>
      </p:sp>
      <p:sp>
        <p:nvSpPr>
          <p:cNvPr id="21" name="Text 19"/>
          <p:cNvSpPr/>
          <p:nvPr/>
        </p:nvSpPr>
        <p:spPr>
          <a:xfrm>
            <a:off x="6355080" y="3200400"/>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2" name="Text 20"/>
          <p:cNvSpPr/>
          <p:nvPr/>
        </p:nvSpPr>
        <p:spPr>
          <a:xfrm>
            <a:off x="6675120" y="3154680"/>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 real setback + her own recovery</a:t>
            </a:r>
            <a:endParaRPr lang="en-US" sz="1150" dirty="0"/>
          </a:p>
        </p:txBody>
      </p:sp>
      <p:sp>
        <p:nvSpPr>
          <p:cNvPr id="23" name="Text 21"/>
          <p:cNvSpPr/>
          <p:nvPr/>
        </p:nvSpPr>
        <p:spPr>
          <a:xfrm>
            <a:off x="6675120" y="3410712"/>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Panels 6–7 + Slide 7</a:t>
            </a:r>
            <a:endParaRPr lang="en-US" sz="950" dirty="0"/>
          </a:p>
        </p:txBody>
      </p:sp>
      <p:sp>
        <p:nvSpPr>
          <p:cNvPr id="24" name="Shape 22"/>
          <p:cNvSpPr/>
          <p:nvPr/>
        </p:nvSpPr>
        <p:spPr>
          <a:xfrm>
            <a:off x="6355080" y="3803904"/>
            <a:ext cx="219456" cy="219456"/>
          </a:xfrm>
          <a:prstGeom prst="ellipse">
            <a:avLst/>
          </a:prstGeom>
          <a:solidFill>
            <a:srgbClr val="7C9473"/>
          </a:solidFill>
          <a:ln/>
        </p:spPr>
      </p:sp>
      <p:sp>
        <p:nvSpPr>
          <p:cNvPr id="25" name="Text 23"/>
          <p:cNvSpPr/>
          <p:nvPr/>
        </p:nvSpPr>
        <p:spPr>
          <a:xfrm>
            <a:off x="6355080" y="3803904"/>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6" name="Text 24"/>
          <p:cNvSpPr/>
          <p:nvPr/>
        </p:nvSpPr>
        <p:spPr>
          <a:xfrm>
            <a:off x="6675120" y="3758184"/>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Coach appears twice</a:t>
            </a:r>
            <a:endParaRPr lang="en-US" sz="1150" dirty="0"/>
          </a:p>
        </p:txBody>
      </p:sp>
      <p:sp>
        <p:nvSpPr>
          <p:cNvPr id="27" name="Text 25"/>
          <p:cNvSpPr/>
          <p:nvPr/>
        </p:nvSpPr>
        <p:spPr>
          <a:xfrm>
            <a:off x="6675120" y="4014216"/>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Panels 4, 8 + Slide 7</a:t>
            </a:r>
            <a:endParaRPr lang="en-US" sz="950" dirty="0"/>
          </a:p>
        </p:txBody>
      </p:sp>
      <p:sp>
        <p:nvSpPr>
          <p:cNvPr id="28" name="Shape 26"/>
          <p:cNvSpPr/>
          <p:nvPr/>
        </p:nvSpPr>
        <p:spPr>
          <a:xfrm>
            <a:off x="6355080" y="4407408"/>
            <a:ext cx="219456" cy="219456"/>
          </a:xfrm>
          <a:prstGeom prst="ellipse">
            <a:avLst/>
          </a:prstGeom>
          <a:solidFill>
            <a:srgbClr val="7C9473"/>
          </a:solidFill>
          <a:ln/>
        </p:spPr>
      </p:sp>
      <p:sp>
        <p:nvSpPr>
          <p:cNvPr id="29" name="Text 27"/>
          <p:cNvSpPr/>
          <p:nvPr/>
        </p:nvSpPr>
        <p:spPr>
          <a:xfrm>
            <a:off x="6355080" y="4407408"/>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0" name="Text 28"/>
          <p:cNvSpPr/>
          <p:nvPr/>
        </p:nvSpPr>
        <p:spPr>
          <a:xfrm>
            <a:off x="6675120" y="4361688"/>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3 messages that mean something</a:t>
            </a:r>
            <a:endParaRPr lang="en-US" sz="1150" dirty="0"/>
          </a:p>
        </p:txBody>
      </p:sp>
      <p:sp>
        <p:nvSpPr>
          <p:cNvPr id="31" name="Text 29"/>
          <p:cNvSpPr/>
          <p:nvPr/>
        </p:nvSpPr>
        <p:spPr>
          <a:xfrm>
            <a:off x="6675120" y="4617720"/>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Panels 2, 4, 7 + Slide 8</a:t>
            </a:r>
            <a:endParaRPr lang="en-US" sz="950" dirty="0"/>
          </a:p>
        </p:txBody>
      </p:sp>
      <p:sp>
        <p:nvSpPr>
          <p:cNvPr id="32" name="Shape 30"/>
          <p:cNvSpPr/>
          <p:nvPr/>
        </p:nvSpPr>
        <p:spPr>
          <a:xfrm>
            <a:off x="6355080" y="5010912"/>
            <a:ext cx="219456" cy="219456"/>
          </a:xfrm>
          <a:prstGeom prst="ellipse">
            <a:avLst/>
          </a:prstGeom>
          <a:solidFill>
            <a:srgbClr val="7C9473"/>
          </a:solidFill>
          <a:ln/>
        </p:spPr>
      </p:sp>
      <p:sp>
        <p:nvSpPr>
          <p:cNvPr id="33" name="Text 31"/>
          <p:cNvSpPr/>
          <p:nvPr/>
        </p:nvSpPr>
        <p:spPr>
          <a:xfrm>
            <a:off x="6355080" y="5010912"/>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4" name="Text 32"/>
          <p:cNvSpPr/>
          <p:nvPr/>
        </p:nvSpPr>
        <p:spPr>
          <a:xfrm>
            <a:off x="6675120" y="4965192"/>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2 shots through her eyes</a:t>
            </a:r>
            <a:endParaRPr lang="en-US" sz="1150" dirty="0"/>
          </a:p>
        </p:txBody>
      </p:sp>
      <p:sp>
        <p:nvSpPr>
          <p:cNvPr id="35" name="Text 33"/>
          <p:cNvSpPr/>
          <p:nvPr/>
        </p:nvSpPr>
        <p:spPr>
          <a:xfrm>
            <a:off x="6675120" y="5221224"/>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Panels 1, 9 + Slide 8</a:t>
            </a:r>
            <a:endParaRPr lang="en-US" sz="950" dirty="0"/>
          </a:p>
        </p:txBody>
      </p:sp>
      <p:sp>
        <p:nvSpPr>
          <p:cNvPr id="36" name="Shape 34"/>
          <p:cNvSpPr/>
          <p:nvPr/>
        </p:nvSpPr>
        <p:spPr>
          <a:xfrm>
            <a:off x="6355080" y="5614416"/>
            <a:ext cx="219456" cy="219456"/>
          </a:xfrm>
          <a:prstGeom prst="ellipse">
            <a:avLst/>
          </a:prstGeom>
          <a:solidFill>
            <a:srgbClr val="7C9473"/>
          </a:solidFill>
          <a:ln/>
        </p:spPr>
      </p:sp>
      <p:sp>
        <p:nvSpPr>
          <p:cNvPr id="37" name="Text 35"/>
          <p:cNvSpPr/>
          <p:nvPr/>
        </p:nvSpPr>
        <p:spPr>
          <a:xfrm>
            <a:off x="6355080" y="5614416"/>
            <a:ext cx="219456" cy="21945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8" name="Text 36"/>
          <p:cNvSpPr/>
          <p:nvPr/>
        </p:nvSpPr>
        <p:spPr>
          <a:xfrm>
            <a:off x="6675120" y="5568696"/>
            <a:ext cx="516636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Reflection</a:t>
            </a:r>
            <a:endParaRPr lang="en-US" sz="1150" dirty="0"/>
          </a:p>
        </p:txBody>
      </p:sp>
      <p:sp>
        <p:nvSpPr>
          <p:cNvPr id="39" name="Text 37"/>
          <p:cNvSpPr/>
          <p:nvPr/>
        </p:nvSpPr>
        <p:spPr>
          <a:xfrm>
            <a:off x="6675120" y="5824728"/>
            <a:ext cx="5166360" cy="256032"/>
          </a:xfrm>
          <a:prstGeom prst="rect">
            <a:avLst/>
          </a:prstGeom>
          <a:noFill/>
          <a:ln/>
        </p:spPr>
        <p:txBody>
          <a:bodyPr wrap="square" lIns="0" tIns="0" rIns="0" bIns="0" rtlCol="0" anchor="ctr"/>
          <a:lstStyle/>
          <a:p>
            <a:pPr indent="0" marL="0">
              <a:buNone/>
            </a:pPr>
            <a:r>
              <a:rPr lang="en-US" sz="950" dirty="0">
                <a:solidFill>
                  <a:srgbClr val="C9C2B8"/>
                </a:solidFill>
                <a:latin typeface="Calibri" pitchFamily="34" charset="0"/>
                <a:ea typeface="Calibri" pitchFamily="34" charset="-122"/>
                <a:cs typeface="Calibri" pitchFamily="34" charset="-120"/>
              </a:rPr>
              <a:t>This slide</a:t>
            </a:r>
            <a:endParaRPr lang="en-US" sz="950" dirty="0"/>
          </a:p>
        </p:txBody>
      </p:sp>
      <p:sp>
        <p:nvSpPr>
          <p:cNvPr id="40" name="Shape 38"/>
          <p:cNvSpPr/>
          <p:nvPr/>
        </p:nvSpPr>
        <p:spPr>
          <a:xfrm>
            <a:off x="6355080" y="6272784"/>
            <a:ext cx="5486400" cy="0"/>
          </a:xfrm>
          <a:prstGeom prst="line">
            <a:avLst/>
          </a:prstGeom>
          <a:noFill/>
          <a:ln w="12700">
            <a:solidFill>
              <a:srgbClr val="5C5347"/>
            </a:solidFill>
            <a:prstDash val="solid"/>
          </a:ln>
        </p:spPr>
      </p:sp>
      <p:sp>
        <p:nvSpPr>
          <p:cNvPr id="41" name="Text 39"/>
          <p:cNvSpPr/>
          <p:nvPr/>
        </p:nvSpPr>
        <p:spPr>
          <a:xfrm>
            <a:off x="6355080" y="6400800"/>
            <a:ext cx="5486400" cy="365760"/>
          </a:xfrm>
          <a:prstGeom prst="rect">
            <a:avLst/>
          </a:prstGeom>
          <a:noFill/>
          <a:ln/>
        </p:spPr>
        <p:txBody>
          <a:bodyPr wrap="square" lIns="0" tIns="0" rIns="0" bIns="0" rtlCol="0" anchor="ctr"/>
          <a:lstStyle/>
          <a:p>
            <a:pPr indent="0" marL="0">
              <a:buNone/>
            </a:pPr>
            <a:r>
              <a:rPr lang="en-US" sz="1350" i="1" dirty="0">
                <a:solidFill>
                  <a:srgbClr val="D9A98B"/>
                </a:solidFill>
                <a:latin typeface="Cambria" pitchFamily="34" charset="0"/>
                <a:ea typeface="Cambria" pitchFamily="34" charset="-122"/>
                <a:cs typeface="Cambria" pitchFamily="34" charset="-120"/>
              </a:rPr>
              <a:t>Thank you — now go tell your app's story.</a:t>
            </a:r>
            <a:endParaRPr lang="en-US" sz="1350" dirty="0"/>
          </a:p>
        </p:txBody>
      </p:sp>
      <p:sp>
        <p:nvSpPr>
          <p:cNvPr id="42" name="Text 40"/>
          <p:cNvSpPr/>
          <p:nvPr/>
        </p:nvSpPr>
        <p:spPr>
          <a:xfrm>
            <a:off x="548640" y="6528816"/>
            <a:ext cx="7315200" cy="256032"/>
          </a:xfrm>
          <a:prstGeom prst="rect">
            <a:avLst/>
          </a:prstGeom>
          <a:noFill/>
          <a:ln/>
        </p:spPr>
        <p:txBody>
          <a:bodyPr wrap="square" rtlCol="0" anchor="ctr"/>
          <a:lstStyle/>
          <a:p>
            <a:pPr algn="l" indent="0" marL="0">
              <a:buNone/>
            </a:pPr>
            <a:r>
              <a:rPr lang="en-US" sz="950" dirty="0">
                <a:solidFill>
                  <a:srgbClr val="C9C2B8"/>
                </a:solidFill>
                <a:latin typeface="Calibri" pitchFamily="34" charset="0"/>
                <a:ea typeface="Calibri" pitchFamily="34" charset="-122"/>
                <a:cs typeface="Calibri" pitchFamily="34" charset="-120"/>
              </a:rPr>
              <a:t>Reflection &amp; Checklist</a:t>
            </a:r>
            <a:endParaRPr lang="en-US" sz="950" dirty="0"/>
          </a:p>
        </p:txBody>
      </p:sp>
      <p:sp>
        <p:nvSpPr>
          <p:cNvPr id="43" name="Text 41"/>
          <p:cNvSpPr/>
          <p:nvPr/>
        </p:nvSpPr>
        <p:spPr>
          <a:xfrm>
            <a:off x="8897112" y="6528816"/>
            <a:ext cx="2743200" cy="256032"/>
          </a:xfrm>
          <a:prstGeom prst="rect">
            <a:avLst/>
          </a:prstGeom>
          <a:noFill/>
          <a:ln/>
        </p:spPr>
        <p:txBody>
          <a:bodyPr wrap="square" rtlCol="0" anchor="ctr"/>
          <a:lstStyle/>
          <a:p>
            <a:pPr algn="r" indent="0" marL="0">
              <a:buNone/>
            </a:pPr>
            <a:r>
              <a:rPr lang="en-US" sz="950" dirty="0">
                <a:solidFill>
                  <a:srgbClr val="C9C2B8"/>
                </a:solidFill>
                <a:latin typeface="Calibri" pitchFamily="34" charset="0"/>
                <a:ea typeface="Calibri" pitchFamily="34" charset="-122"/>
                <a:cs typeface="Calibri" pitchFamily="34" charset="-120"/>
              </a:rPr>
              <a:t>The Turning Point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Turning Point — Maya's Fitness App Journey</dc:title>
  <dc:subject>PptxGenJS Presentation</dc:subject>
  <dc:creator>Narrative Design</dc:creator>
  <cp:lastModifiedBy>Narrative Design</cp:lastModifiedBy>
  <cp:revision>1</cp:revision>
  <dcterms:created xsi:type="dcterms:W3CDTF">2026-07-06T05:06:33Z</dcterms:created>
  <dcterms:modified xsi:type="dcterms:W3CDTF">2026-07-06T05:06:33Z</dcterms:modified>
</cp:coreProperties>
</file>